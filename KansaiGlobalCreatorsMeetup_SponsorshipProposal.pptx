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303520" cy="68580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303520" y="0"/>
            <a:ext cx="54864" cy="685800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0" y="0"/>
            <a:ext cx="6702552" cy="63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0" y="868680"/>
            <a:ext cx="6702552" cy="63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0" y="1737360"/>
            <a:ext cx="6702552" cy="63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0" y="2606039"/>
            <a:ext cx="6702552" cy="63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3474720"/>
            <a:ext cx="6702552" cy="63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0" y="4343400"/>
            <a:ext cx="6702552" cy="63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0" y="5212079"/>
            <a:ext cx="6702552" cy="63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0" y="6080759"/>
            <a:ext cx="6702552" cy="63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914400"/>
            <a:ext cx="4572000" cy="411480"/>
          </a:xfrm>
          <a:prstGeom prst="rect">
            <a:avLst/>
          </a:prstGeom>
          <a:noFill/>
        </p:spPr>
        <p:txBody>
          <a:bodyPr wrap="square">
            <a:spAutoFit/>
          </a:bodyPr>
          <a:lstStyle/>
          <a:p>
            <a:pPr algn="l"/>
            <a:r>
              <a:rPr sz="1100" b="1" i="0">
                <a:solidFill>
                  <a:srgbClr val="1A6FC4"/>
                </a:solidFill>
              </a:rPr>
              <a:t>SPONSORSHIP PROPOSAL  2025</a:t>
            </a:r>
          </a:p>
        </p:txBody>
      </p:sp>
      <p:sp>
        <p:nvSpPr>
          <p:cNvPr id="14" name="TextBox 13"/>
          <p:cNvSpPr txBox="1"/>
          <p:nvPr/>
        </p:nvSpPr>
        <p:spPr>
          <a:xfrm>
            <a:off x="502920" y="1417320"/>
            <a:ext cx="4754880" cy="1051560"/>
          </a:xfrm>
          <a:prstGeom prst="rect">
            <a:avLst/>
          </a:prstGeom>
          <a:noFill/>
        </p:spPr>
        <p:txBody>
          <a:bodyPr wrap="square">
            <a:spAutoFit/>
          </a:bodyPr>
          <a:lstStyle/>
          <a:p>
            <a:pPr algn="l"/>
            <a:r>
              <a:rPr sz="5200" b="1" i="0">
                <a:solidFill>
                  <a:srgbClr val="FFFFFF"/>
                </a:solidFill>
              </a:rPr>
              <a:t>Kansai Global</a:t>
            </a:r>
          </a:p>
        </p:txBody>
      </p:sp>
      <p:sp>
        <p:nvSpPr>
          <p:cNvPr id="15" name="TextBox 14"/>
          <p:cNvSpPr txBox="1"/>
          <p:nvPr/>
        </p:nvSpPr>
        <p:spPr>
          <a:xfrm>
            <a:off x="502920" y="2331720"/>
            <a:ext cx="4754880" cy="1051560"/>
          </a:xfrm>
          <a:prstGeom prst="rect">
            <a:avLst/>
          </a:prstGeom>
          <a:noFill/>
        </p:spPr>
        <p:txBody>
          <a:bodyPr wrap="square">
            <a:spAutoFit/>
          </a:bodyPr>
          <a:lstStyle/>
          <a:p>
            <a:pPr algn="l"/>
            <a:r>
              <a:rPr sz="5200" b="1" i="0">
                <a:solidFill>
                  <a:srgbClr val="1A6FC4"/>
                </a:solidFill>
              </a:rPr>
              <a:t>Creators Meetup</a:t>
            </a:r>
          </a:p>
        </p:txBody>
      </p:sp>
      <p:sp>
        <p:nvSpPr>
          <p:cNvPr id="16" name="Rectangle 15"/>
          <p:cNvSpPr/>
          <p:nvPr/>
        </p:nvSpPr>
        <p:spPr>
          <a:xfrm>
            <a:off x="502920" y="3429000"/>
            <a:ext cx="4480560" cy="2540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3611880"/>
            <a:ext cx="4572000" cy="868680"/>
          </a:xfrm>
          <a:prstGeom prst="rect">
            <a:avLst/>
          </a:prstGeom>
          <a:noFill/>
        </p:spPr>
        <p:txBody>
          <a:bodyPr wrap="square">
            <a:spAutoFit/>
          </a:bodyPr>
          <a:lstStyle/>
          <a:p>
            <a:pPr algn="l"/>
            <a:r>
              <a:rPr sz="1350" b="0" i="0">
                <a:solidFill>
                  <a:srgbClr val="CCD8F0"/>
                </a:solidFill>
              </a:rPr>
              <a:t>関西から世界へ。訪日観光・ローカル体験を発信する
グローバルクリエイターコミュニティ</a:t>
            </a:r>
          </a:p>
        </p:txBody>
      </p:sp>
      <p:sp>
        <p:nvSpPr>
          <p:cNvPr id="18" name="TextBox 17"/>
          <p:cNvSpPr txBox="1"/>
          <p:nvPr/>
        </p:nvSpPr>
        <p:spPr>
          <a:xfrm>
            <a:off x="502920" y="6126480"/>
            <a:ext cx="4572000" cy="457200"/>
          </a:xfrm>
          <a:prstGeom prst="rect">
            <a:avLst/>
          </a:prstGeom>
          <a:noFill/>
        </p:spPr>
        <p:txBody>
          <a:bodyPr wrap="square">
            <a:spAutoFit/>
          </a:bodyPr>
          <a:lstStyle/>
          <a:p>
            <a:pPr algn="l"/>
            <a:r>
              <a:rPr sz="1200" b="0" i="0">
                <a:solidFill>
                  <a:srgbClr val="8A96AA"/>
                </a:solidFill>
              </a:rPr>
              <a:t>Presented by  Mr.sasuke inc.</a:t>
            </a:r>
          </a:p>
        </p:txBody>
      </p:sp>
      <p:sp>
        <p:nvSpPr>
          <p:cNvPr id="19" name="Rectangle 18"/>
          <p:cNvSpPr/>
          <p:nvPr/>
        </p:nvSpPr>
        <p:spPr>
          <a:xfrm>
            <a:off x="5760720" y="1371600"/>
            <a:ext cx="2743200" cy="1737360"/>
          </a:xfrm>
          <a:prstGeom prst="rect">
            <a:avLst/>
          </a:prstGeom>
          <a:solidFill>
            <a:srgbClr val="FFFFFF"/>
          </a:solidFill>
          <a:ln w="19050">
            <a:solidFill>
              <a:srgbClr val="1A6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760720" y="1371600"/>
            <a:ext cx="2743200" cy="32004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720" y="1755648"/>
            <a:ext cx="2743200" cy="868680"/>
          </a:xfrm>
          <a:prstGeom prst="rect">
            <a:avLst/>
          </a:prstGeom>
          <a:noFill/>
        </p:spPr>
        <p:txBody>
          <a:bodyPr wrap="square">
            <a:spAutoFit/>
          </a:bodyPr>
          <a:lstStyle/>
          <a:p>
            <a:pPr algn="ctr"/>
            <a:r>
              <a:rPr sz="4200" b="1" i="0">
                <a:solidFill>
                  <a:srgbClr val="1A6FC4"/>
                </a:solidFill>
              </a:rPr>
              <a:t>35</a:t>
            </a:r>
          </a:p>
        </p:txBody>
      </p:sp>
      <p:sp>
        <p:nvSpPr>
          <p:cNvPr id="22" name="TextBox 21"/>
          <p:cNvSpPr txBox="1"/>
          <p:nvPr/>
        </p:nvSpPr>
        <p:spPr>
          <a:xfrm>
            <a:off x="5760720" y="2578608"/>
            <a:ext cx="2743200" cy="457200"/>
          </a:xfrm>
          <a:prstGeom prst="rect">
            <a:avLst/>
          </a:prstGeom>
          <a:noFill/>
        </p:spPr>
        <p:txBody>
          <a:bodyPr wrap="square">
            <a:spAutoFit/>
          </a:bodyPr>
          <a:lstStyle/>
          <a:p>
            <a:pPr algn="ctr"/>
            <a:r>
              <a:rPr sz="1150" b="0" i="0">
                <a:solidFill>
                  <a:srgbClr val="3A4A5C"/>
                </a:solidFill>
              </a:rPr>
              <a:t>Creators in Network</a:t>
            </a:r>
          </a:p>
        </p:txBody>
      </p:sp>
      <p:sp>
        <p:nvSpPr>
          <p:cNvPr id="23" name="Rectangle 22"/>
          <p:cNvSpPr/>
          <p:nvPr/>
        </p:nvSpPr>
        <p:spPr>
          <a:xfrm>
            <a:off x="8869680" y="1371600"/>
            <a:ext cx="2743200" cy="1737360"/>
          </a:xfrm>
          <a:prstGeom prst="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869680" y="1371600"/>
            <a:ext cx="2743200" cy="3200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69680" y="1755648"/>
            <a:ext cx="2743200" cy="868680"/>
          </a:xfrm>
          <a:prstGeom prst="rect">
            <a:avLst/>
          </a:prstGeom>
          <a:noFill/>
        </p:spPr>
        <p:txBody>
          <a:bodyPr wrap="square">
            <a:spAutoFit/>
          </a:bodyPr>
          <a:lstStyle/>
          <a:p>
            <a:pPr algn="ctr"/>
            <a:r>
              <a:rPr sz="4200" b="1" i="0">
                <a:solidFill>
                  <a:srgbClr val="7C3AED"/>
                </a:solidFill>
              </a:rPr>
              <a:t>4.7M+</a:t>
            </a:r>
          </a:p>
        </p:txBody>
      </p:sp>
      <p:sp>
        <p:nvSpPr>
          <p:cNvPr id="26" name="TextBox 25"/>
          <p:cNvSpPr txBox="1"/>
          <p:nvPr/>
        </p:nvSpPr>
        <p:spPr>
          <a:xfrm>
            <a:off x="8869680" y="2578608"/>
            <a:ext cx="2743200" cy="457200"/>
          </a:xfrm>
          <a:prstGeom prst="rect">
            <a:avLst/>
          </a:prstGeom>
          <a:noFill/>
        </p:spPr>
        <p:txBody>
          <a:bodyPr wrap="square">
            <a:spAutoFit/>
          </a:bodyPr>
          <a:lstStyle/>
          <a:p>
            <a:pPr algn="ctr"/>
            <a:r>
              <a:rPr sz="1150" b="0" i="0">
                <a:solidFill>
                  <a:srgbClr val="3A4A5C"/>
                </a:solidFill>
              </a:rPr>
              <a:t>Instagram Followers</a:t>
            </a:r>
          </a:p>
        </p:txBody>
      </p:sp>
      <p:sp>
        <p:nvSpPr>
          <p:cNvPr id="27" name="Rectangle 26"/>
          <p:cNvSpPr/>
          <p:nvPr/>
        </p:nvSpPr>
        <p:spPr>
          <a:xfrm>
            <a:off x="5760720" y="3566160"/>
            <a:ext cx="2743200" cy="1737360"/>
          </a:xfrm>
          <a:prstGeom prst="rect">
            <a:avLst/>
          </a:prstGeom>
          <a:solidFill>
            <a:srgbClr val="FFFFFF"/>
          </a:solidFill>
          <a:ln w="19050">
            <a:solidFill>
              <a:srgbClr val="E04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760720" y="3566160"/>
            <a:ext cx="2743200" cy="320040"/>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60720" y="3950208"/>
            <a:ext cx="2743200" cy="868680"/>
          </a:xfrm>
          <a:prstGeom prst="rect">
            <a:avLst/>
          </a:prstGeom>
          <a:noFill/>
        </p:spPr>
        <p:txBody>
          <a:bodyPr wrap="square">
            <a:spAutoFit/>
          </a:bodyPr>
          <a:lstStyle/>
          <a:p>
            <a:pPr algn="ctr"/>
            <a:r>
              <a:rPr sz="4200" b="1" i="0">
                <a:solidFill>
                  <a:srgbClr val="E0458A"/>
                </a:solidFill>
              </a:rPr>
              <a:t>30–50</a:t>
            </a:r>
          </a:p>
        </p:txBody>
      </p:sp>
      <p:sp>
        <p:nvSpPr>
          <p:cNvPr id="30" name="TextBox 29"/>
          <p:cNvSpPr txBox="1"/>
          <p:nvPr/>
        </p:nvSpPr>
        <p:spPr>
          <a:xfrm>
            <a:off x="5760720" y="4773168"/>
            <a:ext cx="2743200" cy="457200"/>
          </a:xfrm>
          <a:prstGeom prst="rect">
            <a:avLst/>
          </a:prstGeom>
          <a:noFill/>
        </p:spPr>
        <p:txBody>
          <a:bodyPr wrap="square">
            <a:spAutoFit/>
          </a:bodyPr>
          <a:lstStyle/>
          <a:p>
            <a:pPr algn="ctr"/>
            <a:r>
              <a:rPr sz="1150" b="0" i="0">
                <a:solidFill>
                  <a:srgbClr val="3A4A5C"/>
                </a:solidFill>
              </a:rPr>
              <a:t>Expected Attendees</a:t>
            </a:r>
          </a:p>
        </p:txBody>
      </p:sp>
      <p:sp>
        <p:nvSpPr>
          <p:cNvPr id="31" name="Rectangle 30"/>
          <p:cNvSpPr/>
          <p:nvPr/>
        </p:nvSpPr>
        <p:spPr>
          <a:xfrm>
            <a:off x="8869680" y="3566160"/>
            <a:ext cx="2743200" cy="1737360"/>
          </a:xfrm>
          <a:prstGeom prst="rect">
            <a:avLst/>
          </a:prstGeom>
          <a:solidFill>
            <a:srgbClr val="FFFFFF"/>
          </a:solidFill>
          <a:ln w="19050">
            <a:solidFill>
              <a:srgbClr val="0B9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69680" y="3566160"/>
            <a:ext cx="2743200" cy="320040"/>
          </a:xfrm>
          <a:prstGeom prst="rect">
            <a:avLst/>
          </a:prstGeom>
          <a:solidFill>
            <a:srgbClr val="0B9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69680" y="3950208"/>
            <a:ext cx="2743200" cy="868680"/>
          </a:xfrm>
          <a:prstGeom prst="rect">
            <a:avLst/>
          </a:prstGeom>
          <a:noFill/>
        </p:spPr>
        <p:txBody>
          <a:bodyPr wrap="square">
            <a:spAutoFit/>
          </a:bodyPr>
          <a:lstStyle/>
          <a:p>
            <a:pPr algn="ctr"/>
            <a:r>
              <a:rPr sz="4200" b="1" i="0">
                <a:solidFill>
                  <a:srgbClr val="0B9A8A"/>
                </a:solidFill>
              </a:rPr>
              <a:t>10+</a:t>
            </a:r>
          </a:p>
        </p:txBody>
      </p:sp>
      <p:sp>
        <p:nvSpPr>
          <p:cNvPr id="34" name="TextBox 33"/>
          <p:cNvSpPr txBox="1"/>
          <p:nvPr/>
        </p:nvSpPr>
        <p:spPr>
          <a:xfrm>
            <a:off x="8869680" y="4773168"/>
            <a:ext cx="2743200" cy="457200"/>
          </a:xfrm>
          <a:prstGeom prst="rect">
            <a:avLst/>
          </a:prstGeom>
          <a:noFill/>
        </p:spPr>
        <p:txBody>
          <a:bodyPr wrap="square">
            <a:spAutoFit/>
          </a:bodyPr>
          <a:lstStyle/>
          <a:p>
            <a:pPr algn="ctr"/>
            <a:r>
              <a:rPr sz="1150" b="0" i="0">
                <a:solidFill>
                  <a:srgbClr val="3A4A5C"/>
                </a:solidFill>
              </a:rPr>
              <a:t>Countries Reached</a:t>
            </a:r>
          </a:p>
        </p:txBody>
      </p:sp>
      <p:sp>
        <p:nvSpPr>
          <p:cNvPr id="35" name="Rectangle 34"/>
          <p:cNvSpPr/>
          <p:nvPr/>
        </p:nvSpPr>
        <p:spPr>
          <a:xfrm>
            <a:off x="0" y="6807200"/>
            <a:ext cx="12188952" cy="5080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881360" cy="777240"/>
          </a:xfrm>
          <a:prstGeom prst="rect">
            <a:avLst/>
          </a:prstGeom>
          <a:noFill/>
        </p:spPr>
        <p:txBody>
          <a:bodyPr wrap="square">
            <a:spAutoFit/>
          </a:bodyPr>
          <a:lstStyle/>
          <a:p>
            <a:pPr algn="l"/>
            <a:r>
              <a:rPr sz="2400" b="1" i="0">
                <a:solidFill>
                  <a:srgbClr val="0D1F3C"/>
                </a:solidFill>
              </a:rPr>
              <a:t>関西の「リアルな魅力」を世界へ届けるクリエイターコミュニティ</a:t>
            </a:r>
          </a:p>
        </p:txBody>
      </p:sp>
      <p:sp>
        <p:nvSpPr>
          <p:cNvPr id="5" name="Rectangle 4"/>
          <p:cNvSpPr/>
          <p:nvPr/>
        </p:nvSpPr>
        <p:spPr>
          <a:xfrm>
            <a:off x="640080" y="1234440"/>
            <a:ext cx="10908792" cy="190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08760"/>
            <a:ext cx="320040" cy="141732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1508760"/>
            <a:ext cx="10789920" cy="141732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673352"/>
            <a:ext cx="10332720" cy="502920"/>
          </a:xfrm>
          <a:prstGeom prst="rect">
            <a:avLst/>
          </a:prstGeom>
          <a:noFill/>
        </p:spPr>
        <p:txBody>
          <a:bodyPr wrap="square">
            <a:spAutoFit/>
          </a:bodyPr>
          <a:lstStyle/>
          <a:p>
            <a:pPr algn="l"/>
            <a:r>
              <a:rPr sz="1700" b="1" i="0">
                <a:solidFill>
                  <a:srgbClr val="0D1F3C"/>
                </a:solidFill>
              </a:rPr>
              <a:t>Global Creators Hub</a:t>
            </a:r>
          </a:p>
        </p:txBody>
      </p:sp>
      <p:sp>
        <p:nvSpPr>
          <p:cNvPr id="10" name="TextBox 9"/>
          <p:cNvSpPr txBox="1"/>
          <p:nvPr/>
        </p:nvSpPr>
        <p:spPr>
          <a:xfrm>
            <a:off x="1005840" y="2167128"/>
            <a:ext cx="10332720" cy="685800"/>
          </a:xfrm>
          <a:prstGeom prst="rect">
            <a:avLst/>
          </a:prstGeom>
          <a:noFill/>
        </p:spPr>
        <p:txBody>
          <a:bodyPr wrap="square">
            <a:spAutoFit/>
          </a:bodyPr>
          <a:lstStyle/>
          <a:p>
            <a:pPr algn="l"/>
            <a:r>
              <a:rPr sz="1350" b="0" i="0">
                <a:solidFill>
                  <a:srgbClr val="3A4A5C"/>
                </a:solidFill>
              </a:rPr>
              <a:t>関西在住・関西に強いグローバルクリエイターが集まるオフライン交流会。リアルなつながりから発信が生まれます。</a:t>
            </a:r>
          </a:p>
        </p:txBody>
      </p:sp>
      <p:sp>
        <p:nvSpPr>
          <p:cNvPr id="11" name="Rectangle 10"/>
          <p:cNvSpPr/>
          <p:nvPr/>
        </p:nvSpPr>
        <p:spPr>
          <a:xfrm>
            <a:off x="502920" y="3154680"/>
            <a:ext cx="320040"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3154680"/>
            <a:ext cx="10789920" cy="141732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319272"/>
            <a:ext cx="10332720" cy="502920"/>
          </a:xfrm>
          <a:prstGeom prst="rect">
            <a:avLst/>
          </a:prstGeom>
          <a:noFill/>
        </p:spPr>
        <p:txBody>
          <a:bodyPr wrap="square">
            <a:spAutoFit/>
          </a:bodyPr>
          <a:lstStyle/>
          <a:p>
            <a:pPr algn="l"/>
            <a:r>
              <a:rPr sz="1700" b="1" i="0">
                <a:solidFill>
                  <a:srgbClr val="0D1F3C"/>
                </a:solidFill>
              </a:rPr>
              <a:t>Inbound SNS Amplification</a:t>
            </a:r>
          </a:p>
        </p:txBody>
      </p:sp>
      <p:sp>
        <p:nvSpPr>
          <p:cNvPr id="14" name="TextBox 13"/>
          <p:cNvSpPr txBox="1"/>
          <p:nvPr/>
        </p:nvSpPr>
        <p:spPr>
          <a:xfrm>
            <a:off x="1005840" y="3813048"/>
            <a:ext cx="10332720" cy="685800"/>
          </a:xfrm>
          <a:prstGeom prst="rect">
            <a:avLst/>
          </a:prstGeom>
          <a:noFill/>
        </p:spPr>
        <p:txBody>
          <a:bodyPr wrap="square">
            <a:spAutoFit/>
          </a:bodyPr>
          <a:lstStyle/>
          <a:p>
            <a:pPr algn="l"/>
            <a:r>
              <a:rPr sz="1350" b="0" i="0">
                <a:solidFill>
                  <a:srgbClr val="3A4A5C"/>
                </a:solidFill>
              </a:rPr>
              <a:t>訪日外国人に向けてグルメ・観光・文化・ローカル体験を発信。フォロワーの多くは日本旅行に関心を持つ海外層。</a:t>
            </a:r>
          </a:p>
        </p:txBody>
      </p:sp>
      <p:sp>
        <p:nvSpPr>
          <p:cNvPr id="15" name="Rectangle 14"/>
          <p:cNvSpPr/>
          <p:nvPr/>
        </p:nvSpPr>
        <p:spPr>
          <a:xfrm>
            <a:off x="502920" y="4800600"/>
            <a:ext cx="320040" cy="1417320"/>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 y="4800600"/>
            <a:ext cx="10789920" cy="141732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965192"/>
            <a:ext cx="10332720" cy="502920"/>
          </a:xfrm>
          <a:prstGeom prst="rect">
            <a:avLst/>
          </a:prstGeom>
          <a:noFill/>
        </p:spPr>
        <p:txBody>
          <a:bodyPr wrap="square">
            <a:spAutoFit/>
          </a:bodyPr>
          <a:lstStyle/>
          <a:p>
            <a:pPr algn="l"/>
            <a:r>
              <a:rPr sz="1700" b="1" i="0">
                <a:solidFill>
                  <a:srgbClr val="0D1F3C"/>
                </a:solidFill>
              </a:rPr>
              <a:t>Community Connection</a:t>
            </a:r>
          </a:p>
        </p:txBody>
      </p:sp>
      <p:sp>
        <p:nvSpPr>
          <p:cNvPr id="18" name="TextBox 17"/>
          <p:cNvSpPr txBox="1"/>
          <p:nvPr/>
        </p:nvSpPr>
        <p:spPr>
          <a:xfrm>
            <a:off x="1005840" y="5458968"/>
            <a:ext cx="10332720" cy="685800"/>
          </a:xfrm>
          <a:prstGeom prst="rect">
            <a:avLst/>
          </a:prstGeom>
          <a:noFill/>
        </p:spPr>
        <p:txBody>
          <a:bodyPr wrap="square">
            <a:spAutoFit/>
          </a:bodyPr>
          <a:lstStyle/>
          <a:p>
            <a:pPr algn="l"/>
            <a:r>
              <a:rPr sz="1350" b="0" i="0">
                <a:solidFill>
                  <a:srgbClr val="3A4A5C"/>
                </a:solidFill>
              </a:rPr>
              <a:t>SNS発信者同士がつながり、関西の魅力をより広く届けるコミュニティ拠点。継続的な関係構築が可能です。</a:t>
            </a:r>
          </a:p>
        </p:txBody>
      </p:sp>
      <p:sp>
        <p:nvSpPr>
          <p:cNvPr id="19" name="Rectangle 18"/>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881360" cy="777240"/>
          </a:xfrm>
          <a:prstGeom prst="rect">
            <a:avLst/>
          </a:prstGeom>
          <a:noFill/>
        </p:spPr>
        <p:txBody>
          <a:bodyPr wrap="square">
            <a:spAutoFit/>
          </a:bodyPr>
          <a:lstStyle/>
          <a:p>
            <a:pPr algn="l"/>
            <a:r>
              <a:rPr sz="2300" b="1" i="0">
                <a:solidFill>
                  <a:srgbClr val="0D1F3C"/>
                </a:solidFill>
              </a:rPr>
              <a:t>インバウンドPRは「広告」から「体験され、語られる場」へ</a:t>
            </a:r>
          </a:p>
        </p:txBody>
      </p:sp>
      <p:sp>
        <p:nvSpPr>
          <p:cNvPr id="5" name="TextBox 4"/>
          <p:cNvSpPr txBox="1"/>
          <p:nvPr/>
        </p:nvSpPr>
        <p:spPr>
          <a:xfrm>
            <a:off x="640080" y="868680"/>
            <a:ext cx="10881360" cy="411480"/>
          </a:xfrm>
          <a:prstGeom prst="rect">
            <a:avLst/>
          </a:prstGeom>
          <a:noFill/>
        </p:spPr>
        <p:txBody>
          <a:bodyPr wrap="square">
            <a:spAutoFit/>
          </a:bodyPr>
          <a:lstStyle/>
          <a:p>
            <a:pPr algn="l"/>
            <a:r>
              <a:rPr sz="1300" b="0" i="0">
                <a:solidFill>
                  <a:srgbClr val="8A96AA"/>
                </a:solidFill>
              </a:rPr>
              <a:t>Why This Event Matters — 今このイベントが必要な理由</a:t>
            </a:r>
          </a:p>
        </p:txBody>
      </p:sp>
      <p:sp>
        <p:nvSpPr>
          <p:cNvPr id="6" name="Rectangle 5"/>
          <p:cNvSpPr/>
          <p:nvPr/>
        </p:nvSpPr>
        <p:spPr>
          <a:xfrm>
            <a:off x="640080" y="1234440"/>
            <a:ext cx="10908792" cy="190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63040"/>
            <a:ext cx="5394960" cy="1965960"/>
          </a:xfrm>
          <a:prstGeom prst="rect">
            <a:avLst/>
          </a:prstGeom>
          <a:solidFill>
            <a:srgbClr val="F7F8FC"/>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63040"/>
            <a:ext cx="5394960" cy="4572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600200"/>
            <a:ext cx="548640" cy="594360"/>
          </a:xfrm>
          <a:prstGeom prst="rect">
            <a:avLst/>
          </a:prstGeom>
          <a:noFill/>
        </p:spPr>
        <p:txBody>
          <a:bodyPr wrap="square">
            <a:spAutoFit/>
          </a:bodyPr>
          <a:lstStyle/>
          <a:p>
            <a:pPr algn="l"/>
            <a:r>
              <a:rPr sz="2800" b="1" i="0">
                <a:solidFill>
                  <a:srgbClr val="D0E4F8"/>
                </a:solidFill>
              </a:rPr>
              <a:t>01</a:t>
            </a:r>
          </a:p>
        </p:txBody>
      </p:sp>
      <p:sp>
        <p:nvSpPr>
          <p:cNvPr id="11" name="TextBox 10"/>
          <p:cNvSpPr txBox="1"/>
          <p:nvPr/>
        </p:nvSpPr>
        <p:spPr>
          <a:xfrm>
            <a:off x="1188720" y="1600200"/>
            <a:ext cx="4572000" cy="548640"/>
          </a:xfrm>
          <a:prstGeom prst="rect">
            <a:avLst/>
          </a:prstGeom>
          <a:noFill/>
        </p:spPr>
        <p:txBody>
          <a:bodyPr wrap="square">
            <a:spAutoFit/>
          </a:bodyPr>
          <a:lstStyle/>
          <a:p>
            <a:pPr algn="l"/>
            <a:r>
              <a:rPr sz="1400" b="1" i="0">
                <a:solidFill>
                  <a:srgbClr val="0D1F3C"/>
                </a:solidFill>
              </a:rPr>
              <a:t>訪日客はSNSで行き先・食事・体験を決める時代</a:t>
            </a:r>
          </a:p>
        </p:txBody>
      </p:sp>
      <p:sp>
        <p:nvSpPr>
          <p:cNvPr id="12" name="TextBox 11"/>
          <p:cNvSpPr txBox="1"/>
          <p:nvPr/>
        </p:nvSpPr>
        <p:spPr>
          <a:xfrm>
            <a:off x="667512" y="2194560"/>
            <a:ext cx="5074920" cy="1143000"/>
          </a:xfrm>
          <a:prstGeom prst="rect">
            <a:avLst/>
          </a:prstGeom>
          <a:noFill/>
        </p:spPr>
        <p:txBody>
          <a:bodyPr wrap="square">
            <a:spAutoFit/>
          </a:bodyPr>
          <a:lstStyle/>
          <a:p>
            <a:pPr algn="l"/>
            <a:r>
              <a:rPr sz="1250" b="0" i="0">
                <a:solidFill>
                  <a:srgbClr val="3A4A5C"/>
                </a:solidFill>
              </a:rPr>
              <a:t>旅行前に検索するのはガイドブックではなくInstagram・TikTok・YouTube。インフルエンサーの発信が意思決定を左右します。</a:t>
            </a:r>
          </a:p>
        </p:txBody>
      </p:sp>
      <p:sp>
        <p:nvSpPr>
          <p:cNvPr id="13" name="Rectangle 12"/>
          <p:cNvSpPr/>
          <p:nvPr/>
        </p:nvSpPr>
        <p:spPr>
          <a:xfrm>
            <a:off x="6263640" y="1463040"/>
            <a:ext cx="5394960" cy="1965960"/>
          </a:xfrm>
          <a:prstGeom prst="rect">
            <a:avLst/>
          </a:prstGeom>
          <a:solidFill>
            <a:srgbClr val="F7F8FC"/>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463040"/>
            <a:ext cx="5394960" cy="4572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2" y="1600200"/>
            <a:ext cx="548640" cy="594360"/>
          </a:xfrm>
          <a:prstGeom prst="rect">
            <a:avLst/>
          </a:prstGeom>
          <a:noFill/>
        </p:spPr>
        <p:txBody>
          <a:bodyPr wrap="square">
            <a:spAutoFit/>
          </a:bodyPr>
          <a:lstStyle/>
          <a:p>
            <a:pPr algn="l"/>
            <a:r>
              <a:rPr sz="2800" b="1" i="0">
                <a:solidFill>
                  <a:srgbClr val="D0E4F8"/>
                </a:solidFill>
              </a:rPr>
              <a:t>02</a:t>
            </a:r>
          </a:p>
        </p:txBody>
      </p:sp>
      <p:sp>
        <p:nvSpPr>
          <p:cNvPr id="16" name="TextBox 15"/>
          <p:cNvSpPr txBox="1"/>
          <p:nvPr/>
        </p:nvSpPr>
        <p:spPr>
          <a:xfrm>
            <a:off x="6949440" y="1600200"/>
            <a:ext cx="4572000" cy="548640"/>
          </a:xfrm>
          <a:prstGeom prst="rect">
            <a:avLst/>
          </a:prstGeom>
          <a:noFill/>
        </p:spPr>
        <p:txBody>
          <a:bodyPr wrap="square">
            <a:spAutoFit/>
          </a:bodyPr>
          <a:lstStyle/>
          <a:p>
            <a:pPr algn="l"/>
            <a:r>
              <a:rPr sz="1400" b="1" i="0">
                <a:solidFill>
                  <a:srgbClr val="0D1F3C"/>
                </a:solidFill>
              </a:rPr>
              <a:t>海外目線で発信できるクリエイターとの接点が重要</a:t>
            </a:r>
          </a:p>
        </p:txBody>
      </p:sp>
      <p:sp>
        <p:nvSpPr>
          <p:cNvPr id="17" name="TextBox 16"/>
          <p:cNvSpPr txBox="1"/>
          <p:nvPr/>
        </p:nvSpPr>
        <p:spPr>
          <a:xfrm>
            <a:off x="6428232" y="2194560"/>
            <a:ext cx="5074920" cy="1143000"/>
          </a:xfrm>
          <a:prstGeom prst="rect">
            <a:avLst/>
          </a:prstGeom>
          <a:noFill/>
        </p:spPr>
        <p:txBody>
          <a:bodyPr wrap="square">
            <a:spAutoFit/>
          </a:bodyPr>
          <a:lstStyle/>
          <a:p>
            <a:pPr algn="l"/>
            <a:r>
              <a:rPr sz="1250" b="0" i="0">
                <a:solidFill>
                  <a:srgbClr val="3A4A5C"/>
                </a:solidFill>
              </a:rPr>
              <a:t>日本語が話せない訪日客に届く発信をするには、英語・多言語で発信するクリエイターとのパートナーシップが不可欠です。</a:t>
            </a:r>
          </a:p>
        </p:txBody>
      </p:sp>
      <p:sp>
        <p:nvSpPr>
          <p:cNvPr id="18" name="Rectangle 17"/>
          <p:cNvSpPr/>
          <p:nvPr/>
        </p:nvSpPr>
        <p:spPr>
          <a:xfrm>
            <a:off x="502920" y="3657600"/>
            <a:ext cx="5394960" cy="1965960"/>
          </a:xfrm>
          <a:prstGeom prst="rect">
            <a:avLst/>
          </a:prstGeom>
          <a:solidFill>
            <a:srgbClr val="F7F8FC"/>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657600"/>
            <a:ext cx="5394960" cy="4572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 y="3794760"/>
            <a:ext cx="548640" cy="594360"/>
          </a:xfrm>
          <a:prstGeom prst="rect">
            <a:avLst/>
          </a:prstGeom>
          <a:noFill/>
        </p:spPr>
        <p:txBody>
          <a:bodyPr wrap="square">
            <a:spAutoFit/>
          </a:bodyPr>
          <a:lstStyle/>
          <a:p>
            <a:pPr algn="l"/>
            <a:r>
              <a:rPr sz="2800" b="1" i="0">
                <a:solidFill>
                  <a:srgbClr val="D0E4F8"/>
                </a:solidFill>
              </a:rPr>
              <a:t>03</a:t>
            </a:r>
          </a:p>
        </p:txBody>
      </p:sp>
      <p:sp>
        <p:nvSpPr>
          <p:cNvPr id="21" name="TextBox 20"/>
          <p:cNvSpPr txBox="1"/>
          <p:nvPr/>
        </p:nvSpPr>
        <p:spPr>
          <a:xfrm>
            <a:off x="1188720" y="3794760"/>
            <a:ext cx="4572000" cy="548640"/>
          </a:xfrm>
          <a:prstGeom prst="rect">
            <a:avLst/>
          </a:prstGeom>
          <a:noFill/>
        </p:spPr>
        <p:txBody>
          <a:bodyPr wrap="square">
            <a:spAutoFit/>
          </a:bodyPr>
          <a:lstStyle/>
          <a:p>
            <a:pPr algn="l"/>
            <a:r>
              <a:rPr sz="1400" b="1" i="0">
                <a:solidFill>
                  <a:srgbClr val="0D1F3C"/>
                </a:solidFill>
              </a:rPr>
              <a:t>関西のローカル資源は、海外にまだ届き切っていない</a:t>
            </a:r>
          </a:p>
        </p:txBody>
      </p:sp>
      <p:sp>
        <p:nvSpPr>
          <p:cNvPr id="22" name="TextBox 21"/>
          <p:cNvSpPr txBox="1"/>
          <p:nvPr/>
        </p:nvSpPr>
        <p:spPr>
          <a:xfrm>
            <a:off x="667512" y="4389120"/>
            <a:ext cx="5074920" cy="1143000"/>
          </a:xfrm>
          <a:prstGeom prst="rect">
            <a:avLst/>
          </a:prstGeom>
          <a:noFill/>
        </p:spPr>
        <p:txBody>
          <a:bodyPr wrap="square">
            <a:spAutoFit/>
          </a:bodyPr>
          <a:lstStyle/>
          <a:p>
            <a:pPr algn="l"/>
            <a:r>
              <a:rPr sz="1250" b="0" i="0">
                <a:solidFill>
                  <a:srgbClr val="3A4A5C"/>
                </a:solidFill>
              </a:rPr>
              <a:t>大阪・京都以外にも魅力的な体験・グルメ・カルチャーが多数あります。クリエイターが発信することで認知が広がります。</a:t>
            </a:r>
          </a:p>
        </p:txBody>
      </p:sp>
      <p:sp>
        <p:nvSpPr>
          <p:cNvPr id="23" name="Rectangle 22"/>
          <p:cNvSpPr/>
          <p:nvPr/>
        </p:nvSpPr>
        <p:spPr>
          <a:xfrm>
            <a:off x="6263640" y="3657600"/>
            <a:ext cx="5394960" cy="1965960"/>
          </a:xfrm>
          <a:prstGeom prst="rect">
            <a:avLst/>
          </a:prstGeom>
          <a:solidFill>
            <a:srgbClr val="F7F8FC"/>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63640" y="3657600"/>
            <a:ext cx="5394960" cy="4572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3794760"/>
            <a:ext cx="548640" cy="594360"/>
          </a:xfrm>
          <a:prstGeom prst="rect">
            <a:avLst/>
          </a:prstGeom>
          <a:noFill/>
        </p:spPr>
        <p:txBody>
          <a:bodyPr wrap="square">
            <a:spAutoFit/>
          </a:bodyPr>
          <a:lstStyle/>
          <a:p>
            <a:pPr algn="l"/>
            <a:r>
              <a:rPr sz="2800" b="1" i="0">
                <a:solidFill>
                  <a:srgbClr val="D0E4F8"/>
                </a:solidFill>
              </a:rPr>
              <a:t>04</a:t>
            </a:r>
          </a:p>
        </p:txBody>
      </p:sp>
      <p:sp>
        <p:nvSpPr>
          <p:cNvPr id="26" name="TextBox 25"/>
          <p:cNvSpPr txBox="1"/>
          <p:nvPr/>
        </p:nvSpPr>
        <p:spPr>
          <a:xfrm>
            <a:off x="6949440" y="3794760"/>
            <a:ext cx="4572000" cy="548640"/>
          </a:xfrm>
          <a:prstGeom prst="rect">
            <a:avLst/>
          </a:prstGeom>
          <a:noFill/>
        </p:spPr>
        <p:txBody>
          <a:bodyPr wrap="square">
            <a:spAutoFit/>
          </a:bodyPr>
          <a:lstStyle/>
          <a:p>
            <a:pPr algn="l"/>
            <a:r>
              <a:rPr sz="1400" b="1" i="0">
                <a:solidFill>
                  <a:srgbClr val="0D1F3C"/>
                </a:solidFill>
              </a:rPr>
              <a:t>体験→投稿→拡散のサイクルをつくることが鍵</a:t>
            </a:r>
          </a:p>
        </p:txBody>
      </p:sp>
      <p:sp>
        <p:nvSpPr>
          <p:cNvPr id="27" name="TextBox 26"/>
          <p:cNvSpPr txBox="1"/>
          <p:nvPr/>
        </p:nvSpPr>
        <p:spPr>
          <a:xfrm>
            <a:off x="6428232" y="4389120"/>
            <a:ext cx="5074920" cy="1143000"/>
          </a:xfrm>
          <a:prstGeom prst="rect">
            <a:avLst/>
          </a:prstGeom>
          <a:noFill/>
        </p:spPr>
        <p:txBody>
          <a:bodyPr wrap="square">
            <a:spAutoFit/>
          </a:bodyPr>
          <a:lstStyle/>
          <a:p>
            <a:pPr algn="l"/>
            <a:r>
              <a:rPr sz="1250" b="0" i="0">
                <a:solidFill>
                  <a:srgbClr val="3A4A5C"/>
                </a:solidFill>
              </a:rPr>
              <a:t>広告を見せるのではなく、クリエイターが実際に体験し、自然にシェアしたくなる場を設計することが重要です。</a:t>
            </a:r>
          </a:p>
        </p:txBody>
      </p:sp>
      <p:sp>
        <p:nvSpPr>
          <p:cNvPr id="28" name="Rectangle 27"/>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881360" cy="777240"/>
          </a:xfrm>
          <a:prstGeom prst="rect">
            <a:avLst/>
          </a:prstGeom>
          <a:noFill/>
        </p:spPr>
        <p:txBody>
          <a:bodyPr wrap="square">
            <a:spAutoFit/>
          </a:bodyPr>
          <a:lstStyle/>
          <a:p>
            <a:pPr algn="l"/>
            <a:r>
              <a:rPr sz="2800" b="1" i="0">
                <a:solidFill>
                  <a:srgbClr val="0D1F3C"/>
                </a:solidFill>
              </a:rPr>
              <a:t>Kansai Global Creators Meetup とは</a:t>
            </a:r>
          </a:p>
        </p:txBody>
      </p:sp>
      <p:sp>
        <p:nvSpPr>
          <p:cNvPr id="5" name="TextBox 4"/>
          <p:cNvSpPr txBox="1"/>
          <p:nvPr/>
        </p:nvSpPr>
        <p:spPr>
          <a:xfrm>
            <a:off x="640080" y="868680"/>
            <a:ext cx="10881360" cy="411480"/>
          </a:xfrm>
          <a:prstGeom prst="rect">
            <a:avLst/>
          </a:prstGeom>
          <a:noFill/>
        </p:spPr>
        <p:txBody>
          <a:bodyPr wrap="square">
            <a:spAutoFit/>
          </a:bodyPr>
          <a:lstStyle/>
          <a:p>
            <a:pPr algn="l"/>
            <a:r>
              <a:rPr sz="1300" b="0" i="0">
                <a:solidFill>
                  <a:srgbClr val="8A96AA"/>
                </a:solidFill>
              </a:rPr>
              <a:t>Event Overview — イベント概要</a:t>
            </a:r>
          </a:p>
        </p:txBody>
      </p:sp>
      <p:sp>
        <p:nvSpPr>
          <p:cNvPr id="6" name="Rectangle 5"/>
          <p:cNvSpPr/>
          <p:nvPr/>
        </p:nvSpPr>
        <p:spPr>
          <a:xfrm>
            <a:off x="640080" y="1234440"/>
            <a:ext cx="10908792" cy="190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63040"/>
            <a:ext cx="3657600" cy="2103120"/>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63040"/>
            <a:ext cx="3657600" cy="384048"/>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1536192"/>
            <a:ext cx="3429000" cy="274320"/>
          </a:xfrm>
          <a:prstGeom prst="rect">
            <a:avLst/>
          </a:prstGeom>
          <a:noFill/>
        </p:spPr>
        <p:txBody>
          <a:bodyPr wrap="square">
            <a:spAutoFit/>
          </a:bodyPr>
          <a:lstStyle/>
          <a:p>
            <a:pPr algn="l"/>
            <a:r>
              <a:rPr sz="1200" b="1" i="0">
                <a:solidFill>
                  <a:srgbClr val="FFFFFF"/>
                </a:solidFill>
              </a:rPr>
              <a:t>開催地</a:t>
            </a:r>
          </a:p>
        </p:txBody>
      </p:sp>
      <p:sp>
        <p:nvSpPr>
          <p:cNvPr id="11" name="TextBox 10"/>
          <p:cNvSpPr txBox="1"/>
          <p:nvPr/>
        </p:nvSpPr>
        <p:spPr>
          <a:xfrm>
            <a:off x="612648" y="1965960"/>
            <a:ext cx="3429000" cy="1508760"/>
          </a:xfrm>
          <a:prstGeom prst="rect">
            <a:avLst/>
          </a:prstGeom>
          <a:noFill/>
        </p:spPr>
        <p:txBody>
          <a:bodyPr wrap="square">
            <a:spAutoFit/>
          </a:bodyPr>
          <a:lstStyle/>
          <a:p>
            <a:pPr algn="l"/>
            <a:r>
              <a:rPr sz="1400" b="0" i="0">
                <a:solidFill>
                  <a:srgbClr val="3A4A5C"/>
                </a:solidFill>
              </a:rPr>
              <a:t>📍  関西エリア（大阪・京都・神戸 等）</a:t>
            </a:r>
          </a:p>
        </p:txBody>
      </p:sp>
      <p:sp>
        <p:nvSpPr>
          <p:cNvPr id="12" name="Rectangle 11"/>
          <p:cNvSpPr/>
          <p:nvPr/>
        </p:nvSpPr>
        <p:spPr>
          <a:xfrm>
            <a:off x="4389120" y="1463040"/>
            <a:ext cx="3657600" cy="2103120"/>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463040"/>
            <a:ext cx="3657600" cy="3840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1536192"/>
            <a:ext cx="3429000" cy="274320"/>
          </a:xfrm>
          <a:prstGeom prst="rect">
            <a:avLst/>
          </a:prstGeom>
          <a:noFill/>
        </p:spPr>
        <p:txBody>
          <a:bodyPr wrap="square">
            <a:spAutoFit/>
          </a:bodyPr>
          <a:lstStyle/>
          <a:p>
            <a:pPr algn="l"/>
            <a:r>
              <a:rPr sz="1200" b="1" i="0">
                <a:solidFill>
                  <a:srgbClr val="FFFFFF"/>
                </a:solidFill>
              </a:rPr>
              <a:t>参加者</a:t>
            </a:r>
          </a:p>
        </p:txBody>
      </p:sp>
      <p:sp>
        <p:nvSpPr>
          <p:cNvPr id="15" name="TextBox 14"/>
          <p:cNvSpPr txBox="1"/>
          <p:nvPr/>
        </p:nvSpPr>
        <p:spPr>
          <a:xfrm>
            <a:off x="4498848" y="1965960"/>
            <a:ext cx="3429000" cy="1508760"/>
          </a:xfrm>
          <a:prstGeom prst="rect">
            <a:avLst/>
          </a:prstGeom>
          <a:noFill/>
        </p:spPr>
        <p:txBody>
          <a:bodyPr wrap="square">
            <a:spAutoFit/>
          </a:bodyPr>
          <a:lstStyle/>
          <a:p>
            <a:pPr algn="l"/>
            <a:r>
              <a:rPr sz="1400" b="0" i="0">
                <a:solidFill>
                  <a:srgbClr val="3A4A5C"/>
                </a:solidFill>
              </a:rPr>
              <a:t>👥  関西在住／関西発信のグローバルクリエイター
インバウンド系インフルエンサー</a:t>
            </a:r>
          </a:p>
        </p:txBody>
      </p:sp>
      <p:sp>
        <p:nvSpPr>
          <p:cNvPr id="16" name="Rectangle 15"/>
          <p:cNvSpPr/>
          <p:nvPr/>
        </p:nvSpPr>
        <p:spPr>
          <a:xfrm>
            <a:off x="8275320" y="1463040"/>
            <a:ext cx="3657600" cy="2103120"/>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75320" y="1463040"/>
            <a:ext cx="3657600" cy="384048"/>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85048" y="1536192"/>
            <a:ext cx="3429000" cy="274320"/>
          </a:xfrm>
          <a:prstGeom prst="rect">
            <a:avLst/>
          </a:prstGeom>
          <a:noFill/>
        </p:spPr>
        <p:txBody>
          <a:bodyPr wrap="square">
            <a:spAutoFit/>
          </a:bodyPr>
          <a:lstStyle/>
          <a:p>
            <a:pPr algn="l"/>
            <a:r>
              <a:rPr sz="1200" b="1" i="0">
                <a:solidFill>
                  <a:srgbClr val="FFFFFF"/>
                </a:solidFill>
              </a:rPr>
              <a:t>内容</a:t>
            </a:r>
          </a:p>
        </p:txBody>
      </p:sp>
      <p:sp>
        <p:nvSpPr>
          <p:cNvPr id="19" name="TextBox 18"/>
          <p:cNvSpPr txBox="1"/>
          <p:nvPr/>
        </p:nvSpPr>
        <p:spPr>
          <a:xfrm>
            <a:off x="8385048" y="1965960"/>
            <a:ext cx="3429000" cy="1508760"/>
          </a:xfrm>
          <a:prstGeom prst="rect">
            <a:avLst/>
          </a:prstGeom>
          <a:noFill/>
        </p:spPr>
        <p:txBody>
          <a:bodyPr wrap="square">
            <a:spAutoFit/>
          </a:bodyPr>
          <a:lstStyle/>
          <a:p>
            <a:pPr algn="l"/>
            <a:r>
              <a:rPr sz="1400" b="0" i="0">
                <a:solidFill>
                  <a:srgbClr val="3A4A5C"/>
                </a:solidFill>
              </a:rPr>
              <a:t>🎯  ネットワーキング・情報交換・スポンサー体験
商品紹介・撮影・交流</a:t>
            </a:r>
          </a:p>
        </p:txBody>
      </p:sp>
      <p:sp>
        <p:nvSpPr>
          <p:cNvPr id="20" name="Rectangle 19"/>
          <p:cNvSpPr/>
          <p:nvPr/>
        </p:nvSpPr>
        <p:spPr>
          <a:xfrm>
            <a:off x="502920" y="3794760"/>
            <a:ext cx="3657600" cy="2103120"/>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3794760"/>
            <a:ext cx="3657600" cy="384048"/>
          </a:xfrm>
          <a:prstGeom prst="rect">
            <a:avLst/>
          </a:prstGeom>
          <a:solidFill>
            <a:srgbClr val="0B9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 y="3867912"/>
            <a:ext cx="3429000" cy="274320"/>
          </a:xfrm>
          <a:prstGeom prst="rect">
            <a:avLst/>
          </a:prstGeom>
          <a:noFill/>
        </p:spPr>
        <p:txBody>
          <a:bodyPr wrap="square">
            <a:spAutoFit/>
          </a:bodyPr>
          <a:lstStyle/>
          <a:p>
            <a:pPr algn="l"/>
            <a:r>
              <a:rPr sz="1200" b="1" i="0">
                <a:solidFill>
                  <a:srgbClr val="FFFFFF"/>
                </a:solidFill>
              </a:rPr>
              <a:t>想定規模</a:t>
            </a:r>
          </a:p>
        </p:txBody>
      </p:sp>
      <p:sp>
        <p:nvSpPr>
          <p:cNvPr id="23" name="TextBox 22"/>
          <p:cNvSpPr txBox="1"/>
          <p:nvPr/>
        </p:nvSpPr>
        <p:spPr>
          <a:xfrm>
            <a:off x="612648" y="4297680"/>
            <a:ext cx="3429000" cy="1508760"/>
          </a:xfrm>
          <a:prstGeom prst="rect">
            <a:avLst/>
          </a:prstGeom>
          <a:noFill/>
        </p:spPr>
        <p:txBody>
          <a:bodyPr wrap="square">
            <a:spAutoFit/>
          </a:bodyPr>
          <a:lstStyle/>
          <a:p>
            <a:pPr algn="l"/>
            <a:r>
              <a:rPr sz="1400" b="0" i="0">
                <a:solidFill>
                  <a:srgbClr val="3A4A5C"/>
                </a:solidFill>
              </a:rPr>
              <a:t>📊  30〜50名程度
（開催条件により変動）</a:t>
            </a:r>
          </a:p>
        </p:txBody>
      </p:sp>
      <p:sp>
        <p:nvSpPr>
          <p:cNvPr id="24" name="Rectangle 23"/>
          <p:cNvSpPr/>
          <p:nvPr/>
        </p:nvSpPr>
        <p:spPr>
          <a:xfrm>
            <a:off x="4389120" y="3794760"/>
            <a:ext cx="3657600" cy="2103120"/>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89120" y="3794760"/>
            <a:ext cx="3657600" cy="384048"/>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98848" y="3867912"/>
            <a:ext cx="3429000" cy="274320"/>
          </a:xfrm>
          <a:prstGeom prst="rect">
            <a:avLst/>
          </a:prstGeom>
          <a:noFill/>
        </p:spPr>
        <p:txBody>
          <a:bodyPr wrap="square">
            <a:spAutoFit/>
          </a:bodyPr>
          <a:lstStyle/>
          <a:p>
            <a:pPr algn="l"/>
            <a:r>
              <a:rPr sz="1200" b="1" i="0">
                <a:solidFill>
                  <a:srgbClr val="FFFFFF"/>
                </a:solidFill>
              </a:rPr>
              <a:t>開催頻度</a:t>
            </a:r>
          </a:p>
        </p:txBody>
      </p:sp>
      <p:sp>
        <p:nvSpPr>
          <p:cNvPr id="27" name="TextBox 26"/>
          <p:cNvSpPr txBox="1"/>
          <p:nvPr/>
        </p:nvSpPr>
        <p:spPr>
          <a:xfrm>
            <a:off x="4498848" y="4297680"/>
            <a:ext cx="3429000" cy="1508760"/>
          </a:xfrm>
          <a:prstGeom prst="rect">
            <a:avLst/>
          </a:prstGeom>
          <a:noFill/>
        </p:spPr>
        <p:txBody>
          <a:bodyPr wrap="square">
            <a:spAutoFit/>
          </a:bodyPr>
          <a:lstStyle/>
          <a:p>
            <a:pPr algn="l"/>
            <a:r>
              <a:rPr sz="1400" b="0" i="0">
                <a:solidFill>
                  <a:srgbClr val="3A4A5C"/>
                </a:solidFill>
              </a:rPr>
              <a:t>🔄  定期開催を想定（年複数回）</a:t>
            </a:r>
          </a:p>
        </p:txBody>
      </p:sp>
      <p:sp>
        <p:nvSpPr>
          <p:cNvPr id="28" name="Rectangle 27"/>
          <p:cNvSpPr/>
          <p:nvPr/>
        </p:nvSpPr>
        <p:spPr>
          <a:xfrm>
            <a:off x="8275320" y="3794760"/>
            <a:ext cx="3657600" cy="2103120"/>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75320" y="3794760"/>
            <a:ext cx="3657600" cy="3840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5048" y="3867912"/>
            <a:ext cx="3429000" cy="274320"/>
          </a:xfrm>
          <a:prstGeom prst="rect">
            <a:avLst/>
          </a:prstGeom>
          <a:noFill/>
        </p:spPr>
        <p:txBody>
          <a:bodyPr wrap="square">
            <a:spAutoFit/>
          </a:bodyPr>
          <a:lstStyle/>
          <a:p>
            <a:pPr algn="l"/>
            <a:r>
              <a:rPr sz="1200" b="1" i="0">
                <a:solidFill>
                  <a:srgbClr val="FFFFFF"/>
                </a:solidFill>
              </a:rPr>
              <a:t>参加ジャンル</a:t>
            </a:r>
          </a:p>
        </p:txBody>
      </p:sp>
      <p:sp>
        <p:nvSpPr>
          <p:cNvPr id="31" name="TextBox 30"/>
          <p:cNvSpPr txBox="1"/>
          <p:nvPr/>
        </p:nvSpPr>
        <p:spPr>
          <a:xfrm>
            <a:off x="8385048" y="4297680"/>
            <a:ext cx="3429000" cy="1508760"/>
          </a:xfrm>
          <a:prstGeom prst="rect">
            <a:avLst/>
          </a:prstGeom>
          <a:noFill/>
        </p:spPr>
        <p:txBody>
          <a:bodyPr wrap="square">
            <a:spAutoFit/>
          </a:bodyPr>
          <a:lstStyle/>
          <a:p>
            <a:pPr algn="l"/>
            <a:r>
              <a:rPr sz="1400" b="0" i="0">
                <a:solidFill>
                  <a:srgbClr val="3A4A5C"/>
                </a:solidFill>
              </a:rPr>
              <a:t>🎥  旅行・グルメ・日本語/文化
ライフスタイル・ホテル・ローカル体験</a:t>
            </a:r>
          </a:p>
        </p:txBody>
      </p:sp>
      <p:sp>
        <p:nvSpPr>
          <p:cNvPr id="32" name="Rectangle 31"/>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881360" cy="777240"/>
          </a:xfrm>
          <a:prstGeom prst="rect">
            <a:avLst/>
          </a:prstGeom>
          <a:noFill/>
        </p:spPr>
        <p:txBody>
          <a:bodyPr wrap="square">
            <a:spAutoFit/>
          </a:bodyPr>
          <a:lstStyle/>
          <a:p>
            <a:pPr algn="l"/>
            <a:r>
              <a:rPr sz="3000" b="1" i="0">
                <a:solidFill>
                  <a:srgbClr val="0D1F3C"/>
                </a:solidFill>
              </a:rPr>
              <a:t>Creator Network</a:t>
            </a:r>
          </a:p>
        </p:txBody>
      </p:sp>
      <p:sp>
        <p:nvSpPr>
          <p:cNvPr id="5" name="TextBox 4"/>
          <p:cNvSpPr txBox="1"/>
          <p:nvPr/>
        </p:nvSpPr>
        <p:spPr>
          <a:xfrm>
            <a:off x="640080" y="868680"/>
            <a:ext cx="10881360" cy="411480"/>
          </a:xfrm>
          <a:prstGeom prst="rect">
            <a:avLst/>
          </a:prstGeom>
          <a:noFill/>
        </p:spPr>
        <p:txBody>
          <a:bodyPr wrap="square">
            <a:spAutoFit/>
          </a:bodyPr>
          <a:lstStyle/>
          <a:p>
            <a:pPr algn="l"/>
            <a:r>
              <a:rPr sz="1300" b="0" i="0">
                <a:solidFill>
                  <a:srgbClr val="8A96AA"/>
                </a:solidFill>
              </a:rPr>
              <a:t>関西インバウンドに強いグローバルクリエイターネットワーク</a:t>
            </a:r>
          </a:p>
        </p:txBody>
      </p:sp>
      <p:sp>
        <p:nvSpPr>
          <p:cNvPr id="6" name="Rectangle 5"/>
          <p:cNvSpPr/>
          <p:nvPr/>
        </p:nvSpPr>
        <p:spPr>
          <a:xfrm>
            <a:off x="640080" y="1234440"/>
            <a:ext cx="10908792" cy="190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63040"/>
            <a:ext cx="2743200" cy="1600200"/>
          </a:xfrm>
          <a:prstGeom prst="rect">
            <a:avLst/>
          </a:prstGeom>
          <a:solidFill>
            <a:srgbClr val="E8F1FB"/>
          </a:solidFill>
          <a:ln w="15240">
            <a:solidFill>
              <a:srgbClr val="1A6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572768"/>
            <a:ext cx="2743200" cy="777240"/>
          </a:xfrm>
          <a:prstGeom prst="rect">
            <a:avLst/>
          </a:prstGeom>
          <a:noFill/>
        </p:spPr>
        <p:txBody>
          <a:bodyPr wrap="square">
            <a:spAutoFit/>
          </a:bodyPr>
          <a:lstStyle/>
          <a:p>
            <a:pPr algn="ctr"/>
            <a:r>
              <a:rPr sz="3800" b="1" i="0">
                <a:solidFill>
                  <a:srgbClr val="1A6FC4"/>
                </a:solidFill>
              </a:rPr>
              <a:t>35</a:t>
            </a:r>
          </a:p>
        </p:txBody>
      </p:sp>
      <p:sp>
        <p:nvSpPr>
          <p:cNvPr id="10" name="TextBox 9"/>
          <p:cNvSpPr txBox="1"/>
          <p:nvPr/>
        </p:nvSpPr>
        <p:spPr>
          <a:xfrm>
            <a:off x="502920" y="2267712"/>
            <a:ext cx="2743200" cy="548640"/>
          </a:xfrm>
          <a:prstGeom prst="rect">
            <a:avLst/>
          </a:prstGeom>
          <a:noFill/>
        </p:spPr>
        <p:txBody>
          <a:bodyPr wrap="square">
            <a:spAutoFit/>
          </a:bodyPr>
          <a:lstStyle/>
          <a:p>
            <a:pPr algn="ctr"/>
            <a:r>
              <a:rPr sz="1100" b="0" i="0">
                <a:solidFill>
                  <a:srgbClr val="3A4A5C"/>
                </a:solidFill>
              </a:rPr>
              <a:t>Creators
in Network</a:t>
            </a:r>
          </a:p>
        </p:txBody>
      </p:sp>
      <p:sp>
        <p:nvSpPr>
          <p:cNvPr id="11" name="Rectangle 10"/>
          <p:cNvSpPr/>
          <p:nvPr/>
        </p:nvSpPr>
        <p:spPr>
          <a:xfrm>
            <a:off x="3429000" y="1463040"/>
            <a:ext cx="2743200" cy="1600200"/>
          </a:xfrm>
          <a:prstGeom prst="rect">
            <a:avLst/>
          </a:prstGeom>
          <a:solidFill>
            <a:srgbClr val="F0EBFF"/>
          </a:solidFill>
          <a:ln w="1524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29000" y="1572768"/>
            <a:ext cx="2743200" cy="777240"/>
          </a:xfrm>
          <a:prstGeom prst="rect">
            <a:avLst/>
          </a:prstGeom>
          <a:noFill/>
        </p:spPr>
        <p:txBody>
          <a:bodyPr wrap="square">
            <a:spAutoFit/>
          </a:bodyPr>
          <a:lstStyle/>
          <a:p>
            <a:pPr algn="ctr"/>
            <a:r>
              <a:rPr sz="3800" b="1" i="0">
                <a:solidFill>
                  <a:srgbClr val="7C3AED"/>
                </a:solidFill>
              </a:rPr>
              <a:t>4.7M+</a:t>
            </a:r>
          </a:p>
        </p:txBody>
      </p:sp>
      <p:sp>
        <p:nvSpPr>
          <p:cNvPr id="13" name="TextBox 12"/>
          <p:cNvSpPr txBox="1"/>
          <p:nvPr/>
        </p:nvSpPr>
        <p:spPr>
          <a:xfrm>
            <a:off x="3429000" y="2267712"/>
            <a:ext cx="2743200" cy="548640"/>
          </a:xfrm>
          <a:prstGeom prst="rect">
            <a:avLst/>
          </a:prstGeom>
          <a:noFill/>
        </p:spPr>
        <p:txBody>
          <a:bodyPr wrap="square">
            <a:spAutoFit/>
          </a:bodyPr>
          <a:lstStyle/>
          <a:p>
            <a:pPr algn="ctr"/>
            <a:r>
              <a:rPr sz="1100" b="0" i="0">
                <a:solidFill>
                  <a:srgbClr val="3A4A5C"/>
                </a:solidFill>
              </a:rPr>
              <a:t>Instagram
Followers</a:t>
            </a:r>
          </a:p>
        </p:txBody>
      </p:sp>
      <p:sp>
        <p:nvSpPr>
          <p:cNvPr id="14" name="Rectangle 13"/>
          <p:cNvSpPr/>
          <p:nvPr/>
        </p:nvSpPr>
        <p:spPr>
          <a:xfrm>
            <a:off x="6355080" y="1463040"/>
            <a:ext cx="2743200" cy="1600200"/>
          </a:xfrm>
          <a:prstGeom prst="rect">
            <a:avLst/>
          </a:prstGeom>
          <a:solidFill>
            <a:srgbClr val="FFF0F6"/>
          </a:solidFill>
          <a:ln w="15240">
            <a:solidFill>
              <a:srgbClr val="E04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572768"/>
            <a:ext cx="2743200" cy="777240"/>
          </a:xfrm>
          <a:prstGeom prst="rect">
            <a:avLst/>
          </a:prstGeom>
          <a:noFill/>
        </p:spPr>
        <p:txBody>
          <a:bodyPr wrap="square">
            <a:spAutoFit/>
          </a:bodyPr>
          <a:lstStyle/>
          <a:p>
            <a:pPr algn="ctr"/>
            <a:r>
              <a:rPr sz="3800" b="1" i="0">
                <a:solidFill>
                  <a:srgbClr val="E0458A"/>
                </a:solidFill>
              </a:rPr>
              <a:t>30–50</a:t>
            </a:r>
          </a:p>
        </p:txBody>
      </p:sp>
      <p:sp>
        <p:nvSpPr>
          <p:cNvPr id="16" name="TextBox 15"/>
          <p:cNvSpPr txBox="1"/>
          <p:nvPr/>
        </p:nvSpPr>
        <p:spPr>
          <a:xfrm>
            <a:off x="6355080" y="2267712"/>
            <a:ext cx="2743200" cy="548640"/>
          </a:xfrm>
          <a:prstGeom prst="rect">
            <a:avLst/>
          </a:prstGeom>
          <a:noFill/>
        </p:spPr>
        <p:txBody>
          <a:bodyPr wrap="square">
            <a:spAutoFit/>
          </a:bodyPr>
          <a:lstStyle/>
          <a:p>
            <a:pPr algn="ctr"/>
            <a:r>
              <a:rPr sz="1100" b="0" i="0">
                <a:solidFill>
                  <a:srgbClr val="3A4A5C"/>
                </a:solidFill>
              </a:rPr>
              <a:t>Expected
Attendees</a:t>
            </a:r>
          </a:p>
        </p:txBody>
      </p:sp>
      <p:sp>
        <p:nvSpPr>
          <p:cNvPr id="17" name="Rectangle 16"/>
          <p:cNvSpPr/>
          <p:nvPr/>
        </p:nvSpPr>
        <p:spPr>
          <a:xfrm>
            <a:off x="9281160" y="1463040"/>
            <a:ext cx="2743200" cy="1600200"/>
          </a:xfrm>
          <a:prstGeom prst="rect">
            <a:avLst/>
          </a:prstGeom>
          <a:solidFill>
            <a:srgbClr val="E6F8F6"/>
          </a:solidFill>
          <a:ln w="15240">
            <a:solidFill>
              <a:srgbClr val="0B9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81160" y="1572768"/>
            <a:ext cx="2743200" cy="777240"/>
          </a:xfrm>
          <a:prstGeom prst="rect">
            <a:avLst/>
          </a:prstGeom>
          <a:noFill/>
        </p:spPr>
        <p:txBody>
          <a:bodyPr wrap="square">
            <a:spAutoFit/>
          </a:bodyPr>
          <a:lstStyle/>
          <a:p>
            <a:pPr algn="ctr"/>
            <a:r>
              <a:rPr sz="3800" b="1" i="0">
                <a:solidFill>
                  <a:srgbClr val="0B9A8A"/>
                </a:solidFill>
              </a:rPr>
              <a:t>10+</a:t>
            </a:r>
          </a:p>
        </p:txBody>
      </p:sp>
      <p:sp>
        <p:nvSpPr>
          <p:cNvPr id="19" name="TextBox 18"/>
          <p:cNvSpPr txBox="1"/>
          <p:nvPr/>
        </p:nvSpPr>
        <p:spPr>
          <a:xfrm>
            <a:off x="9281160" y="2267712"/>
            <a:ext cx="2743200" cy="548640"/>
          </a:xfrm>
          <a:prstGeom prst="rect">
            <a:avLst/>
          </a:prstGeom>
          <a:noFill/>
        </p:spPr>
        <p:txBody>
          <a:bodyPr wrap="square">
            <a:spAutoFit/>
          </a:bodyPr>
          <a:lstStyle/>
          <a:p>
            <a:pPr algn="ctr"/>
            <a:r>
              <a:rPr sz="1100" b="0" i="0">
                <a:solidFill>
                  <a:srgbClr val="3A4A5C"/>
                </a:solidFill>
              </a:rPr>
              <a:t>Countries
Represented</a:t>
            </a:r>
          </a:p>
        </p:txBody>
      </p:sp>
      <p:sp>
        <p:nvSpPr>
          <p:cNvPr id="20" name="Rectangle 19"/>
          <p:cNvSpPr/>
          <p:nvPr/>
        </p:nvSpPr>
        <p:spPr>
          <a:xfrm>
            <a:off x="502920" y="3337560"/>
            <a:ext cx="36576" cy="36576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2648" y="3319272"/>
            <a:ext cx="5486400" cy="411480"/>
          </a:xfrm>
          <a:prstGeom prst="rect">
            <a:avLst/>
          </a:prstGeom>
          <a:noFill/>
        </p:spPr>
        <p:txBody>
          <a:bodyPr wrap="square">
            <a:spAutoFit/>
          </a:bodyPr>
          <a:lstStyle/>
          <a:p>
            <a:pPr algn="l"/>
            <a:r>
              <a:rPr sz="1200" b="1" i="0">
                <a:solidFill>
                  <a:srgbClr val="1A6FC4"/>
                </a:solidFill>
              </a:rPr>
              <a:t>ネットワーク内 招待候補クリエイター例</a:t>
            </a:r>
          </a:p>
        </p:txBody>
      </p:sp>
      <p:sp>
        <p:nvSpPr>
          <p:cNvPr id="22" name="Rectangle 21"/>
          <p:cNvSpPr/>
          <p:nvPr/>
        </p:nvSpPr>
        <p:spPr>
          <a:xfrm>
            <a:off x="502920" y="3749039"/>
            <a:ext cx="2148840" cy="2011680"/>
          </a:xfrm>
          <a:prstGeom prst="rect">
            <a:avLst/>
          </a:prstGeom>
          <a:solidFill>
            <a:srgbClr val="FFFFFF"/>
          </a:solidFill>
          <a:ln w="19050">
            <a:solidFill>
              <a:srgbClr val="1A6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3749039"/>
            <a:ext cx="2148840" cy="347472"/>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4160519"/>
            <a:ext cx="2148840" cy="685800"/>
          </a:xfrm>
          <a:prstGeom prst="rect">
            <a:avLst/>
          </a:prstGeom>
          <a:noFill/>
        </p:spPr>
        <p:txBody>
          <a:bodyPr wrap="square">
            <a:spAutoFit/>
          </a:bodyPr>
          <a:lstStyle/>
          <a:p>
            <a:pPr algn="ctr"/>
            <a:r>
              <a:rPr sz="2200" b="1" i="0">
                <a:solidFill>
                  <a:srgbClr val="1A6FC4"/>
                </a:solidFill>
              </a:rPr>
              <a:t>100万超</a:t>
            </a:r>
          </a:p>
        </p:txBody>
      </p:sp>
      <p:sp>
        <p:nvSpPr>
          <p:cNvPr id="25" name="TextBox 24"/>
          <p:cNvSpPr txBox="1"/>
          <p:nvPr/>
        </p:nvSpPr>
        <p:spPr>
          <a:xfrm>
            <a:off x="502920" y="4846319"/>
            <a:ext cx="2148840" cy="822960"/>
          </a:xfrm>
          <a:prstGeom prst="rect">
            <a:avLst/>
          </a:prstGeom>
          <a:noFill/>
        </p:spPr>
        <p:txBody>
          <a:bodyPr wrap="square">
            <a:spAutoFit/>
          </a:bodyPr>
          <a:lstStyle/>
          <a:p>
            <a:pPr algn="ctr"/>
            <a:r>
              <a:rPr sz="1150" b="0" i="0">
                <a:solidFill>
                  <a:srgbClr val="3A4A5C"/>
                </a:solidFill>
              </a:rPr>
              <a:t>Japan Travel
/ Halal</a:t>
            </a:r>
          </a:p>
        </p:txBody>
      </p:sp>
      <p:sp>
        <p:nvSpPr>
          <p:cNvPr id="26" name="Rectangle 25"/>
          <p:cNvSpPr/>
          <p:nvPr/>
        </p:nvSpPr>
        <p:spPr>
          <a:xfrm>
            <a:off x="2834639" y="3749039"/>
            <a:ext cx="2148840" cy="2011680"/>
          </a:xfrm>
          <a:prstGeom prst="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834639" y="3749039"/>
            <a:ext cx="2148840"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34639" y="4160519"/>
            <a:ext cx="2148840" cy="685800"/>
          </a:xfrm>
          <a:prstGeom prst="rect">
            <a:avLst/>
          </a:prstGeom>
          <a:noFill/>
        </p:spPr>
        <p:txBody>
          <a:bodyPr wrap="square">
            <a:spAutoFit/>
          </a:bodyPr>
          <a:lstStyle/>
          <a:p>
            <a:pPr algn="ctr"/>
            <a:r>
              <a:rPr sz="2200" b="1" i="0">
                <a:solidFill>
                  <a:srgbClr val="7C3AED"/>
                </a:solidFill>
              </a:rPr>
              <a:t>90万規模</a:t>
            </a:r>
          </a:p>
        </p:txBody>
      </p:sp>
      <p:sp>
        <p:nvSpPr>
          <p:cNvPr id="29" name="TextBox 28"/>
          <p:cNvSpPr txBox="1"/>
          <p:nvPr/>
        </p:nvSpPr>
        <p:spPr>
          <a:xfrm>
            <a:off x="2834639" y="4846319"/>
            <a:ext cx="2148840" cy="822960"/>
          </a:xfrm>
          <a:prstGeom prst="rect">
            <a:avLst/>
          </a:prstGeom>
          <a:noFill/>
        </p:spPr>
        <p:txBody>
          <a:bodyPr wrap="square">
            <a:spAutoFit/>
          </a:bodyPr>
          <a:lstStyle/>
          <a:p>
            <a:pPr algn="ctr"/>
            <a:r>
              <a:rPr sz="1150" b="0" i="0">
                <a:solidFill>
                  <a:srgbClr val="3A4A5C"/>
                </a:solidFill>
              </a:rPr>
              <a:t>Japan
Lifestyle</a:t>
            </a:r>
          </a:p>
        </p:txBody>
      </p:sp>
      <p:sp>
        <p:nvSpPr>
          <p:cNvPr id="30" name="Rectangle 29"/>
          <p:cNvSpPr/>
          <p:nvPr/>
        </p:nvSpPr>
        <p:spPr>
          <a:xfrm>
            <a:off x="5166359" y="3749039"/>
            <a:ext cx="2148840" cy="2011680"/>
          </a:xfrm>
          <a:prstGeom prst="rect">
            <a:avLst/>
          </a:prstGeom>
          <a:solidFill>
            <a:srgbClr val="FFFFFF"/>
          </a:solidFill>
          <a:ln w="19050">
            <a:solidFill>
              <a:srgbClr val="E04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166359" y="3749039"/>
            <a:ext cx="2148840" cy="347472"/>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66359" y="4160519"/>
            <a:ext cx="2148840" cy="685800"/>
          </a:xfrm>
          <a:prstGeom prst="rect">
            <a:avLst/>
          </a:prstGeom>
          <a:noFill/>
        </p:spPr>
        <p:txBody>
          <a:bodyPr wrap="square">
            <a:spAutoFit/>
          </a:bodyPr>
          <a:lstStyle/>
          <a:p>
            <a:pPr algn="ctr"/>
            <a:r>
              <a:rPr sz="2200" b="1" i="0">
                <a:solidFill>
                  <a:srgbClr val="E0458A"/>
                </a:solidFill>
              </a:rPr>
              <a:t>39万規模</a:t>
            </a:r>
          </a:p>
        </p:txBody>
      </p:sp>
      <p:sp>
        <p:nvSpPr>
          <p:cNvPr id="33" name="TextBox 32"/>
          <p:cNvSpPr txBox="1"/>
          <p:nvPr/>
        </p:nvSpPr>
        <p:spPr>
          <a:xfrm>
            <a:off x="5166359" y="4846319"/>
            <a:ext cx="2148840" cy="822960"/>
          </a:xfrm>
          <a:prstGeom prst="rect">
            <a:avLst/>
          </a:prstGeom>
          <a:noFill/>
        </p:spPr>
        <p:txBody>
          <a:bodyPr wrap="square">
            <a:spAutoFit/>
          </a:bodyPr>
          <a:lstStyle/>
          <a:p>
            <a:pPr algn="ctr"/>
            <a:r>
              <a:rPr sz="1150" b="0" i="0">
                <a:solidFill>
                  <a:srgbClr val="3A4A5C"/>
                </a:solidFill>
              </a:rPr>
              <a:t>日本語・
カルチャー</a:t>
            </a:r>
          </a:p>
        </p:txBody>
      </p:sp>
      <p:sp>
        <p:nvSpPr>
          <p:cNvPr id="34" name="Rectangle 33"/>
          <p:cNvSpPr/>
          <p:nvPr/>
        </p:nvSpPr>
        <p:spPr>
          <a:xfrm>
            <a:off x="7498079" y="3749039"/>
            <a:ext cx="2148840" cy="2011680"/>
          </a:xfrm>
          <a:prstGeom prst="rect">
            <a:avLst/>
          </a:prstGeom>
          <a:solidFill>
            <a:srgbClr val="FFFFFF"/>
          </a:solidFill>
          <a:ln w="19050">
            <a:solidFill>
              <a:srgbClr val="0B9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498079" y="3749039"/>
            <a:ext cx="2148840" cy="347472"/>
          </a:xfrm>
          <a:prstGeom prst="rect">
            <a:avLst/>
          </a:prstGeom>
          <a:solidFill>
            <a:srgbClr val="0B9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98079" y="4160519"/>
            <a:ext cx="2148840" cy="685800"/>
          </a:xfrm>
          <a:prstGeom prst="rect">
            <a:avLst/>
          </a:prstGeom>
          <a:noFill/>
        </p:spPr>
        <p:txBody>
          <a:bodyPr wrap="square">
            <a:spAutoFit/>
          </a:bodyPr>
          <a:lstStyle/>
          <a:p>
            <a:pPr algn="ctr"/>
            <a:r>
              <a:rPr sz="2200" b="1" i="0">
                <a:solidFill>
                  <a:srgbClr val="0B9A8A"/>
                </a:solidFill>
              </a:rPr>
              <a:t>28万規模</a:t>
            </a:r>
          </a:p>
        </p:txBody>
      </p:sp>
      <p:sp>
        <p:nvSpPr>
          <p:cNvPr id="37" name="TextBox 36"/>
          <p:cNvSpPr txBox="1"/>
          <p:nvPr/>
        </p:nvSpPr>
        <p:spPr>
          <a:xfrm>
            <a:off x="7498079" y="4846319"/>
            <a:ext cx="2148840" cy="822960"/>
          </a:xfrm>
          <a:prstGeom prst="rect">
            <a:avLst/>
          </a:prstGeom>
          <a:noFill/>
        </p:spPr>
        <p:txBody>
          <a:bodyPr wrap="square">
            <a:spAutoFit/>
          </a:bodyPr>
          <a:lstStyle/>
          <a:p>
            <a:pPr algn="ctr"/>
            <a:r>
              <a:rPr sz="1150" b="0" i="0">
                <a:solidFill>
                  <a:srgbClr val="3A4A5C"/>
                </a:solidFill>
              </a:rPr>
              <a:t>Japan
Travel</a:t>
            </a:r>
          </a:p>
        </p:txBody>
      </p:sp>
      <p:sp>
        <p:nvSpPr>
          <p:cNvPr id="38" name="Rectangle 37"/>
          <p:cNvSpPr/>
          <p:nvPr/>
        </p:nvSpPr>
        <p:spPr>
          <a:xfrm>
            <a:off x="9829800" y="3749039"/>
            <a:ext cx="2148840" cy="2011680"/>
          </a:xfrm>
          <a:prstGeom prst="rect">
            <a:avLst/>
          </a:prstGeom>
          <a:solidFill>
            <a:srgbClr val="FFFFFF"/>
          </a:solidFill>
          <a:ln w="19050">
            <a:solidFill>
              <a:srgbClr val="1A6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829800" y="3749039"/>
            <a:ext cx="2148840" cy="347472"/>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829800" y="4160519"/>
            <a:ext cx="2148840" cy="685800"/>
          </a:xfrm>
          <a:prstGeom prst="rect">
            <a:avLst/>
          </a:prstGeom>
          <a:noFill/>
        </p:spPr>
        <p:txBody>
          <a:bodyPr wrap="square">
            <a:spAutoFit/>
          </a:bodyPr>
          <a:lstStyle/>
          <a:p>
            <a:pPr algn="ctr"/>
            <a:r>
              <a:rPr sz="2200" b="1" i="0">
                <a:solidFill>
                  <a:srgbClr val="1A6FC4"/>
                </a:solidFill>
              </a:rPr>
              <a:t>21万規模</a:t>
            </a:r>
          </a:p>
        </p:txBody>
      </p:sp>
      <p:sp>
        <p:nvSpPr>
          <p:cNvPr id="41" name="TextBox 40"/>
          <p:cNvSpPr txBox="1"/>
          <p:nvPr/>
        </p:nvSpPr>
        <p:spPr>
          <a:xfrm>
            <a:off x="9829800" y="4846319"/>
            <a:ext cx="2148840" cy="822960"/>
          </a:xfrm>
          <a:prstGeom prst="rect">
            <a:avLst/>
          </a:prstGeom>
          <a:noFill/>
        </p:spPr>
        <p:txBody>
          <a:bodyPr wrap="square">
            <a:spAutoFit/>
          </a:bodyPr>
          <a:lstStyle/>
          <a:p>
            <a:pPr algn="ctr"/>
            <a:r>
              <a:rPr sz="1150" b="0" i="0">
                <a:solidFill>
                  <a:srgbClr val="3A4A5C"/>
                </a:solidFill>
              </a:rPr>
              <a:t>Kansai
Life</a:t>
            </a:r>
          </a:p>
        </p:txBody>
      </p:sp>
      <p:sp>
        <p:nvSpPr>
          <p:cNvPr id="42" name="TextBox 41"/>
          <p:cNvSpPr txBox="1"/>
          <p:nvPr/>
        </p:nvSpPr>
        <p:spPr>
          <a:xfrm>
            <a:off x="502920" y="6446520"/>
            <a:ext cx="11430000" cy="320040"/>
          </a:xfrm>
          <a:prstGeom prst="rect">
            <a:avLst/>
          </a:prstGeom>
          <a:noFill/>
        </p:spPr>
        <p:txBody>
          <a:bodyPr wrap="square">
            <a:spAutoFit/>
          </a:bodyPr>
          <a:lstStyle/>
          <a:p>
            <a:pPr algn="l"/>
            <a:r>
              <a:rPr sz="900" b="0" i="1">
                <a:solidFill>
                  <a:srgbClr val="8A96AA"/>
                </a:solidFill>
              </a:rPr>
              <a:t>※参加者数・投稿数・再生数は保証値ではありません。開催条件・参加可否・企画内容により変動します。投稿保証型PRは別途オプションとして設計可能です。</a:t>
            </a:r>
          </a:p>
        </p:txBody>
      </p:sp>
      <p:sp>
        <p:nvSpPr>
          <p:cNvPr id="43" name="Rectangle 42"/>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881360" cy="777240"/>
          </a:xfrm>
          <a:prstGeom prst="rect">
            <a:avLst/>
          </a:prstGeom>
          <a:noFill/>
        </p:spPr>
        <p:txBody>
          <a:bodyPr wrap="square">
            <a:spAutoFit/>
          </a:bodyPr>
          <a:lstStyle/>
          <a:p>
            <a:pPr algn="l"/>
            <a:r>
              <a:rPr sz="3000" b="1" i="0">
                <a:solidFill>
                  <a:srgbClr val="0D1F3C"/>
                </a:solidFill>
              </a:rPr>
              <a:t>過去開催実績</a:t>
            </a:r>
          </a:p>
        </p:txBody>
      </p:sp>
      <p:sp>
        <p:nvSpPr>
          <p:cNvPr id="5" name="TextBox 4"/>
          <p:cNvSpPr txBox="1"/>
          <p:nvPr/>
        </p:nvSpPr>
        <p:spPr>
          <a:xfrm>
            <a:off x="640080" y="868680"/>
            <a:ext cx="10881360" cy="411480"/>
          </a:xfrm>
          <a:prstGeom prst="rect">
            <a:avLst/>
          </a:prstGeom>
          <a:noFill/>
        </p:spPr>
        <p:txBody>
          <a:bodyPr wrap="square">
            <a:spAutoFit/>
          </a:bodyPr>
          <a:lstStyle/>
          <a:p>
            <a:pPr algn="l"/>
            <a:r>
              <a:rPr sz="1300" b="0" i="0">
                <a:solidFill>
                  <a:srgbClr val="8A96AA"/>
                </a:solidFill>
              </a:rPr>
              <a:t>Track Record — 実績データ</a:t>
            </a:r>
          </a:p>
        </p:txBody>
      </p:sp>
      <p:sp>
        <p:nvSpPr>
          <p:cNvPr id="6" name="Rectangle 5"/>
          <p:cNvSpPr/>
          <p:nvPr/>
        </p:nvSpPr>
        <p:spPr>
          <a:xfrm>
            <a:off x="640080" y="1234440"/>
            <a:ext cx="10908792" cy="190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63040"/>
            <a:ext cx="5440680" cy="3429000"/>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63040"/>
            <a:ext cx="5440680" cy="45720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481328"/>
            <a:ext cx="5029200" cy="411480"/>
          </a:xfrm>
          <a:prstGeom prst="rect">
            <a:avLst/>
          </a:prstGeom>
          <a:noFill/>
        </p:spPr>
        <p:txBody>
          <a:bodyPr wrap="square">
            <a:spAutoFit/>
          </a:bodyPr>
          <a:lstStyle/>
          <a:p>
            <a:pPr algn="l"/>
            <a:r>
              <a:rPr sz="1600" b="1" i="0">
                <a:solidFill>
                  <a:srgbClr val="FFFFFF"/>
                </a:solidFill>
              </a:rPr>
              <a:t>第1回</a:t>
            </a:r>
          </a:p>
        </p:txBody>
      </p:sp>
      <p:sp>
        <p:nvSpPr>
          <p:cNvPr id="11" name="TextBox 10"/>
          <p:cNvSpPr txBox="1"/>
          <p:nvPr/>
        </p:nvSpPr>
        <p:spPr>
          <a:xfrm>
            <a:off x="685800" y="2103120"/>
            <a:ext cx="5029200" cy="365760"/>
          </a:xfrm>
          <a:prstGeom prst="rect">
            <a:avLst/>
          </a:prstGeom>
          <a:noFill/>
        </p:spPr>
        <p:txBody>
          <a:bodyPr wrap="square">
            <a:spAutoFit/>
          </a:bodyPr>
          <a:lstStyle/>
          <a:p>
            <a:pPr algn="l"/>
            <a:r>
              <a:rPr sz="1100" b="0" i="0">
                <a:solidFill>
                  <a:srgbClr val="8A96AA"/>
                </a:solidFill>
              </a:rPr>
              <a:t>参加者数</a:t>
            </a:r>
          </a:p>
        </p:txBody>
      </p:sp>
      <p:sp>
        <p:nvSpPr>
          <p:cNvPr id="12" name="TextBox 11"/>
          <p:cNvSpPr txBox="1"/>
          <p:nvPr/>
        </p:nvSpPr>
        <p:spPr>
          <a:xfrm>
            <a:off x="685800" y="2423160"/>
            <a:ext cx="5029200" cy="548640"/>
          </a:xfrm>
          <a:prstGeom prst="rect">
            <a:avLst/>
          </a:prstGeom>
          <a:noFill/>
        </p:spPr>
        <p:txBody>
          <a:bodyPr wrap="square">
            <a:spAutoFit/>
          </a:bodyPr>
          <a:lstStyle/>
          <a:p>
            <a:pPr algn="l"/>
            <a:r>
              <a:rPr sz="2800" b="1" i="0">
                <a:solidFill>
                  <a:srgbClr val="0D1F3C"/>
                </a:solidFill>
              </a:rPr>
              <a:t>30名</a:t>
            </a:r>
          </a:p>
        </p:txBody>
      </p:sp>
      <p:sp>
        <p:nvSpPr>
          <p:cNvPr id="13" name="Rectangle 12"/>
          <p:cNvSpPr/>
          <p:nvPr/>
        </p:nvSpPr>
        <p:spPr>
          <a:xfrm>
            <a:off x="685800" y="2926080"/>
            <a:ext cx="5029200" cy="1016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154679"/>
            <a:ext cx="5029200" cy="365760"/>
          </a:xfrm>
          <a:prstGeom prst="rect">
            <a:avLst/>
          </a:prstGeom>
          <a:noFill/>
        </p:spPr>
        <p:txBody>
          <a:bodyPr wrap="square">
            <a:spAutoFit/>
          </a:bodyPr>
          <a:lstStyle/>
          <a:p>
            <a:pPr algn="l"/>
            <a:r>
              <a:rPr sz="1100" b="0" i="0">
                <a:solidFill>
                  <a:srgbClr val="8A96AA"/>
                </a:solidFill>
              </a:rPr>
              <a:t>SNS合計フォロワー</a:t>
            </a:r>
          </a:p>
        </p:txBody>
      </p:sp>
      <p:sp>
        <p:nvSpPr>
          <p:cNvPr id="15" name="TextBox 14"/>
          <p:cNvSpPr txBox="1"/>
          <p:nvPr/>
        </p:nvSpPr>
        <p:spPr>
          <a:xfrm>
            <a:off x="685800" y="3474720"/>
            <a:ext cx="5029200" cy="548640"/>
          </a:xfrm>
          <a:prstGeom prst="rect">
            <a:avLst/>
          </a:prstGeom>
          <a:noFill/>
        </p:spPr>
        <p:txBody>
          <a:bodyPr wrap="square">
            <a:spAutoFit/>
          </a:bodyPr>
          <a:lstStyle/>
          <a:p>
            <a:pPr algn="l"/>
            <a:r>
              <a:rPr sz="2800" b="1" i="0">
                <a:solidFill>
                  <a:srgbClr val="1A6FC4"/>
                </a:solidFill>
              </a:rPr>
              <a:t>約871万</a:t>
            </a:r>
          </a:p>
        </p:txBody>
      </p:sp>
      <p:sp>
        <p:nvSpPr>
          <p:cNvPr id="16" name="Rectangle 15"/>
          <p:cNvSpPr/>
          <p:nvPr/>
        </p:nvSpPr>
        <p:spPr>
          <a:xfrm>
            <a:off x="685800" y="3977639"/>
            <a:ext cx="5029200" cy="1016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206240"/>
            <a:ext cx="5029200" cy="365760"/>
          </a:xfrm>
          <a:prstGeom prst="rect">
            <a:avLst/>
          </a:prstGeom>
          <a:noFill/>
        </p:spPr>
        <p:txBody>
          <a:bodyPr wrap="square">
            <a:spAutoFit/>
          </a:bodyPr>
          <a:lstStyle/>
          <a:p>
            <a:pPr algn="l"/>
            <a:r>
              <a:rPr sz="1100" b="0" i="0">
                <a:solidFill>
                  <a:srgbClr val="8A96AA"/>
                </a:solidFill>
              </a:rPr>
              <a:t>平均フォロワー</a:t>
            </a:r>
          </a:p>
        </p:txBody>
      </p:sp>
      <p:sp>
        <p:nvSpPr>
          <p:cNvPr id="18" name="TextBox 17"/>
          <p:cNvSpPr txBox="1"/>
          <p:nvPr/>
        </p:nvSpPr>
        <p:spPr>
          <a:xfrm>
            <a:off x="685800" y="4526279"/>
            <a:ext cx="5029200" cy="548640"/>
          </a:xfrm>
          <a:prstGeom prst="rect">
            <a:avLst/>
          </a:prstGeom>
          <a:noFill/>
        </p:spPr>
        <p:txBody>
          <a:bodyPr wrap="square">
            <a:spAutoFit/>
          </a:bodyPr>
          <a:lstStyle/>
          <a:p>
            <a:pPr algn="l"/>
            <a:r>
              <a:rPr sz="1800" b="1" i="0">
                <a:solidFill>
                  <a:srgbClr val="3A4A5C"/>
                </a:solidFill>
              </a:rPr>
              <a:t>約290,547</a:t>
            </a:r>
          </a:p>
        </p:txBody>
      </p:sp>
      <p:sp>
        <p:nvSpPr>
          <p:cNvPr id="19" name="Rectangle 18"/>
          <p:cNvSpPr/>
          <p:nvPr/>
        </p:nvSpPr>
        <p:spPr>
          <a:xfrm>
            <a:off x="6217920" y="1463040"/>
            <a:ext cx="5440680" cy="3429000"/>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463040"/>
            <a:ext cx="5440680"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1481328"/>
            <a:ext cx="5029200" cy="411480"/>
          </a:xfrm>
          <a:prstGeom prst="rect">
            <a:avLst/>
          </a:prstGeom>
          <a:noFill/>
        </p:spPr>
        <p:txBody>
          <a:bodyPr wrap="square">
            <a:spAutoFit/>
          </a:bodyPr>
          <a:lstStyle/>
          <a:p>
            <a:pPr algn="l"/>
            <a:r>
              <a:rPr sz="1600" b="1" i="0">
                <a:solidFill>
                  <a:srgbClr val="FFFFFF"/>
                </a:solidFill>
              </a:rPr>
              <a:t>第2回</a:t>
            </a:r>
          </a:p>
        </p:txBody>
      </p:sp>
      <p:sp>
        <p:nvSpPr>
          <p:cNvPr id="22" name="TextBox 21"/>
          <p:cNvSpPr txBox="1"/>
          <p:nvPr/>
        </p:nvSpPr>
        <p:spPr>
          <a:xfrm>
            <a:off x="6400800" y="2103120"/>
            <a:ext cx="5029200" cy="365760"/>
          </a:xfrm>
          <a:prstGeom prst="rect">
            <a:avLst/>
          </a:prstGeom>
          <a:noFill/>
        </p:spPr>
        <p:txBody>
          <a:bodyPr wrap="square">
            <a:spAutoFit/>
          </a:bodyPr>
          <a:lstStyle/>
          <a:p>
            <a:pPr algn="l"/>
            <a:r>
              <a:rPr sz="1100" b="0" i="0">
                <a:solidFill>
                  <a:srgbClr val="8A96AA"/>
                </a:solidFill>
              </a:rPr>
              <a:t>参加者数</a:t>
            </a:r>
          </a:p>
        </p:txBody>
      </p:sp>
      <p:sp>
        <p:nvSpPr>
          <p:cNvPr id="23" name="TextBox 22"/>
          <p:cNvSpPr txBox="1"/>
          <p:nvPr/>
        </p:nvSpPr>
        <p:spPr>
          <a:xfrm>
            <a:off x="6400800" y="2423160"/>
            <a:ext cx="5029200" cy="548640"/>
          </a:xfrm>
          <a:prstGeom prst="rect">
            <a:avLst/>
          </a:prstGeom>
          <a:noFill/>
        </p:spPr>
        <p:txBody>
          <a:bodyPr wrap="square">
            <a:spAutoFit/>
          </a:bodyPr>
          <a:lstStyle/>
          <a:p>
            <a:pPr algn="l"/>
            <a:r>
              <a:rPr sz="2800" b="1" i="0">
                <a:solidFill>
                  <a:srgbClr val="0D1F3C"/>
                </a:solidFill>
              </a:rPr>
              <a:t>30名</a:t>
            </a:r>
          </a:p>
        </p:txBody>
      </p:sp>
      <p:sp>
        <p:nvSpPr>
          <p:cNvPr id="24" name="Rectangle 23"/>
          <p:cNvSpPr/>
          <p:nvPr/>
        </p:nvSpPr>
        <p:spPr>
          <a:xfrm>
            <a:off x="6400800" y="2926080"/>
            <a:ext cx="5029200" cy="1016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3154679"/>
            <a:ext cx="5029200" cy="365760"/>
          </a:xfrm>
          <a:prstGeom prst="rect">
            <a:avLst/>
          </a:prstGeom>
          <a:noFill/>
        </p:spPr>
        <p:txBody>
          <a:bodyPr wrap="square">
            <a:spAutoFit/>
          </a:bodyPr>
          <a:lstStyle/>
          <a:p>
            <a:pPr algn="l"/>
            <a:r>
              <a:rPr sz="1100" b="0" i="0">
                <a:solidFill>
                  <a:srgbClr val="8A96AA"/>
                </a:solidFill>
              </a:rPr>
              <a:t>SNS合計フォロワー</a:t>
            </a:r>
          </a:p>
        </p:txBody>
      </p:sp>
      <p:sp>
        <p:nvSpPr>
          <p:cNvPr id="26" name="TextBox 25"/>
          <p:cNvSpPr txBox="1"/>
          <p:nvPr/>
        </p:nvSpPr>
        <p:spPr>
          <a:xfrm>
            <a:off x="6400800" y="3474720"/>
            <a:ext cx="5029200" cy="548640"/>
          </a:xfrm>
          <a:prstGeom prst="rect">
            <a:avLst/>
          </a:prstGeom>
          <a:noFill/>
        </p:spPr>
        <p:txBody>
          <a:bodyPr wrap="square">
            <a:spAutoFit/>
          </a:bodyPr>
          <a:lstStyle/>
          <a:p>
            <a:pPr algn="l"/>
            <a:r>
              <a:rPr sz="2800" b="1" i="0">
                <a:solidFill>
                  <a:srgbClr val="7C3AED"/>
                </a:solidFill>
              </a:rPr>
              <a:t>約181万</a:t>
            </a:r>
          </a:p>
        </p:txBody>
      </p:sp>
      <p:sp>
        <p:nvSpPr>
          <p:cNvPr id="27" name="Rectangle 26"/>
          <p:cNvSpPr/>
          <p:nvPr/>
        </p:nvSpPr>
        <p:spPr>
          <a:xfrm>
            <a:off x="6400800" y="3977639"/>
            <a:ext cx="5029200" cy="1016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4206240"/>
            <a:ext cx="5029200" cy="365760"/>
          </a:xfrm>
          <a:prstGeom prst="rect">
            <a:avLst/>
          </a:prstGeom>
          <a:noFill/>
        </p:spPr>
        <p:txBody>
          <a:bodyPr wrap="square">
            <a:spAutoFit/>
          </a:bodyPr>
          <a:lstStyle/>
          <a:p>
            <a:pPr algn="l"/>
            <a:r>
              <a:rPr sz="1100" b="0" i="0">
                <a:solidFill>
                  <a:srgbClr val="8A96AA"/>
                </a:solidFill>
              </a:rPr>
              <a:t>平均フォロワー</a:t>
            </a:r>
          </a:p>
        </p:txBody>
      </p:sp>
      <p:sp>
        <p:nvSpPr>
          <p:cNvPr id="29" name="TextBox 28"/>
          <p:cNvSpPr txBox="1"/>
          <p:nvPr/>
        </p:nvSpPr>
        <p:spPr>
          <a:xfrm>
            <a:off x="6400800" y="4526279"/>
            <a:ext cx="5029200" cy="548640"/>
          </a:xfrm>
          <a:prstGeom prst="rect">
            <a:avLst/>
          </a:prstGeom>
          <a:noFill/>
        </p:spPr>
        <p:txBody>
          <a:bodyPr wrap="square">
            <a:spAutoFit/>
          </a:bodyPr>
          <a:lstStyle/>
          <a:p>
            <a:pPr algn="l"/>
            <a:r>
              <a:rPr sz="1800" b="1" i="0">
                <a:solidFill>
                  <a:srgbClr val="3A4A5C"/>
                </a:solidFill>
              </a:rPr>
              <a:t>約60,525</a:t>
            </a:r>
          </a:p>
        </p:txBody>
      </p:sp>
      <p:sp>
        <p:nvSpPr>
          <p:cNvPr id="30" name="Rectangle 29"/>
          <p:cNvSpPr/>
          <p:nvPr/>
        </p:nvSpPr>
        <p:spPr>
          <a:xfrm>
            <a:off x="502920" y="5166360"/>
            <a:ext cx="11201400" cy="1280160"/>
          </a:xfrm>
          <a:prstGeom prst="rect">
            <a:avLst/>
          </a:prstGeom>
          <a:solidFill>
            <a:srgbClr val="E8F1FB"/>
          </a:solidFill>
          <a:ln w="12700">
            <a:solidFill>
              <a:srgbClr val="1A6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5321808"/>
            <a:ext cx="10835640" cy="548640"/>
          </a:xfrm>
          <a:prstGeom prst="rect">
            <a:avLst/>
          </a:prstGeom>
          <a:noFill/>
        </p:spPr>
        <p:txBody>
          <a:bodyPr wrap="square">
            <a:spAutoFit/>
          </a:bodyPr>
          <a:lstStyle/>
          <a:p>
            <a:pPr algn="ctr"/>
            <a:r>
              <a:rPr sz="1500" b="1" i="0">
                <a:solidFill>
                  <a:srgbClr val="0D1F3C"/>
                </a:solidFill>
              </a:rPr>
              <a:t>関西クリエイターネットワーク  35名  ·  Instagram合計 約470万フォロワー  ·  トップ層：100万超クリエイター在籍</a:t>
            </a:r>
          </a:p>
        </p:txBody>
      </p:sp>
      <p:sp>
        <p:nvSpPr>
          <p:cNvPr id="32" name="TextBox 31"/>
          <p:cNvSpPr txBox="1"/>
          <p:nvPr/>
        </p:nvSpPr>
        <p:spPr>
          <a:xfrm>
            <a:off x="685800" y="5925312"/>
            <a:ext cx="10835640" cy="320040"/>
          </a:xfrm>
          <a:prstGeom prst="rect">
            <a:avLst/>
          </a:prstGeom>
          <a:noFill/>
        </p:spPr>
        <p:txBody>
          <a:bodyPr wrap="square">
            <a:spAutoFit/>
          </a:bodyPr>
          <a:lstStyle/>
          <a:p>
            <a:pPr algn="ctr"/>
            <a:r>
              <a:rPr sz="900" b="0" i="1">
                <a:solidFill>
                  <a:srgbClr val="8A96AA"/>
                </a:solidFill>
              </a:rPr>
              <a:t>※数字は参加者・ネットワークのSNSフォロワー集計に基づく参考値です。</a:t>
            </a:r>
          </a:p>
        </p:txBody>
      </p:sp>
      <p:sp>
        <p:nvSpPr>
          <p:cNvPr id="33" name="Rectangle 32"/>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881360" cy="777240"/>
          </a:xfrm>
          <a:prstGeom prst="rect">
            <a:avLst/>
          </a:prstGeom>
          <a:noFill/>
        </p:spPr>
        <p:txBody>
          <a:bodyPr wrap="square">
            <a:spAutoFit/>
          </a:bodyPr>
          <a:lstStyle/>
          <a:p>
            <a:pPr algn="l"/>
            <a:r>
              <a:rPr sz="2500" b="1" i="0">
                <a:solidFill>
                  <a:srgbClr val="0D1F3C"/>
                </a:solidFill>
              </a:rPr>
              <a:t>海外に届く発信力を持つクリエイターが集まる</a:t>
            </a:r>
          </a:p>
        </p:txBody>
      </p:sp>
      <p:sp>
        <p:nvSpPr>
          <p:cNvPr id="5" name="TextBox 4"/>
          <p:cNvSpPr txBox="1"/>
          <p:nvPr/>
        </p:nvSpPr>
        <p:spPr>
          <a:xfrm>
            <a:off x="640080" y="868680"/>
            <a:ext cx="10881360" cy="411480"/>
          </a:xfrm>
          <a:prstGeom prst="rect">
            <a:avLst/>
          </a:prstGeom>
          <a:noFill/>
        </p:spPr>
        <p:txBody>
          <a:bodyPr wrap="square">
            <a:spAutoFit/>
          </a:bodyPr>
          <a:lstStyle/>
          <a:p>
            <a:pPr algn="l"/>
            <a:r>
              <a:rPr sz="1300" b="0" i="0">
                <a:solidFill>
                  <a:srgbClr val="8A96AA"/>
                </a:solidFill>
              </a:rPr>
              <a:t>Audience Profile — グローバルオーディエンス属性</a:t>
            </a:r>
          </a:p>
        </p:txBody>
      </p:sp>
      <p:sp>
        <p:nvSpPr>
          <p:cNvPr id="6" name="Rectangle 5"/>
          <p:cNvSpPr/>
          <p:nvPr/>
        </p:nvSpPr>
        <p:spPr>
          <a:xfrm>
            <a:off x="640080" y="1234440"/>
            <a:ext cx="10908792" cy="190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44752"/>
            <a:ext cx="36576" cy="36576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426464"/>
            <a:ext cx="5486400" cy="411480"/>
          </a:xfrm>
          <a:prstGeom prst="rect">
            <a:avLst/>
          </a:prstGeom>
          <a:noFill/>
        </p:spPr>
        <p:txBody>
          <a:bodyPr wrap="square">
            <a:spAutoFit/>
          </a:bodyPr>
          <a:lstStyle/>
          <a:p>
            <a:pPr algn="l"/>
            <a:r>
              <a:rPr sz="1200" b="1" i="0">
                <a:solidFill>
                  <a:srgbClr val="1A6FC4"/>
                </a:solidFill>
              </a:rPr>
              <a:t>主なフォロワー国</a:t>
            </a:r>
          </a:p>
        </p:txBody>
      </p:sp>
      <p:sp>
        <p:nvSpPr>
          <p:cNvPr id="10" name="Rectangle 9"/>
          <p:cNvSpPr/>
          <p:nvPr/>
        </p:nvSpPr>
        <p:spPr>
          <a:xfrm>
            <a:off x="502920" y="1874519"/>
            <a:ext cx="1600200" cy="548640"/>
          </a:xfrm>
          <a:prstGeom prst="rect">
            <a:avLst/>
          </a:prstGeom>
          <a:solidFill>
            <a:srgbClr val="F0F2F7"/>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1938527"/>
            <a:ext cx="1463040" cy="438912"/>
          </a:xfrm>
          <a:prstGeom prst="rect">
            <a:avLst/>
          </a:prstGeom>
          <a:noFill/>
        </p:spPr>
        <p:txBody>
          <a:bodyPr wrap="square">
            <a:spAutoFit/>
          </a:bodyPr>
          <a:lstStyle/>
          <a:p>
            <a:pPr algn="l"/>
            <a:r>
              <a:rPr sz="1250" b="0" i="0">
                <a:solidFill>
                  <a:srgbClr val="3A4A5C"/>
                </a:solidFill>
              </a:rPr>
              <a:t>🇺🇸 USA</a:t>
            </a:r>
          </a:p>
        </p:txBody>
      </p:sp>
      <p:sp>
        <p:nvSpPr>
          <p:cNvPr id="12" name="Rectangle 11"/>
          <p:cNvSpPr/>
          <p:nvPr/>
        </p:nvSpPr>
        <p:spPr>
          <a:xfrm>
            <a:off x="2185416" y="1874519"/>
            <a:ext cx="1600200" cy="548640"/>
          </a:xfrm>
          <a:prstGeom prst="rect">
            <a:avLst/>
          </a:prstGeom>
          <a:solidFill>
            <a:srgbClr val="F0F2F7"/>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58568" y="1938527"/>
            <a:ext cx="1463040" cy="438912"/>
          </a:xfrm>
          <a:prstGeom prst="rect">
            <a:avLst/>
          </a:prstGeom>
          <a:noFill/>
        </p:spPr>
        <p:txBody>
          <a:bodyPr wrap="square">
            <a:spAutoFit/>
          </a:bodyPr>
          <a:lstStyle/>
          <a:p>
            <a:pPr algn="l"/>
            <a:r>
              <a:rPr sz="1250" b="0" i="0">
                <a:solidFill>
                  <a:srgbClr val="3A4A5C"/>
                </a:solidFill>
              </a:rPr>
              <a:t>🇯🇵 Japan</a:t>
            </a:r>
          </a:p>
        </p:txBody>
      </p:sp>
      <p:sp>
        <p:nvSpPr>
          <p:cNvPr id="14" name="Rectangle 13"/>
          <p:cNvSpPr/>
          <p:nvPr/>
        </p:nvSpPr>
        <p:spPr>
          <a:xfrm>
            <a:off x="3867912" y="1874519"/>
            <a:ext cx="1600200" cy="548640"/>
          </a:xfrm>
          <a:prstGeom prst="rect">
            <a:avLst/>
          </a:prstGeom>
          <a:solidFill>
            <a:srgbClr val="F0F2F7"/>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941064" y="1938527"/>
            <a:ext cx="1463040" cy="438912"/>
          </a:xfrm>
          <a:prstGeom prst="rect">
            <a:avLst/>
          </a:prstGeom>
          <a:noFill/>
        </p:spPr>
        <p:txBody>
          <a:bodyPr wrap="square">
            <a:spAutoFit/>
          </a:bodyPr>
          <a:lstStyle/>
          <a:p>
            <a:pPr algn="l"/>
            <a:r>
              <a:rPr sz="1250" b="0" i="0">
                <a:solidFill>
                  <a:srgbClr val="3A4A5C"/>
                </a:solidFill>
              </a:rPr>
              <a:t>🇮🇳 India</a:t>
            </a:r>
          </a:p>
        </p:txBody>
      </p:sp>
      <p:sp>
        <p:nvSpPr>
          <p:cNvPr id="16" name="Rectangle 15"/>
          <p:cNvSpPr/>
          <p:nvPr/>
        </p:nvSpPr>
        <p:spPr>
          <a:xfrm>
            <a:off x="5550408" y="1874519"/>
            <a:ext cx="1600200" cy="548640"/>
          </a:xfrm>
          <a:prstGeom prst="rect">
            <a:avLst/>
          </a:prstGeom>
          <a:solidFill>
            <a:srgbClr val="F0F2F7"/>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23560" y="1938527"/>
            <a:ext cx="1463040" cy="438912"/>
          </a:xfrm>
          <a:prstGeom prst="rect">
            <a:avLst/>
          </a:prstGeom>
          <a:noFill/>
        </p:spPr>
        <p:txBody>
          <a:bodyPr wrap="square">
            <a:spAutoFit/>
          </a:bodyPr>
          <a:lstStyle/>
          <a:p>
            <a:pPr algn="l"/>
            <a:r>
              <a:rPr sz="1250" b="0" i="0">
                <a:solidFill>
                  <a:srgbClr val="3A4A5C"/>
                </a:solidFill>
              </a:rPr>
              <a:t>🇬🇧 UK</a:t>
            </a:r>
          </a:p>
        </p:txBody>
      </p:sp>
      <p:sp>
        <p:nvSpPr>
          <p:cNvPr id="18" name="Rectangle 17"/>
          <p:cNvSpPr/>
          <p:nvPr/>
        </p:nvSpPr>
        <p:spPr>
          <a:xfrm>
            <a:off x="7232904" y="1874519"/>
            <a:ext cx="1600200" cy="548640"/>
          </a:xfrm>
          <a:prstGeom prst="rect">
            <a:avLst/>
          </a:prstGeom>
          <a:solidFill>
            <a:srgbClr val="F0F2F7"/>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06056" y="1938527"/>
            <a:ext cx="1463040" cy="438912"/>
          </a:xfrm>
          <a:prstGeom prst="rect">
            <a:avLst/>
          </a:prstGeom>
          <a:noFill/>
        </p:spPr>
        <p:txBody>
          <a:bodyPr wrap="square">
            <a:spAutoFit/>
          </a:bodyPr>
          <a:lstStyle/>
          <a:p>
            <a:pPr algn="l"/>
            <a:r>
              <a:rPr sz="1250" b="0" i="0">
                <a:solidFill>
                  <a:srgbClr val="3A4A5C"/>
                </a:solidFill>
              </a:rPr>
              <a:t>🇫🇷 France</a:t>
            </a:r>
          </a:p>
        </p:txBody>
      </p:sp>
      <p:sp>
        <p:nvSpPr>
          <p:cNvPr id="20" name="Rectangle 19"/>
          <p:cNvSpPr/>
          <p:nvPr/>
        </p:nvSpPr>
        <p:spPr>
          <a:xfrm>
            <a:off x="8915400" y="1874519"/>
            <a:ext cx="1600200" cy="548640"/>
          </a:xfrm>
          <a:prstGeom prst="rect">
            <a:avLst/>
          </a:prstGeom>
          <a:solidFill>
            <a:srgbClr val="F0F2F7"/>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88552" y="1938527"/>
            <a:ext cx="1463040" cy="438912"/>
          </a:xfrm>
          <a:prstGeom prst="rect">
            <a:avLst/>
          </a:prstGeom>
          <a:noFill/>
        </p:spPr>
        <p:txBody>
          <a:bodyPr wrap="square">
            <a:spAutoFit/>
          </a:bodyPr>
          <a:lstStyle/>
          <a:p>
            <a:pPr algn="l"/>
            <a:r>
              <a:rPr sz="1250" b="0" i="0">
                <a:solidFill>
                  <a:srgbClr val="3A4A5C"/>
                </a:solidFill>
              </a:rPr>
              <a:t>🇸🇬 Singapore</a:t>
            </a:r>
          </a:p>
        </p:txBody>
      </p:sp>
      <p:sp>
        <p:nvSpPr>
          <p:cNvPr id="22" name="Rectangle 21"/>
          <p:cNvSpPr/>
          <p:nvPr/>
        </p:nvSpPr>
        <p:spPr>
          <a:xfrm>
            <a:off x="10597896" y="1874519"/>
            <a:ext cx="1600200" cy="548640"/>
          </a:xfrm>
          <a:prstGeom prst="rect">
            <a:avLst/>
          </a:prstGeom>
          <a:solidFill>
            <a:srgbClr val="F0F2F7"/>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671048" y="1938527"/>
            <a:ext cx="1463040" cy="438912"/>
          </a:xfrm>
          <a:prstGeom prst="rect">
            <a:avLst/>
          </a:prstGeom>
          <a:noFill/>
        </p:spPr>
        <p:txBody>
          <a:bodyPr wrap="square">
            <a:spAutoFit/>
          </a:bodyPr>
          <a:lstStyle/>
          <a:p>
            <a:pPr algn="l"/>
            <a:r>
              <a:rPr sz="1250" b="0" i="0">
                <a:solidFill>
                  <a:srgbClr val="3A4A5C"/>
                </a:solidFill>
              </a:rPr>
              <a:t>🇩🇪 Germany</a:t>
            </a:r>
          </a:p>
        </p:txBody>
      </p:sp>
      <p:sp>
        <p:nvSpPr>
          <p:cNvPr id="24" name="Rectangle 23"/>
          <p:cNvSpPr/>
          <p:nvPr/>
        </p:nvSpPr>
        <p:spPr>
          <a:xfrm>
            <a:off x="502920" y="2532887"/>
            <a:ext cx="1600200" cy="548640"/>
          </a:xfrm>
          <a:prstGeom prst="rect">
            <a:avLst/>
          </a:prstGeom>
          <a:solidFill>
            <a:srgbClr val="F0F2F7"/>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6072" y="2596895"/>
            <a:ext cx="1463040" cy="438912"/>
          </a:xfrm>
          <a:prstGeom prst="rect">
            <a:avLst/>
          </a:prstGeom>
          <a:noFill/>
        </p:spPr>
        <p:txBody>
          <a:bodyPr wrap="square">
            <a:spAutoFit/>
          </a:bodyPr>
          <a:lstStyle/>
          <a:p>
            <a:pPr algn="l"/>
            <a:r>
              <a:rPr sz="1250" b="0" i="0">
                <a:solidFill>
                  <a:srgbClr val="3A4A5C"/>
                </a:solidFill>
              </a:rPr>
              <a:t>🇮🇩 Indonesia</a:t>
            </a:r>
          </a:p>
        </p:txBody>
      </p:sp>
      <p:sp>
        <p:nvSpPr>
          <p:cNvPr id="26" name="Rectangle 25"/>
          <p:cNvSpPr/>
          <p:nvPr/>
        </p:nvSpPr>
        <p:spPr>
          <a:xfrm>
            <a:off x="2185416" y="2532887"/>
            <a:ext cx="1600200" cy="548640"/>
          </a:xfrm>
          <a:prstGeom prst="rect">
            <a:avLst/>
          </a:prstGeom>
          <a:solidFill>
            <a:srgbClr val="F0F2F7"/>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58568" y="2596895"/>
            <a:ext cx="1463040" cy="438912"/>
          </a:xfrm>
          <a:prstGeom prst="rect">
            <a:avLst/>
          </a:prstGeom>
          <a:noFill/>
        </p:spPr>
        <p:txBody>
          <a:bodyPr wrap="square">
            <a:spAutoFit/>
          </a:bodyPr>
          <a:lstStyle/>
          <a:p>
            <a:pPr algn="l"/>
            <a:r>
              <a:rPr sz="1250" b="0" i="0">
                <a:solidFill>
                  <a:srgbClr val="3A4A5C"/>
                </a:solidFill>
              </a:rPr>
              <a:t>🇦🇺 Australia</a:t>
            </a:r>
          </a:p>
        </p:txBody>
      </p:sp>
      <p:sp>
        <p:nvSpPr>
          <p:cNvPr id="28" name="Rectangle 27"/>
          <p:cNvSpPr/>
          <p:nvPr/>
        </p:nvSpPr>
        <p:spPr>
          <a:xfrm>
            <a:off x="3867912" y="2532887"/>
            <a:ext cx="1600200" cy="548640"/>
          </a:xfrm>
          <a:prstGeom prst="rect">
            <a:avLst/>
          </a:prstGeom>
          <a:solidFill>
            <a:srgbClr val="F0F2F7"/>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41064" y="2596895"/>
            <a:ext cx="1463040" cy="438912"/>
          </a:xfrm>
          <a:prstGeom prst="rect">
            <a:avLst/>
          </a:prstGeom>
          <a:noFill/>
        </p:spPr>
        <p:txBody>
          <a:bodyPr wrap="square">
            <a:spAutoFit/>
          </a:bodyPr>
          <a:lstStyle/>
          <a:p>
            <a:pPr algn="l"/>
            <a:r>
              <a:rPr sz="1250" b="0" i="0">
                <a:solidFill>
                  <a:srgbClr val="3A4A5C"/>
                </a:solidFill>
              </a:rPr>
              <a:t>🇵🇭 Philippines</a:t>
            </a:r>
          </a:p>
        </p:txBody>
      </p:sp>
      <p:sp>
        <p:nvSpPr>
          <p:cNvPr id="30" name="Rectangle 29"/>
          <p:cNvSpPr/>
          <p:nvPr/>
        </p:nvSpPr>
        <p:spPr>
          <a:xfrm>
            <a:off x="5550408" y="2532887"/>
            <a:ext cx="1600200" cy="548640"/>
          </a:xfrm>
          <a:prstGeom prst="rect">
            <a:avLst/>
          </a:prstGeom>
          <a:solidFill>
            <a:srgbClr val="F0F2F7"/>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23560" y="2596895"/>
            <a:ext cx="1463040" cy="438912"/>
          </a:xfrm>
          <a:prstGeom prst="rect">
            <a:avLst/>
          </a:prstGeom>
          <a:noFill/>
        </p:spPr>
        <p:txBody>
          <a:bodyPr wrap="square">
            <a:spAutoFit/>
          </a:bodyPr>
          <a:lstStyle/>
          <a:p>
            <a:pPr algn="l"/>
            <a:r>
              <a:rPr sz="1250" b="0" i="0">
                <a:solidFill>
                  <a:srgbClr val="3A4A5C"/>
                </a:solidFill>
              </a:rPr>
              <a:t>🇨🇦 Canada</a:t>
            </a:r>
          </a:p>
        </p:txBody>
      </p:sp>
      <p:sp>
        <p:nvSpPr>
          <p:cNvPr id="32" name="Rectangle 31"/>
          <p:cNvSpPr/>
          <p:nvPr/>
        </p:nvSpPr>
        <p:spPr>
          <a:xfrm>
            <a:off x="7232904" y="2532887"/>
            <a:ext cx="1600200" cy="548640"/>
          </a:xfrm>
          <a:prstGeom prst="rect">
            <a:avLst/>
          </a:prstGeom>
          <a:solidFill>
            <a:srgbClr val="F0F2F7"/>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06056" y="2596895"/>
            <a:ext cx="1463040" cy="438912"/>
          </a:xfrm>
          <a:prstGeom prst="rect">
            <a:avLst/>
          </a:prstGeom>
          <a:noFill/>
        </p:spPr>
        <p:txBody>
          <a:bodyPr wrap="square">
            <a:spAutoFit/>
          </a:bodyPr>
          <a:lstStyle/>
          <a:p>
            <a:pPr algn="l"/>
            <a:r>
              <a:rPr sz="1250" b="0" i="0">
                <a:solidFill>
                  <a:srgbClr val="3A4A5C"/>
                </a:solidFill>
              </a:rPr>
              <a:t>🇻🇳 Vietnam</a:t>
            </a:r>
          </a:p>
        </p:txBody>
      </p:sp>
      <p:sp>
        <p:nvSpPr>
          <p:cNvPr id="34" name="Rectangle 33"/>
          <p:cNvSpPr/>
          <p:nvPr/>
        </p:nvSpPr>
        <p:spPr>
          <a:xfrm>
            <a:off x="8915400" y="2532887"/>
            <a:ext cx="1600200" cy="548640"/>
          </a:xfrm>
          <a:prstGeom prst="rect">
            <a:avLst/>
          </a:prstGeom>
          <a:solidFill>
            <a:srgbClr val="F0F2F7"/>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88552" y="2596895"/>
            <a:ext cx="1463040" cy="438912"/>
          </a:xfrm>
          <a:prstGeom prst="rect">
            <a:avLst/>
          </a:prstGeom>
          <a:noFill/>
        </p:spPr>
        <p:txBody>
          <a:bodyPr wrap="square">
            <a:spAutoFit/>
          </a:bodyPr>
          <a:lstStyle/>
          <a:p>
            <a:pPr algn="l"/>
            <a:r>
              <a:rPr sz="1250" b="0" i="0">
                <a:solidFill>
                  <a:srgbClr val="3A4A5C"/>
                </a:solidFill>
              </a:rPr>
              <a:t>🇹🇭 Thailand</a:t>
            </a:r>
          </a:p>
        </p:txBody>
      </p:sp>
      <p:sp>
        <p:nvSpPr>
          <p:cNvPr id="36" name="Rectangle 35"/>
          <p:cNvSpPr/>
          <p:nvPr/>
        </p:nvSpPr>
        <p:spPr>
          <a:xfrm>
            <a:off x="502920" y="3364992"/>
            <a:ext cx="36576" cy="3657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2648" y="3346704"/>
            <a:ext cx="5486400" cy="411480"/>
          </a:xfrm>
          <a:prstGeom prst="rect">
            <a:avLst/>
          </a:prstGeom>
          <a:noFill/>
        </p:spPr>
        <p:txBody>
          <a:bodyPr wrap="square">
            <a:spAutoFit/>
          </a:bodyPr>
          <a:lstStyle/>
          <a:p>
            <a:pPr algn="l"/>
            <a:r>
              <a:rPr sz="1200" b="1" i="0">
                <a:solidFill>
                  <a:srgbClr val="7C3AED"/>
                </a:solidFill>
              </a:rPr>
              <a:t>主なフォロワー年齢層</a:t>
            </a:r>
          </a:p>
        </p:txBody>
      </p:sp>
      <p:sp>
        <p:nvSpPr>
          <p:cNvPr id="38" name="TextBox 37"/>
          <p:cNvSpPr txBox="1"/>
          <p:nvPr/>
        </p:nvSpPr>
        <p:spPr>
          <a:xfrm>
            <a:off x="502920" y="3794760"/>
            <a:ext cx="1188720" cy="502920"/>
          </a:xfrm>
          <a:prstGeom prst="rect">
            <a:avLst/>
          </a:prstGeom>
          <a:noFill/>
        </p:spPr>
        <p:txBody>
          <a:bodyPr wrap="square">
            <a:spAutoFit/>
          </a:bodyPr>
          <a:lstStyle/>
          <a:p>
            <a:pPr algn="l"/>
            <a:r>
              <a:rPr sz="1300" b="0" i="0">
                <a:solidFill>
                  <a:srgbClr val="3A4A5C"/>
                </a:solidFill>
              </a:rPr>
              <a:t>25〜34歳</a:t>
            </a:r>
          </a:p>
        </p:txBody>
      </p:sp>
      <p:sp>
        <p:nvSpPr>
          <p:cNvPr id="39" name="Rectangle 38"/>
          <p:cNvSpPr/>
          <p:nvPr/>
        </p:nvSpPr>
        <p:spPr>
          <a:xfrm>
            <a:off x="1828800" y="3886200"/>
            <a:ext cx="6400800" cy="347472"/>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828800" y="3886200"/>
            <a:ext cx="2688336" cy="34747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26864" y="3794760"/>
            <a:ext cx="594360" cy="502920"/>
          </a:xfrm>
          <a:prstGeom prst="rect">
            <a:avLst/>
          </a:prstGeom>
          <a:noFill/>
        </p:spPr>
        <p:txBody>
          <a:bodyPr wrap="square">
            <a:spAutoFit/>
          </a:bodyPr>
          <a:lstStyle/>
          <a:p>
            <a:pPr algn="l"/>
            <a:r>
              <a:rPr sz="1300" b="1" i="0">
                <a:solidFill>
                  <a:srgbClr val="7C3AED"/>
                </a:solidFill>
              </a:rPr>
              <a:t>42%</a:t>
            </a:r>
          </a:p>
        </p:txBody>
      </p:sp>
      <p:sp>
        <p:nvSpPr>
          <p:cNvPr id="42" name="TextBox 41"/>
          <p:cNvSpPr txBox="1"/>
          <p:nvPr/>
        </p:nvSpPr>
        <p:spPr>
          <a:xfrm>
            <a:off x="502920" y="4480560"/>
            <a:ext cx="1188720" cy="502920"/>
          </a:xfrm>
          <a:prstGeom prst="rect">
            <a:avLst/>
          </a:prstGeom>
          <a:noFill/>
        </p:spPr>
        <p:txBody>
          <a:bodyPr wrap="square">
            <a:spAutoFit/>
          </a:bodyPr>
          <a:lstStyle/>
          <a:p>
            <a:pPr algn="l"/>
            <a:r>
              <a:rPr sz="1300" b="0" i="0">
                <a:solidFill>
                  <a:srgbClr val="3A4A5C"/>
                </a:solidFill>
              </a:rPr>
              <a:t>35〜44歳</a:t>
            </a:r>
          </a:p>
        </p:txBody>
      </p:sp>
      <p:sp>
        <p:nvSpPr>
          <p:cNvPr id="43" name="Rectangle 42"/>
          <p:cNvSpPr/>
          <p:nvPr/>
        </p:nvSpPr>
        <p:spPr>
          <a:xfrm>
            <a:off x="1828800" y="4572000"/>
            <a:ext cx="6400800" cy="347472"/>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828800" y="4572000"/>
            <a:ext cx="1920240" cy="347472"/>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858768" y="4480560"/>
            <a:ext cx="594360" cy="502920"/>
          </a:xfrm>
          <a:prstGeom prst="rect">
            <a:avLst/>
          </a:prstGeom>
          <a:noFill/>
        </p:spPr>
        <p:txBody>
          <a:bodyPr wrap="square">
            <a:spAutoFit/>
          </a:bodyPr>
          <a:lstStyle/>
          <a:p>
            <a:pPr algn="l"/>
            <a:r>
              <a:rPr sz="1300" b="1" i="0">
                <a:solidFill>
                  <a:srgbClr val="1A6FC4"/>
                </a:solidFill>
              </a:rPr>
              <a:t>30%</a:t>
            </a:r>
          </a:p>
        </p:txBody>
      </p:sp>
      <p:sp>
        <p:nvSpPr>
          <p:cNvPr id="46" name="TextBox 45"/>
          <p:cNvSpPr txBox="1"/>
          <p:nvPr/>
        </p:nvSpPr>
        <p:spPr>
          <a:xfrm>
            <a:off x="502920" y="5166360"/>
            <a:ext cx="1188720" cy="502920"/>
          </a:xfrm>
          <a:prstGeom prst="rect">
            <a:avLst/>
          </a:prstGeom>
          <a:noFill/>
        </p:spPr>
        <p:txBody>
          <a:bodyPr wrap="square">
            <a:spAutoFit/>
          </a:bodyPr>
          <a:lstStyle/>
          <a:p>
            <a:pPr algn="l"/>
            <a:r>
              <a:rPr sz="1300" b="0" i="0">
                <a:solidFill>
                  <a:srgbClr val="3A4A5C"/>
                </a:solidFill>
              </a:rPr>
              <a:t>18〜24歳</a:t>
            </a:r>
          </a:p>
        </p:txBody>
      </p:sp>
      <p:sp>
        <p:nvSpPr>
          <p:cNvPr id="47" name="Rectangle 46"/>
          <p:cNvSpPr/>
          <p:nvPr/>
        </p:nvSpPr>
        <p:spPr>
          <a:xfrm>
            <a:off x="1828800" y="5257800"/>
            <a:ext cx="6400800" cy="347472"/>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828800" y="5257800"/>
            <a:ext cx="1280160" cy="347472"/>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18688" y="5166360"/>
            <a:ext cx="594360" cy="502920"/>
          </a:xfrm>
          <a:prstGeom prst="rect">
            <a:avLst/>
          </a:prstGeom>
          <a:noFill/>
        </p:spPr>
        <p:txBody>
          <a:bodyPr wrap="square">
            <a:spAutoFit/>
          </a:bodyPr>
          <a:lstStyle/>
          <a:p>
            <a:pPr algn="l"/>
            <a:r>
              <a:rPr sz="1300" b="1" i="0">
                <a:solidFill>
                  <a:srgbClr val="E0458A"/>
                </a:solidFill>
              </a:rPr>
              <a:t>20%</a:t>
            </a:r>
          </a:p>
        </p:txBody>
      </p:sp>
      <p:sp>
        <p:nvSpPr>
          <p:cNvPr id="50" name="Rectangle 49"/>
          <p:cNvSpPr/>
          <p:nvPr/>
        </p:nvSpPr>
        <p:spPr>
          <a:xfrm>
            <a:off x="502920" y="5742432"/>
            <a:ext cx="36576" cy="365760"/>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12648" y="5724144"/>
            <a:ext cx="5486400" cy="411480"/>
          </a:xfrm>
          <a:prstGeom prst="rect">
            <a:avLst/>
          </a:prstGeom>
          <a:noFill/>
        </p:spPr>
        <p:txBody>
          <a:bodyPr wrap="square">
            <a:spAutoFit/>
          </a:bodyPr>
          <a:lstStyle/>
          <a:p>
            <a:pPr algn="l"/>
            <a:r>
              <a:rPr sz="1200" b="1" i="0">
                <a:solidFill>
                  <a:srgbClr val="E0458A"/>
                </a:solidFill>
              </a:rPr>
              <a:t>発信ジャンル</a:t>
            </a:r>
          </a:p>
        </p:txBody>
      </p:sp>
      <p:sp>
        <p:nvSpPr>
          <p:cNvPr id="52" name="Rectangle 51"/>
          <p:cNvSpPr/>
          <p:nvPr/>
        </p:nvSpPr>
        <p:spPr>
          <a:xfrm>
            <a:off x="502920" y="6144768"/>
            <a:ext cx="1581912" cy="530352"/>
          </a:xfrm>
          <a:prstGeom prst="rect">
            <a:avLst/>
          </a:prstGeom>
          <a:solidFill>
            <a:srgbClr val="FFFFFF"/>
          </a:solidFill>
          <a:ln w="12700">
            <a:solidFill>
              <a:srgbClr val="E04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57784" y="6199632"/>
            <a:ext cx="1481328" cy="438912"/>
          </a:xfrm>
          <a:prstGeom prst="rect">
            <a:avLst/>
          </a:prstGeom>
          <a:noFill/>
        </p:spPr>
        <p:txBody>
          <a:bodyPr wrap="square">
            <a:spAutoFit/>
          </a:bodyPr>
          <a:lstStyle/>
          <a:p>
            <a:pPr algn="ctr"/>
            <a:r>
              <a:rPr sz="1050" b="0" i="0">
                <a:solidFill>
                  <a:srgbClr val="E0458A"/>
                </a:solidFill>
              </a:rPr>
              <a:t>Japan Travel</a:t>
            </a:r>
          </a:p>
        </p:txBody>
      </p:sp>
      <p:sp>
        <p:nvSpPr>
          <p:cNvPr id="54" name="Rectangle 53"/>
          <p:cNvSpPr/>
          <p:nvPr/>
        </p:nvSpPr>
        <p:spPr>
          <a:xfrm>
            <a:off x="2176272" y="6144768"/>
            <a:ext cx="1581912" cy="530352"/>
          </a:xfrm>
          <a:prstGeom prst="rect">
            <a:avLst/>
          </a:prstGeom>
          <a:solidFill>
            <a:srgbClr val="FFFFFF"/>
          </a:solidFill>
          <a:ln w="12700">
            <a:solidFill>
              <a:srgbClr val="E04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231136" y="6199632"/>
            <a:ext cx="1481328" cy="438912"/>
          </a:xfrm>
          <a:prstGeom prst="rect">
            <a:avLst/>
          </a:prstGeom>
          <a:noFill/>
        </p:spPr>
        <p:txBody>
          <a:bodyPr wrap="square">
            <a:spAutoFit/>
          </a:bodyPr>
          <a:lstStyle/>
          <a:p>
            <a:pPr algn="ctr"/>
            <a:r>
              <a:rPr sz="1050" b="0" i="0">
                <a:solidFill>
                  <a:srgbClr val="E0458A"/>
                </a:solidFill>
              </a:rPr>
              <a:t>Osaka/Kansai Food</a:t>
            </a:r>
          </a:p>
        </p:txBody>
      </p:sp>
      <p:sp>
        <p:nvSpPr>
          <p:cNvPr id="56" name="Rectangle 55"/>
          <p:cNvSpPr/>
          <p:nvPr/>
        </p:nvSpPr>
        <p:spPr>
          <a:xfrm>
            <a:off x="3849624" y="6144768"/>
            <a:ext cx="1581912" cy="530352"/>
          </a:xfrm>
          <a:prstGeom prst="rect">
            <a:avLst/>
          </a:prstGeom>
          <a:solidFill>
            <a:srgbClr val="FFFFFF"/>
          </a:solidFill>
          <a:ln w="12700">
            <a:solidFill>
              <a:srgbClr val="E04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904488" y="6199632"/>
            <a:ext cx="1481328" cy="438912"/>
          </a:xfrm>
          <a:prstGeom prst="rect">
            <a:avLst/>
          </a:prstGeom>
          <a:noFill/>
        </p:spPr>
        <p:txBody>
          <a:bodyPr wrap="square">
            <a:spAutoFit/>
          </a:bodyPr>
          <a:lstStyle/>
          <a:p>
            <a:pPr algn="ctr"/>
            <a:r>
              <a:rPr sz="1050" b="0" i="0">
                <a:solidFill>
                  <a:srgbClr val="E0458A"/>
                </a:solidFill>
              </a:rPr>
              <a:t>Japanese Culture</a:t>
            </a:r>
          </a:p>
        </p:txBody>
      </p:sp>
      <p:sp>
        <p:nvSpPr>
          <p:cNvPr id="58" name="Rectangle 57"/>
          <p:cNvSpPr/>
          <p:nvPr/>
        </p:nvSpPr>
        <p:spPr>
          <a:xfrm>
            <a:off x="5522976" y="6144768"/>
            <a:ext cx="1581912" cy="530352"/>
          </a:xfrm>
          <a:prstGeom prst="rect">
            <a:avLst/>
          </a:prstGeom>
          <a:solidFill>
            <a:srgbClr val="FFFFFF"/>
          </a:solidFill>
          <a:ln w="12700">
            <a:solidFill>
              <a:srgbClr val="E04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577840" y="6199632"/>
            <a:ext cx="1481328" cy="438912"/>
          </a:xfrm>
          <a:prstGeom prst="rect">
            <a:avLst/>
          </a:prstGeom>
          <a:noFill/>
        </p:spPr>
        <p:txBody>
          <a:bodyPr wrap="square">
            <a:spAutoFit/>
          </a:bodyPr>
          <a:lstStyle/>
          <a:p>
            <a:pPr algn="ctr"/>
            <a:r>
              <a:rPr sz="1050" b="0" i="0">
                <a:solidFill>
                  <a:srgbClr val="E0458A"/>
                </a:solidFill>
              </a:rPr>
              <a:t>Local Experience</a:t>
            </a:r>
          </a:p>
        </p:txBody>
      </p:sp>
      <p:sp>
        <p:nvSpPr>
          <p:cNvPr id="60" name="Rectangle 59"/>
          <p:cNvSpPr/>
          <p:nvPr/>
        </p:nvSpPr>
        <p:spPr>
          <a:xfrm>
            <a:off x="7196328" y="6144768"/>
            <a:ext cx="1581912" cy="530352"/>
          </a:xfrm>
          <a:prstGeom prst="rect">
            <a:avLst/>
          </a:prstGeom>
          <a:solidFill>
            <a:srgbClr val="FFFFFF"/>
          </a:solidFill>
          <a:ln w="12700">
            <a:solidFill>
              <a:srgbClr val="E04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251192" y="6199632"/>
            <a:ext cx="1481328" cy="438912"/>
          </a:xfrm>
          <a:prstGeom prst="rect">
            <a:avLst/>
          </a:prstGeom>
          <a:noFill/>
        </p:spPr>
        <p:txBody>
          <a:bodyPr wrap="square">
            <a:spAutoFit/>
          </a:bodyPr>
          <a:lstStyle/>
          <a:p>
            <a:pPr algn="ctr"/>
            <a:r>
              <a:rPr sz="1050" b="0" i="0">
                <a:solidFill>
                  <a:srgbClr val="E0458A"/>
                </a:solidFill>
              </a:rPr>
              <a:t>Language Learning</a:t>
            </a:r>
          </a:p>
        </p:txBody>
      </p:sp>
      <p:sp>
        <p:nvSpPr>
          <p:cNvPr id="62" name="Rectangle 61"/>
          <p:cNvSpPr/>
          <p:nvPr/>
        </p:nvSpPr>
        <p:spPr>
          <a:xfrm>
            <a:off x="8869680" y="6144768"/>
            <a:ext cx="1581912" cy="530352"/>
          </a:xfrm>
          <a:prstGeom prst="rect">
            <a:avLst/>
          </a:prstGeom>
          <a:solidFill>
            <a:srgbClr val="FFFFFF"/>
          </a:solidFill>
          <a:ln w="12700">
            <a:solidFill>
              <a:srgbClr val="E04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924544" y="6199632"/>
            <a:ext cx="1481328" cy="438912"/>
          </a:xfrm>
          <a:prstGeom prst="rect">
            <a:avLst/>
          </a:prstGeom>
          <a:noFill/>
        </p:spPr>
        <p:txBody>
          <a:bodyPr wrap="square">
            <a:spAutoFit/>
          </a:bodyPr>
          <a:lstStyle/>
          <a:p>
            <a:pPr algn="ctr"/>
            <a:r>
              <a:rPr sz="1050" b="0" i="0">
                <a:solidFill>
                  <a:srgbClr val="E0458A"/>
                </a:solidFill>
              </a:rPr>
              <a:t>Lifestyle</a:t>
            </a:r>
          </a:p>
        </p:txBody>
      </p:sp>
      <p:sp>
        <p:nvSpPr>
          <p:cNvPr id="64" name="Rectangle 63"/>
          <p:cNvSpPr/>
          <p:nvPr/>
        </p:nvSpPr>
        <p:spPr>
          <a:xfrm>
            <a:off x="10543032" y="6144768"/>
            <a:ext cx="1581912" cy="530352"/>
          </a:xfrm>
          <a:prstGeom prst="rect">
            <a:avLst/>
          </a:prstGeom>
          <a:solidFill>
            <a:srgbClr val="FFFFFF"/>
          </a:solidFill>
          <a:ln w="12700">
            <a:solidFill>
              <a:srgbClr val="E04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97896" y="6199632"/>
            <a:ext cx="1481328" cy="438912"/>
          </a:xfrm>
          <a:prstGeom prst="rect">
            <a:avLst/>
          </a:prstGeom>
          <a:noFill/>
        </p:spPr>
        <p:txBody>
          <a:bodyPr wrap="square">
            <a:spAutoFit/>
          </a:bodyPr>
          <a:lstStyle/>
          <a:p>
            <a:pPr algn="ctr"/>
            <a:r>
              <a:rPr sz="1050" b="0" i="0">
                <a:solidFill>
                  <a:srgbClr val="E0458A"/>
                </a:solidFill>
              </a:rPr>
              <a:t>Hotel / Tourism</a:t>
            </a:r>
          </a:p>
        </p:txBody>
      </p:sp>
      <p:sp>
        <p:nvSpPr>
          <p:cNvPr id="66" name="Rectangle 65"/>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881360" cy="777240"/>
          </a:xfrm>
          <a:prstGeom prst="rect">
            <a:avLst/>
          </a:prstGeom>
          <a:noFill/>
        </p:spPr>
        <p:txBody>
          <a:bodyPr wrap="square">
            <a:spAutoFit/>
          </a:bodyPr>
          <a:lstStyle/>
          <a:p>
            <a:pPr algn="l"/>
            <a:r>
              <a:rPr sz="2800" b="1" i="0">
                <a:solidFill>
                  <a:srgbClr val="0D1F3C"/>
                </a:solidFill>
              </a:rPr>
              <a:t>参加者満足度の高いコミュニティ</a:t>
            </a:r>
          </a:p>
        </p:txBody>
      </p:sp>
      <p:sp>
        <p:nvSpPr>
          <p:cNvPr id="5" name="TextBox 4"/>
          <p:cNvSpPr txBox="1"/>
          <p:nvPr/>
        </p:nvSpPr>
        <p:spPr>
          <a:xfrm>
            <a:off x="640080" y="868680"/>
            <a:ext cx="10881360" cy="411480"/>
          </a:xfrm>
          <a:prstGeom prst="rect">
            <a:avLst/>
          </a:prstGeom>
          <a:noFill/>
        </p:spPr>
        <p:txBody>
          <a:bodyPr wrap="square">
            <a:spAutoFit/>
          </a:bodyPr>
          <a:lstStyle/>
          <a:p>
            <a:pPr algn="l"/>
            <a:r>
              <a:rPr sz="1300" b="0" i="0">
                <a:solidFill>
                  <a:srgbClr val="8A96AA"/>
                </a:solidFill>
              </a:rPr>
              <a:t>第2回アンケート結果（回答数：16件）</a:t>
            </a:r>
          </a:p>
        </p:txBody>
      </p:sp>
      <p:sp>
        <p:nvSpPr>
          <p:cNvPr id="6" name="Rectangle 5"/>
          <p:cNvSpPr/>
          <p:nvPr/>
        </p:nvSpPr>
        <p:spPr>
          <a:xfrm>
            <a:off x="640080" y="1234440"/>
            <a:ext cx="10908792" cy="190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63040"/>
            <a:ext cx="3657600" cy="2286000"/>
          </a:xfrm>
          <a:prstGeom prst="rect">
            <a:avLst/>
          </a:prstGeom>
          <a:solidFill>
            <a:srgbClr val="E8F1FB"/>
          </a:solidFill>
          <a:ln w="19050">
            <a:solidFill>
              <a:srgbClr val="1A6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63040"/>
            <a:ext cx="3657600" cy="384048"/>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481328"/>
            <a:ext cx="3474720" cy="347472"/>
          </a:xfrm>
          <a:prstGeom prst="rect">
            <a:avLst/>
          </a:prstGeom>
          <a:noFill/>
        </p:spPr>
        <p:txBody>
          <a:bodyPr wrap="square">
            <a:spAutoFit/>
          </a:bodyPr>
          <a:lstStyle/>
          <a:p>
            <a:pPr algn="l"/>
            <a:r>
              <a:rPr sz="1200" b="1" i="0">
                <a:solidFill>
                  <a:srgbClr val="FFFFFF"/>
                </a:solidFill>
              </a:rPr>
              <a:t>イベント全体満足度</a:t>
            </a:r>
          </a:p>
        </p:txBody>
      </p:sp>
      <p:sp>
        <p:nvSpPr>
          <p:cNvPr id="11" name="TextBox 10"/>
          <p:cNvSpPr txBox="1"/>
          <p:nvPr/>
        </p:nvSpPr>
        <p:spPr>
          <a:xfrm>
            <a:off x="502920" y="1920240"/>
            <a:ext cx="3657600" cy="1097280"/>
          </a:xfrm>
          <a:prstGeom prst="rect">
            <a:avLst/>
          </a:prstGeom>
          <a:noFill/>
        </p:spPr>
        <p:txBody>
          <a:bodyPr wrap="square">
            <a:spAutoFit/>
          </a:bodyPr>
          <a:lstStyle/>
          <a:p>
            <a:pPr algn="ctr"/>
            <a:r>
              <a:rPr sz="5800" b="1" i="0">
                <a:solidFill>
                  <a:srgbClr val="1A6FC4"/>
                </a:solidFill>
              </a:rPr>
              <a:t>4.88</a:t>
            </a:r>
          </a:p>
        </p:txBody>
      </p:sp>
      <p:sp>
        <p:nvSpPr>
          <p:cNvPr id="12" name="TextBox 11"/>
          <p:cNvSpPr txBox="1"/>
          <p:nvPr/>
        </p:nvSpPr>
        <p:spPr>
          <a:xfrm>
            <a:off x="502920" y="2834640"/>
            <a:ext cx="3657600" cy="457200"/>
          </a:xfrm>
          <a:prstGeom prst="rect">
            <a:avLst/>
          </a:prstGeom>
          <a:noFill/>
        </p:spPr>
        <p:txBody>
          <a:bodyPr wrap="square">
            <a:spAutoFit/>
          </a:bodyPr>
          <a:lstStyle/>
          <a:p>
            <a:pPr algn="ctr"/>
            <a:r>
              <a:rPr sz="1800" b="0" i="0">
                <a:solidFill>
                  <a:srgbClr val="8A96AA"/>
                </a:solidFill>
              </a:rPr>
              <a:t>/ 5</a:t>
            </a:r>
          </a:p>
        </p:txBody>
      </p:sp>
      <p:sp>
        <p:nvSpPr>
          <p:cNvPr id="13" name="Rectangle 12"/>
          <p:cNvSpPr/>
          <p:nvPr/>
        </p:nvSpPr>
        <p:spPr>
          <a:xfrm>
            <a:off x="4389120" y="1463040"/>
            <a:ext cx="3657600" cy="2286000"/>
          </a:xfrm>
          <a:prstGeom prst="rect">
            <a:avLst/>
          </a:prstGeom>
          <a:solidFill>
            <a:srgbClr val="F0EB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463040"/>
            <a:ext cx="3657600" cy="3840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1481328"/>
            <a:ext cx="3474720" cy="347472"/>
          </a:xfrm>
          <a:prstGeom prst="rect">
            <a:avLst/>
          </a:prstGeom>
          <a:noFill/>
        </p:spPr>
        <p:txBody>
          <a:bodyPr wrap="square">
            <a:spAutoFit/>
          </a:bodyPr>
          <a:lstStyle/>
          <a:p>
            <a:pPr algn="l"/>
            <a:r>
              <a:rPr sz="1200" b="1" i="0">
                <a:solidFill>
                  <a:srgbClr val="FFFFFF"/>
                </a:solidFill>
              </a:rPr>
              <a:t>内容の有益性</a:t>
            </a:r>
          </a:p>
        </p:txBody>
      </p:sp>
      <p:sp>
        <p:nvSpPr>
          <p:cNvPr id="16" name="TextBox 15"/>
          <p:cNvSpPr txBox="1"/>
          <p:nvPr/>
        </p:nvSpPr>
        <p:spPr>
          <a:xfrm>
            <a:off x="4389120" y="1920240"/>
            <a:ext cx="3657600" cy="1097280"/>
          </a:xfrm>
          <a:prstGeom prst="rect">
            <a:avLst/>
          </a:prstGeom>
          <a:noFill/>
        </p:spPr>
        <p:txBody>
          <a:bodyPr wrap="square">
            <a:spAutoFit/>
          </a:bodyPr>
          <a:lstStyle/>
          <a:p>
            <a:pPr algn="ctr"/>
            <a:r>
              <a:rPr sz="5800" b="1" i="0">
                <a:solidFill>
                  <a:srgbClr val="7C3AED"/>
                </a:solidFill>
              </a:rPr>
              <a:t>4.75</a:t>
            </a:r>
          </a:p>
        </p:txBody>
      </p:sp>
      <p:sp>
        <p:nvSpPr>
          <p:cNvPr id="17" name="TextBox 16"/>
          <p:cNvSpPr txBox="1"/>
          <p:nvPr/>
        </p:nvSpPr>
        <p:spPr>
          <a:xfrm>
            <a:off x="4389120" y="2834640"/>
            <a:ext cx="3657600" cy="457200"/>
          </a:xfrm>
          <a:prstGeom prst="rect">
            <a:avLst/>
          </a:prstGeom>
          <a:noFill/>
        </p:spPr>
        <p:txBody>
          <a:bodyPr wrap="square">
            <a:spAutoFit/>
          </a:bodyPr>
          <a:lstStyle/>
          <a:p>
            <a:pPr algn="ctr"/>
            <a:r>
              <a:rPr sz="1800" b="0" i="0">
                <a:solidFill>
                  <a:srgbClr val="8A96AA"/>
                </a:solidFill>
              </a:rPr>
              <a:t>/ 5</a:t>
            </a:r>
          </a:p>
        </p:txBody>
      </p:sp>
      <p:sp>
        <p:nvSpPr>
          <p:cNvPr id="18" name="Rectangle 17"/>
          <p:cNvSpPr/>
          <p:nvPr/>
        </p:nvSpPr>
        <p:spPr>
          <a:xfrm>
            <a:off x="8275320" y="1463040"/>
            <a:ext cx="3657600" cy="2286000"/>
          </a:xfrm>
          <a:prstGeom prst="rect">
            <a:avLst/>
          </a:prstGeom>
          <a:solidFill>
            <a:srgbClr val="FFF0F6"/>
          </a:solidFill>
          <a:ln w="19050">
            <a:solidFill>
              <a:srgbClr val="E04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75320" y="1463040"/>
            <a:ext cx="3657600" cy="384048"/>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60" y="1481328"/>
            <a:ext cx="3474720" cy="347472"/>
          </a:xfrm>
          <a:prstGeom prst="rect">
            <a:avLst/>
          </a:prstGeom>
          <a:noFill/>
        </p:spPr>
        <p:txBody>
          <a:bodyPr wrap="square">
            <a:spAutoFit/>
          </a:bodyPr>
          <a:lstStyle/>
          <a:p>
            <a:pPr algn="l"/>
            <a:r>
              <a:rPr sz="1200" b="1" i="0">
                <a:solidFill>
                  <a:srgbClr val="FFFFFF"/>
                </a:solidFill>
              </a:rPr>
              <a:t>今後も参加したい</a:t>
            </a:r>
          </a:p>
        </p:txBody>
      </p:sp>
      <p:sp>
        <p:nvSpPr>
          <p:cNvPr id="21" name="TextBox 20"/>
          <p:cNvSpPr txBox="1"/>
          <p:nvPr/>
        </p:nvSpPr>
        <p:spPr>
          <a:xfrm>
            <a:off x="8275320" y="1920240"/>
            <a:ext cx="3657600" cy="1097280"/>
          </a:xfrm>
          <a:prstGeom prst="rect">
            <a:avLst/>
          </a:prstGeom>
          <a:noFill/>
        </p:spPr>
        <p:txBody>
          <a:bodyPr wrap="square">
            <a:spAutoFit/>
          </a:bodyPr>
          <a:lstStyle/>
          <a:p>
            <a:pPr algn="ctr"/>
            <a:r>
              <a:rPr sz="5800" b="1" i="0">
                <a:solidFill>
                  <a:srgbClr val="E0458A"/>
                </a:solidFill>
              </a:rPr>
              <a:t>5.0</a:t>
            </a:r>
          </a:p>
        </p:txBody>
      </p:sp>
      <p:sp>
        <p:nvSpPr>
          <p:cNvPr id="22" name="TextBox 21"/>
          <p:cNvSpPr txBox="1"/>
          <p:nvPr/>
        </p:nvSpPr>
        <p:spPr>
          <a:xfrm>
            <a:off x="8275320" y="2834640"/>
            <a:ext cx="3657600" cy="457200"/>
          </a:xfrm>
          <a:prstGeom prst="rect">
            <a:avLst/>
          </a:prstGeom>
          <a:noFill/>
        </p:spPr>
        <p:txBody>
          <a:bodyPr wrap="square">
            <a:spAutoFit/>
          </a:bodyPr>
          <a:lstStyle/>
          <a:p>
            <a:pPr algn="ctr"/>
            <a:r>
              <a:rPr sz="1800" b="0" i="0">
                <a:solidFill>
                  <a:srgbClr val="8A96AA"/>
                </a:solidFill>
              </a:rPr>
              <a:t>/ 5</a:t>
            </a:r>
          </a:p>
        </p:txBody>
      </p:sp>
      <p:sp>
        <p:nvSpPr>
          <p:cNvPr id="23" name="TextBox 22"/>
          <p:cNvSpPr txBox="1"/>
          <p:nvPr/>
        </p:nvSpPr>
        <p:spPr>
          <a:xfrm>
            <a:off x="502920" y="3931920"/>
            <a:ext cx="3657600" cy="457200"/>
          </a:xfrm>
          <a:prstGeom prst="rect">
            <a:avLst/>
          </a:prstGeom>
          <a:noFill/>
        </p:spPr>
        <p:txBody>
          <a:bodyPr wrap="square">
            <a:spAutoFit/>
          </a:bodyPr>
          <a:lstStyle/>
          <a:p>
            <a:pPr algn="ctr"/>
            <a:r>
              <a:rPr sz="1200" b="0" i="0">
                <a:solidFill>
                  <a:srgbClr val="3A4A5C"/>
                </a:solidFill>
              </a:rPr>
              <a:t>スペース満足度  4.50/5</a:t>
            </a:r>
          </a:p>
        </p:txBody>
      </p:sp>
      <p:sp>
        <p:nvSpPr>
          <p:cNvPr id="24" name="TextBox 23"/>
          <p:cNvSpPr txBox="1"/>
          <p:nvPr/>
        </p:nvSpPr>
        <p:spPr>
          <a:xfrm>
            <a:off x="4389120" y="3931920"/>
            <a:ext cx="3657600" cy="457200"/>
          </a:xfrm>
          <a:prstGeom prst="rect">
            <a:avLst/>
          </a:prstGeom>
          <a:noFill/>
        </p:spPr>
        <p:txBody>
          <a:bodyPr wrap="square">
            <a:spAutoFit/>
          </a:bodyPr>
          <a:lstStyle/>
          <a:p>
            <a:pPr algn="ctr"/>
            <a:r>
              <a:rPr sz="1200" b="0" i="0">
                <a:solidFill>
                  <a:srgbClr val="3A4A5C"/>
                </a:solidFill>
              </a:rPr>
              <a:t>参加費の妥当性  4.38/5</a:t>
            </a:r>
          </a:p>
        </p:txBody>
      </p:sp>
      <p:sp>
        <p:nvSpPr>
          <p:cNvPr id="25" name="TextBox 24"/>
          <p:cNvSpPr txBox="1"/>
          <p:nvPr/>
        </p:nvSpPr>
        <p:spPr>
          <a:xfrm>
            <a:off x="8275320" y="3931920"/>
            <a:ext cx="3657600" cy="457200"/>
          </a:xfrm>
          <a:prstGeom prst="rect">
            <a:avLst/>
          </a:prstGeom>
          <a:noFill/>
        </p:spPr>
        <p:txBody>
          <a:bodyPr wrap="square">
            <a:spAutoFit/>
          </a:bodyPr>
          <a:lstStyle/>
          <a:p>
            <a:pPr algn="ctr"/>
            <a:r>
              <a:rPr sz="1200" b="0" i="0">
                <a:solidFill>
                  <a:srgbClr val="3A4A5C"/>
                </a:solidFill>
              </a:rPr>
              <a:t>準備物の充実度  4.31/5</a:t>
            </a:r>
          </a:p>
        </p:txBody>
      </p:sp>
      <p:sp>
        <p:nvSpPr>
          <p:cNvPr id="26" name="Rectangle 25"/>
          <p:cNvSpPr/>
          <p:nvPr/>
        </p:nvSpPr>
        <p:spPr>
          <a:xfrm>
            <a:off x="502920" y="4434840"/>
            <a:ext cx="36576" cy="36576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 y="4416552"/>
            <a:ext cx="5486400" cy="411480"/>
          </a:xfrm>
          <a:prstGeom prst="rect">
            <a:avLst/>
          </a:prstGeom>
          <a:noFill/>
        </p:spPr>
        <p:txBody>
          <a:bodyPr wrap="square">
            <a:spAutoFit/>
          </a:bodyPr>
          <a:lstStyle/>
          <a:p>
            <a:pPr algn="l"/>
            <a:r>
              <a:rPr sz="1200" b="1" i="0">
                <a:solidFill>
                  <a:srgbClr val="1A6FC4"/>
                </a:solidFill>
              </a:rPr>
              <a:t>参加者の声</a:t>
            </a:r>
          </a:p>
        </p:txBody>
      </p:sp>
      <p:sp>
        <p:nvSpPr>
          <p:cNvPr id="28" name="Rectangle 27"/>
          <p:cNvSpPr/>
          <p:nvPr/>
        </p:nvSpPr>
        <p:spPr>
          <a:xfrm>
            <a:off x="502920" y="4919472"/>
            <a:ext cx="36576" cy="50292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4846320"/>
            <a:ext cx="5394960" cy="658368"/>
          </a:xfrm>
          <a:prstGeom prst="rect">
            <a:avLst/>
          </a:prstGeom>
          <a:noFill/>
        </p:spPr>
        <p:txBody>
          <a:bodyPr wrap="square">
            <a:spAutoFit/>
          </a:bodyPr>
          <a:lstStyle/>
          <a:p>
            <a:pPr algn="l"/>
            <a:r>
              <a:rPr sz="1250" b="0" i="1">
                <a:solidFill>
                  <a:srgbClr val="3A4A5C"/>
                </a:solidFill>
              </a:rPr>
              <a:t>"Great atmosphere and great people."</a:t>
            </a:r>
          </a:p>
        </p:txBody>
      </p:sp>
      <p:sp>
        <p:nvSpPr>
          <p:cNvPr id="30" name="Rectangle 29"/>
          <p:cNvSpPr/>
          <p:nvPr/>
        </p:nvSpPr>
        <p:spPr>
          <a:xfrm>
            <a:off x="6263640" y="4919472"/>
            <a:ext cx="36576" cy="50292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8232" y="4846320"/>
            <a:ext cx="5394960" cy="658368"/>
          </a:xfrm>
          <a:prstGeom prst="rect">
            <a:avLst/>
          </a:prstGeom>
          <a:noFill/>
        </p:spPr>
        <p:txBody>
          <a:bodyPr wrap="square">
            <a:spAutoFit/>
          </a:bodyPr>
          <a:lstStyle/>
          <a:p>
            <a:pPr algn="l"/>
            <a:r>
              <a:rPr sz="1250" b="0" i="1">
                <a:solidFill>
                  <a:srgbClr val="3A4A5C"/>
                </a:solidFill>
              </a:rPr>
              <a:t>"Everyone welcoming and supporting each other."</a:t>
            </a:r>
          </a:p>
        </p:txBody>
      </p:sp>
      <p:sp>
        <p:nvSpPr>
          <p:cNvPr id="32" name="Rectangle 31"/>
          <p:cNvSpPr/>
          <p:nvPr/>
        </p:nvSpPr>
        <p:spPr>
          <a:xfrm>
            <a:off x="502920" y="5742432"/>
            <a:ext cx="36576" cy="50292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512" y="5669280"/>
            <a:ext cx="5394960" cy="658368"/>
          </a:xfrm>
          <a:prstGeom prst="rect">
            <a:avLst/>
          </a:prstGeom>
          <a:noFill/>
        </p:spPr>
        <p:txBody>
          <a:bodyPr wrap="square">
            <a:spAutoFit/>
          </a:bodyPr>
          <a:lstStyle/>
          <a:p>
            <a:pPr algn="l"/>
            <a:r>
              <a:rPr sz="1250" b="0" i="1">
                <a:solidFill>
                  <a:srgbClr val="3A4A5C"/>
                </a:solidFill>
              </a:rPr>
              <a:t>"関西人が多い事が要因なのか、初対面でも壁を感じなかった。"</a:t>
            </a:r>
          </a:p>
        </p:txBody>
      </p:sp>
      <p:sp>
        <p:nvSpPr>
          <p:cNvPr id="34" name="Rectangle 33"/>
          <p:cNvSpPr/>
          <p:nvPr/>
        </p:nvSpPr>
        <p:spPr>
          <a:xfrm>
            <a:off x="6263640" y="5742432"/>
            <a:ext cx="36576" cy="50292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28232" y="5669280"/>
            <a:ext cx="5394960" cy="658368"/>
          </a:xfrm>
          <a:prstGeom prst="rect">
            <a:avLst/>
          </a:prstGeom>
          <a:noFill/>
        </p:spPr>
        <p:txBody>
          <a:bodyPr wrap="square">
            <a:spAutoFit/>
          </a:bodyPr>
          <a:lstStyle/>
          <a:p>
            <a:pPr algn="l"/>
            <a:r>
              <a:rPr sz="1250" b="0" i="1">
                <a:solidFill>
                  <a:srgbClr val="3A4A5C"/>
                </a:solidFill>
              </a:rPr>
              <a:t>"みんなで関西を盛り上げていきたいという想いが素敵でした。"</a:t>
            </a:r>
          </a:p>
        </p:txBody>
      </p:sp>
      <p:sp>
        <p:nvSpPr>
          <p:cNvPr id="36" name="Rectangle 35"/>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881360" cy="777240"/>
          </a:xfrm>
          <a:prstGeom prst="rect">
            <a:avLst/>
          </a:prstGeom>
          <a:noFill/>
        </p:spPr>
        <p:txBody>
          <a:bodyPr wrap="square">
            <a:spAutoFit/>
          </a:bodyPr>
          <a:lstStyle/>
          <a:p>
            <a:pPr algn="l"/>
            <a:r>
              <a:rPr sz="2400" b="1" i="0">
                <a:solidFill>
                  <a:srgbClr val="0D1F3C"/>
                </a:solidFill>
              </a:rPr>
              <a:t>スポンサー協力により、より価値ある体験設計へ</a:t>
            </a:r>
          </a:p>
        </p:txBody>
      </p:sp>
      <p:sp>
        <p:nvSpPr>
          <p:cNvPr id="5" name="TextBox 4"/>
          <p:cNvSpPr txBox="1"/>
          <p:nvPr/>
        </p:nvSpPr>
        <p:spPr>
          <a:xfrm>
            <a:off x="640080" y="868680"/>
            <a:ext cx="10881360" cy="411480"/>
          </a:xfrm>
          <a:prstGeom prst="rect">
            <a:avLst/>
          </a:prstGeom>
          <a:noFill/>
        </p:spPr>
        <p:txBody>
          <a:bodyPr wrap="square">
            <a:spAutoFit/>
          </a:bodyPr>
          <a:lstStyle/>
          <a:p>
            <a:pPr algn="l"/>
            <a:r>
              <a:rPr sz="1300" b="0" i="0">
                <a:solidFill>
                  <a:srgbClr val="8A96AA"/>
                </a:solidFill>
              </a:rPr>
              <a:t>Why We Need Sponsors — スポンサーが必要な理由</a:t>
            </a:r>
          </a:p>
        </p:txBody>
      </p:sp>
      <p:sp>
        <p:nvSpPr>
          <p:cNvPr id="6" name="Rectangle 5"/>
          <p:cNvSpPr/>
          <p:nvPr/>
        </p:nvSpPr>
        <p:spPr>
          <a:xfrm>
            <a:off x="640080" y="1234440"/>
            <a:ext cx="10908792" cy="190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63040"/>
            <a:ext cx="11201400" cy="1051560"/>
          </a:xfrm>
          <a:prstGeom prst="rect">
            <a:avLst/>
          </a:prstGeom>
          <a:solidFill>
            <a:srgbClr val="E8F1FB"/>
          </a:solidFill>
          <a:ln w="12700">
            <a:solidFill>
              <a:srgbClr val="1A6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554480"/>
            <a:ext cx="10835640" cy="868680"/>
          </a:xfrm>
          <a:prstGeom prst="rect">
            <a:avLst/>
          </a:prstGeom>
          <a:noFill/>
        </p:spPr>
        <p:txBody>
          <a:bodyPr wrap="square">
            <a:spAutoFit/>
          </a:bodyPr>
          <a:lstStyle/>
          <a:p>
            <a:pPr algn="l"/>
            <a:r>
              <a:rPr sz="1350" b="0" i="0">
                <a:solidFill>
                  <a:srgbClr val="0D1F3C"/>
                </a:solidFill>
              </a:rPr>
              <a:t>現在は参加費中心で運営しているため、会場・飲食・体験設計に限界があります。スポンサー協力により、クリエイターが撮影・交流・体験しやすい場をつくり、スポンサー企業にとっても自然な接点とUGC創出につながるイベントに進化できます。</a:t>
            </a:r>
          </a:p>
        </p:txBody>
      </p:sp>
      <p:sp>
        <p:nvSpPr>
          <p:cNvPr id="10" name="Rectangle 9"/>
          <p:cNvSpPr/>
          <p:nvPr/>
        </p:nvSpPr>
        <p:spPr>
          <a:xfrm>
            <a:off x="502920" y="2697480"/>
            <a:ext cx="36576" cy="36576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2679192"/>
            <a:ext cx="5486400" cy="411480"/>
          </a:xfrm>
          <a:prstGeom prst="rect">
            <a:avLst/>
          </a:prstGeom>
          <a:noFill/>
        </p:spPr>
        <p:txBody>
          <a:bodyPr wrap="square">
            <a:spAutoFit/>
          </a:bodyPr>
          <a:lstStyle/>
          <a:p>
            <a:pPr algn="l"/>
            <a:r>
              <a:rPr sz="1200" b="1" i="0">
                <a:solidFill>
                  <a:srgbClr val="1A6FC4"/>
                </a:solidFill>
              </a:rPr>
              <a:t>参加者アンケートより — 次回への期待・改善要望</a:t>
            </a:r>
          </a:p>
        </p:txBody>
      </p:sp>
      <p:sp>
        <p:nvSpPr>
          <p:cNvPr id="12" name="Rectangle 11"/>
          <p:cNvSpPr/>
          <p:nvPr/>
        </p:nvSpPr>
        <p:spPr>
          <a:xfrm>
            <a:off x="502920" y="3154680"/>
            <a:ext cx="3657600" cy="1325880"/>
          </a:xfrm>
          <a:prstGeom prst="rect">
            <a:avLst/>
          </a:prstGeom>
          <a:solidFill>
            <a:srgbClr val="F7F8FC"/>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3154680"/>
            <a:ext cx="45720" cy="1325880"/>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246120"/>
            <a:ext cx="3429000" cy="457200"/>
          </a:xfrm>
          <a:prstGeom prst="rect">
            <a:avLst/>
          </a:prstGeom>
          <a:noFill/>
        </p:spPr>
        <p:txBody>
          <a:bodyPr wrap="square">
            <a:spAutoFit/>
          </a:bodyPr>
          <a:lstStyle/>
          <a:p>
            <a:pPr algn="l"/>
            <a:r>
              <a:rPr sz="1300" b="1" i="0">
                <a:solidFill>
                  <a:srgbClr val="0D1F3C"/>
                </a:solidFill>
              </a:rPr>
              <a:t>もっと長い時間交流したい</a:t>
            </a:r>
          </a:p>
        </p:txBody>
      </p:sp>
      <p:sp>
        <p:nvSpPr>
          <p:cNvPr id="15" name="TextBox 14"/>
          <p:cNvSpPr txBox="1"/>
          <p:nvPr/>
        </p:nvSpPr>
        <p:spPr>
          <a:xfrm>
            <a:off x="640080" y="3749040"/>
            <a:ext cx="3429000" cy="640080"/>
          </a:xfrm>
          <a:prstGeom prst="rect">
            <a:avLst/>
          </a:prstGeom>
          <a:noFill/>
        </p:spPr>
        <p:txBody>
          <a:bodyPr wrap="square">
            <a:spAutoFit/>
          </a:bodyPr>
          <a:lstStyle/>
          <a:p>
            <a:pPr algn="l"/>
            <a:r>
              <a:rPr sz="1150" b="0" i="0">
                <a:solidFill>
                  <a:srgbClr val="1A6FC4"/>
                </a:solidFill>
              </a:rPr>
              <a:t>→ ゆったりとした時間設計・会場選定</a:t>
            </a:r>
          </a:p>
        </p:txBody>
      </p:sp>
      <p:sp>
        <p:nvSpPr>
          <p:cNvPr id="16" name="Rectangle 15"/>
          <p:cNvSpPr/>
          <p:nvPr/>
        </p:nvSpPr>
        <p:spPr>
          <a:xfrm>
            <a:off x="4389120" y="3154680"/>
            <a:ext cx="3657600" cy="1325880"/>
          </a:xfrm>
          <a:prstGeom prst="rect">
            <a:avLst/>
          </a:prstGeom>
          <a:solidFill>
            <a:srgbClr val="F7F8FC"/>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89120" y="3154680"/>
            <a:ext cx="45720" cy="1325880"/>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26280" y="3246120"/>
            <a:ext cx="3429000" cy="457200"/>
          </a:xfrm>
          <a:prstGeom prst="rect">
            <a:avLst/>
          </a:prstGeom>
          <a:noFill/>
        </p:spPr>
        <p:txBody>
          <a:bodyPr wrap="square">
            <a:spAutoFit/>
          </a:bodyPr>
          <a:lstStyle/>
          <a:p>
            <a:pPr algn="l"/>
            <a:r>
              <a:rPr sz="1300" b="1" i="0">
                <a:solidFill>
                  <a:srgbClr val="0D1F3C"/>
                </a:solidFill>
              </a:rPr>
              <a:t>より雰囲気の良い会場</a:t>
            </a:r>
          </a:p>
        </p:txBody>
      </p:sp>
      <p:sp>
        <p:nvSpPr>
          <p:cNvPr id="19" name="TextBox 18"/>
          <p:cNvSpPr txBox="1"/>
          <p:nvPr/>
        </p:nvSpPr>
        <p:spPr>
          <a:xfrm>
            <a:off x="4526280" y="3749040"/>
            <a:ext cx="3429000" cy="640080"/>
          </a:xfrm>
          <a:prstGeom prst="rect">
            <a:avLst/>
          </a:prstGeom>
          <a:noFill/>
        </p:spPr>
        <p:txBody>
          <a:bodyPr wrap="square">
            <a:spAutoFit/>
          </a:bodyPr>
          <a:lstStyle/>
          <a:p>
            <a:pPr algn="l"/>
            <a:r>
              <a:rPr sz="1150" b="0" i="0">
                <a:solidFill>
                  <a:srgbClr val="1A6FC4"/>
                </a:solidFill>
              </a:rPr>
              <a:t>→ ホテル・バー・おしゃれな空間での開催</a:t>
            </a:r>
          </a:p>
        </p:txBody>
      </p:sp>
      <p:sp>
        <p:nvSpPr>
          <p:cNvPr id="20" name="Rectangle 19"/>
          <p:cNvSpPr/>
          <p:nvPr/>
        </p:nvSpPr>
        <p:spPr>
          <a:xfrm>
            <a:off x="8275320" y="3154680"/>
            <a:ext cx="3657600" cy="1325880"/>
          </a:xfrm>
          <a:prstGeom prst="rect">
            <a:avLst/>
          </a:prstGeom>
          <a:solidFill>
            <a:srgbClr val="F7F8FC"/>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75320" y="3154680"/>
            <a:ext cx="45720" cy="1325880"/>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0" y="3246120"/>
            <a:ext cx="3429000" cy="457200"/>
          </a:xfrm>
          <a:prstGeom prst="rect">
            <a:avLst/>
          </a:prstGeom>
          <a:noFill/>
        </p:spPr>
        <p:txBody>
          <a:bodyPr wrap="square">
            <a:spAutoFit/>
          </a:bodyPr>
          <a:lstStyle/>
          <a:p>
            <a:pPr algn="l"/>
            <a:r>
              <a:rPr sz="1300" b="1" i="0">
                <a:solidFill>
                  <a:srgbClr val="0D1F3C"/>
                </a:solidFill>
              </a:rPr>
              <a:t>食事・ドリンクの充実</a:t>
            </a:r>
          </a:p>
        </p:txBody>
      </p:sp>
      <p:sp>
        <p:nvSpPr>
          <p:cNvPr id="23" name="TextBox 22"/>
          <p:cNvSpPr txBox="1"/>
          <p:nvPr/>
        </p:nvSpPr>
        <p:spPr>
          <a:xfrm>
            <a:off x="8412480" y="3749040"/>
            <a:ext cx="3429000" cy="640080"/>
          </a:xfrm>
          <a:prstGeom prst="rect">
            <a:avLst/>
          </a:prstGeom>
          <a:noFill/>
        </p:spPr>
        <p:txBody>
          <a:bodyPr wrap="square">
            <a:spAutoFit/>
          </a:bodyPr>
          <a:lstStyle/>
          <a:p>
            <a:pPr algn="l"/>
            <a:r>
              <a:rPr sz="1150" b="0" i="0">
                <a:solidFill>
                  <a:srgbClr val="1A6FC4"/>
                </a:solidFill>
              </a:rPr>
              <a:t>→ スポンサー提供による飲食クオリティアップ</a:t>
            </a:r>
          </a:p>
        </p:txBody>
      </p:sp>
      <p:sp>
        <p:nvSpPr>
          <p:cNvPr id="24" name="Rectangle 23"/>
          <p:cNvSpPr/>
          <p:nvPr/>
        </p:nvSpPr>
        <p:spPr>
          <a:xfrm>
            <a:off x="502920" y="4617720"/>
            <a:ext cx="3657600" cy="1325880"/>
          </a:xfrm>
          <a:prstGeom prst="rect">
            <a:avLst/>
          </a:prstGeom>
          <a:solidFill>
            <a:srgbClr val="F7F8FC"/>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4617720"/>
            <a:ext cx="45720" cy="1325880"/>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4709160"/>
            <a:ext cx="3429000" cy="457200"/>
          </a:xfrm>
          <a:prstGeom prst="rect">
            <a:avLst/>
          </a:prstGeom>
          <a:noFill/>
        </p:spPr>
        <p:txBody>
          <a:bodyPr wrap="square">
            <a:spAutoFit/>
          </a:bodyPr>
          <a:lstStyle/>
          <a:p>
            <a:pPr algn="l"/>
            <a:r>
              <a:rPr sz="1300" b="1" i="0">
                <a:solidFill>
                  <a:srgbClr val="0D1F3C"/>
                </a:solidFill>
              </a:rPr>
              <a:t>ミニゲームや交流企画</a:t>
            </a:r>
          </a:p>
        </p:txBody>
      </p:sp>
      <p:sp>
        <p:nvSpPr>
          <p:cNvPr id="27" name="TextBox 26"/>
          <p:cNvSpPr txBox="1"/>
          <p:nvPr/>
        </p:nvSpPr>
        <p:spPr>
          <a:xfrm>
            <a:off x="640080" y="5212080"/>
            <a:ext cx="3429000" cy="640080"/>
          </a:xfrm>
          <a:prstGeom prst="rect">
            <a:avLst/>
          </a:prstGeom>
          <a:noFill/>
        </p:spPr>
        <p:txBody>
          <a:bodyPr wrap="square">
            <a:spAutoFit/>
          </a:bodyPr>
          <a:lstStyle/>
          <a:p>
            <a:pPr algn="l"/>
            <a:r>
              <a:rPr sz="1150" b="0" i="0">
                <a:solidFill>
                  <a:srgbClr val="1A6FC4"/>
                </a:solidFill>
              </a:rPr>
              <a:t>→ スポンサーとのコラボ体験コンテンツ</a:t>
            </a:r>
          </a:p>
        </p:txBody>
      </p:sp>
      <p:sp>
        <p:nvSpPr>
          <p:cNvPr id="28" name="Rectangle 27"/>
          <p:cNvSpPr/>
          <p:nvPr/>
        </p:nvSpPr>
        <p:spPr>
          <a:xfrm>
            <a:off x="4389120" y="4617720"/>
            <a:ext cx="3657600" cy="1325880"/>
          </a:xfrm>
          <a:prstGeom prst="rect">
            <a:avLst/>
          </a:prstGeom>
          <a:solidFill>
            <a:srgbClr val="F7F8FC"/>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89120" y="4617720"/>
            <a:ext cx="45720" cy="1325880"/>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26280" y="4709160"/>
            <a:ext cx="3429000" cy="457200"/>
          </a:xfrm>
          <a:prstGeom prst="rect">
            <a:avLst/>
          </a:prstGeom>
          <a:noFill/>
        </p:spPr>
        <p:txBody>
          <a:bodyPr wrap="square">
            <a:spAutoFit/>
          </a:bodyPr>
          <a:lstStyle/>
          <a:p>
            <a:pPr algn="l"/>
            <a:r>
              <a:rPr sz="1300" b="1" i="0">
                <a:solidFill>
                  <a:srgbClr val="0D1F3C"/>
                </a:solidFill>
              </a:rPr>
              <a:t>スポンサー・会場とのコラボ</a:t>
            </a:r>
          </a:p>
        </p:txBody>
      </p:sp>
      <p:sp>
        <p:nvSpPr>
          <p:cNvPr id="31" name="TextBox 30"/>
          <p:cNvSpPr txBox="1"/>
          <p:nvPr/>
        </p:nvSpPr>
        <p:spPr>
          <a:xfrm>
            <a:off x="4526280" y="5212080"/>
            <a:ext cx="3429000" cy="640080"/>
          </a:xfrm>
          <a:prstGeom prst="rect">
            <a:avLst/>
          </a:prstGeom>
          <a:noFill/>
        </p:spPr>
        <p:txBody>
          <a:bodyPr wrap="square">
            <a:spAutoFit/>
          </a:bodyPr>
          <a:lstStyle/>
          <a:p>
            <a:pPr algn="l"/>
            <a:r>
              <a:rPr sz="1150" b="0" i="0">
                <a:solidFill>
                  <a:srgbClr val="1A6FC4"/>
                </a:solidFill>
              </a:rPr>
              <a:t>→ ブランド体験をイベントに自然に組み込む</a:t>
            </a:r>
          </a:p>
        </p:txBody>
      </p:sp>
      <p:sp>
        <p:nvSpPr>
          <p:cNvPr id="32" name="Rectangle 31"/>
          <p:cNvSpPr/>
          <p:nvPr/>
        </p:nvSpPr>
        <p:spPr>
          <a:xfrm>
            <a:off x="8275320" y="4617720"/>
            <a:ext cx="3657600" cy="1325880"/>
          </a:xfrm>
          <a:prstGeom prst="rect">
            <a:avLst/>
          </a:prstGeom>
          <a:solidFill>
            <a:srgbClr val="F7F8FC"/>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75320" y="4617720"/>
            <a:ext cx="45720" cy="1325880"/>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0" y="4709160"/>
            <a:ext cx="3429000" cy="457200"/>
          </a:xfrm>
          <a:prstGeom prst="rect">
            <a:avLst/>
          </a:prstGeom>
          <a:noFill/>
        </p:spPr>
        <p:txBody>
          <a:bodyPr wrap="square">
            <a:spAutoFit/>
          </a:bodyPr>
          <a:lstStyle/>
          <a:p>
            <a:pPr algn="l"/>
            <a:r>
              <a:rPr sz="1300" b="1" i="0">
                <a:solidFill>
                  <a:srgbClr val="0D1F3C"/>
                </a:solidFill>
              </a:rPr>
              <a:t>昼開催・頻度アップ</a:t>
            </a:r>
          </a:p>
        </p:txBody>
      </p:sp>
      <p:sp>
        <p:nvSpPr>
          <p:cNvPr id="35" name="TextBox 34"/>
          <p:cNvSpPr txBox="1"/>
          <p:nvPr/>
        </p:nvSpPr>
        <p:spPr>
          <a:xfrm>
            <a:off x="8412480" y="5212080"/>
            <a:ext cx="3429000" cy="640080"/>
          </a:xfrm>
          <a:prstGeom prst="rect">
            <a:avLst/>
          </a:prstGeom>
          <a:noFill/>
        </p:spPr>
        <p:txBody>
          <a:bodyPr wrap="square">
            <a:spAutoFit/>
          </a:bodyPr>
          <a:lstStyle/>
          <a:p>
            <a:pPr algn="l"/>
            <a:r>
              <a:rPr sz="1150" b="0" i="0">
                <a:solidFill>
                  <a:srgbClr val="1A6FC4"/>
                </a:solidFill>
              </a:rPr>
              <a:t>→ 複数スポンサーによる開催コスト分散</a:t>
            </a:r>
          </a:p>
        </p:txBody>
      </p:sp>
      <p:sp>
        <p:nvSpPr>
          <p:cNvPr id="36" name="Rectangle 35"/>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881360" cy="777240"/>
          </a:xfrm>
          <a:prstGeom prst="rect">
            <a:avLst/>
          </a:prstGeom>
          <a:noFill/>
        </p:spPr>
        <p:txBody>
          <a:bodyPr wrap="square">
            <a:spAutoFit/>
          </a:bodyPr>
          <a:lstStyle/>
          <a:p>
            <a:pPr algn="l"/>
            <a:r>
              <a:rPr sz="2800" b="1" i="0">
                <a:solidFill>
                  <a:srgbClr val="0D1F3C"/>
                </a:solidFill>
              </a:rPr>
              <a:t>スポンサーが得られる 5 つの価値</a:t>
            </a:r>
          </a:p>
        </p:txBody>
      </p:sp>
      <p:sp>
        <p:nvSpPr>
          <p:cNvPr id="5" name="TextBox 4"/>
          <p:cNvSpPr txBox="1"/>
          <p:nvPr/>
        </p:nvSpPr>
        <p:spPr>
          <a:xfrm>
            <a:off x="640080" y="868680"/>
            <a:ext cx="10881360" cy="411480"/>
          </a:xfrm>
          <a:prstGeom prst="rect">
            <a:avLst/>
          </a:prstGeom>
          <a:noFill/>
        </p:spPr>
        <p:txBody>
          <a:bodyPr wrap="square">
            <a:spAutoFit/>
          </a:bodyPr>
          <a:lstStyle/>
          <a:p>
            <a:pPr algn="l"/>
            <a:r>
              <a:rPr sz="1300" b="0" i="0">
                <a:solidFill>
                  <a:srgbClr val="8A96AA"/>
                </a:solidFill>
              </a:rPr>
              <a:t>Sponsor Benefits</a:t>
            </a:r>
          </a:p>
        </p:txBody>
      </p:sp>
      <p:sp>
        <p:nvSpPr>
          <p:cNvPr id="6" name="Rectangle 5"/>
          <p:cNvSpPr/>
          <p:nvPr/>
        </p:nvSpPr>
        <p:spPr>
          <a:xfrm>
            <a:off x="640080" y="1234440"/>
            <a:ext cx="10908792" cy="190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463040"/>
            <a:ext cx="11201400" cy="896112"/>
          </a:xfrm>
          <a:prstGeom prst="rect">
            <a:avLst/>
          </a:prstGeom>
          <a:solidFill>
            <a:srgbClr val="F7F8FC"/>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463040"/>
            <a:ext cx="384048" cy="896112"/>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1572768"/>
            <a:ext cx="594360" cy="640080"/>
          </a:xfrm>
          <a:prstGeom prst="rect">
            <a:avLst/>
          </a:prstGeom>
          <a:noFill/>
        </p:spPr>
        <p:txBody>
          <a:bodyPr wrap="square">
            <a:spAutoFit/>
          </a:bodyPr>
          <a:lstStyle/>
          <a:p>
            <a:pPr algn="l"/>
            <a:r>
              <a:rPr sz="2000" b="1" i="0">
                <a:solidFill>
                  <a:srgbClr val="1A6FC4"/>
                </a:solidFill>
              </a:rPr>
              <a:t>01</a:t>
            </a:r>
          </a:p>
        </p:txBody>
      </p:sp>
      <p:sp>
        <p:nvSpPr>
          <p:cNvPr id="11" name="TextBox 10"/>
          <p:cNvSpPr txBox="1"/>
          <p:nvPr/>
        </p:nvSpPr>
        <p:spPr>
          <a:xfrm>
            <a:off x="1600200" y="1554480"/>
            <a:ext cx="4114800" cy="411480"/>
          </a:xfrm>
          <a:prstGeom prst="rect">
            <a:avLst/>
          </a:prstGeom>
          <a:noFill/>
        </p:spPr>
        <p:txBody>
          <a:bodyPr wrap="square">
            <a:spAutoFit/>
          </a:bodyPr>
          <a:lstStyle/>
          <a:p>
            <a:pPr algn="l"/>
            <a:r>
              <a:rPr sz="1500" b="1" i="0">
                <a:solidFill>
                  <a:srgbClr val="0D1F3C"/>
                </a:solidFill>
              </a:rPr>
              <a:t>グローバルクリエイターとの直接接点</a:t>
            </a:r>
          </a:p>
        </p:txBody>
      </p:sp>
      <p:sp>
        <p:nvSpPr>
          <p:cNvPr id="12" name="TextBox 11"/>
          <p:cNvSpPr txBox="1"/>
          <p:nvPr/>
        </p:nvSpPr>
        <p:spPr>
          <a:xfrm>
            <a:off x="5852160" y="1554480"/>
            <a:ext cx="5669280" cy="685800"/>
          </a:xfrm>
          <a:prstGeom prst="rect">
            <a:avLst/>
          </a:prstGeom>
          <a:noFill/>
        </p:spPr>
        <p:txBody>
          <a:bodyPr wrap="square">
            <a:spAutoFit/>
          </a:bodyPr>
          <a:lstStyle/>
          <a:p>
            <a:pPr algn="l"/>
            <a:r>
              <a:rPr sz="1300" b="0" i="0">
                <a:solidFill>
                  <a:srgbClr val="3A4A5C"/>
                </a:solidFill>
              </a:rPr>
              <a:t>関西在住・関西発信のインフルエンサーに直接ブランドを体験してもらえる機会を提供</a:t>
            </a:r>
          </a:p>
        </p:txBody>
      </p:sp>
      <p:sp>
        <p:nvSpPr>
          <p:cNvPr id="13" name="Rectangle 12"/>
          <p:cNvSpPr/>
          <p:nvPr/>
        </p:nvSpPr>
        <p:spPr>
          <a:xfrm>
            <a:off x="502920" y="2441448"/>
            <a:ext cx="11201400" cy="896112"/>
          </a:xfrm>
          <a:prstGeom prst="rect">
            <a:avLst/>
          </a:prstGeom>
          <a:solidFill>
            <a:srgbClr val="F7F8FC"/>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2441448"/>
            <a:ext cx="384048" cy="89611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2551176"/>
            <a:ext cx="594360" cy="640080"/>
          </a:xfrm>
          <a:prstGeom prst="rect">
            <a:avLst/>
          </a:prstGeom>
          <a:noFill/>
        </p:spPr>
        <p:txBody>
          <a:bodyPr wrap="square">
            <a:spAutoFit/>
          </a:bodyPr>
          <a:lstStyle/>
          <a:p>
            <a:pPr algn="l"/>
            <a:r>
              <a:rPr sz="2000" b="1" i="0">
                <a:solidFill>
                  <a:srgbClr val="7C3AED"/>
                </a:solidFill>
              </a:rPr>
              <a:t>02</a:t>
            </a:r>
          </a:p>
        </p:txBody>
      </p:sp>
      <p:sp>
        <p:nvSpPr>
          <p:cNvPr id="16" name="TextBox 15"/>
          <p:cNvSpPr txBox="1"/>
          <p:nvPr/>
        </p:nvSpPr>
        <p:spPr>
          <a:xfrm>
            <a:off x="1600200" y="2532888"/>
            <a:ext cx="4114800" cy="411480"/>
          </a:xfrm>
          <a:prstGeom prst="rect">
            <a:avLst/>
          </a:prstGeom>
          <a:noFill/>
        </p:spPr>
        <p:txBody>
          <a:bodyPr wrap="square">
            <a:spAutoFit/>
          </a:bodyPr>
          <a:lstStyle/>
          <a:p>
            <a:pPr algn="l"/>
            <a:r>
              <a:rPr sz="1500" b="1" i="0">
                <a:solidFill>
                  <a:srgbClr val="0D1F3C"/>
                </a:solidFill>
              </a:rPr>
              <a:t>訪日客向けSNS発信のきっかけづくり</a:t>
            </a:r>
          </a:p>
        </p:txBody>
      </p:sp>
      <p:sp>
        <p:nvSpPr>
          <p:cNvPr id="17" name="TextBox 16"/>
          <p:cNvSpPr txBox="1"/>
          <p:nvPr/>
        </p:nvSpPr>
        <p:spPr>
          <a:xfrm>
            <a:off x="5852160" y="2532888"/>
            <a:ext cx="5669280" cy="685800"/>
          </a:xfrm>
          <a:prstGeom prst="rect">
            <a:avLst/>
          </a:prstGeom>
          <a:noFill/>
        </p:spPr>
        <p:txBody>
          <a:bodyPr wrap="square">
            <a:spAutoFit/>
          </a:bodyPr>
          <a:lstStyle/>
          <a:p>
            <a:pPr algn="l"/>
            <a:r>
              <a:rPr sz="1300" b="0" i="0">
                <a:solidFill>
                  <a:srgbClr val="3A4A5C"/>
                </a:solidFill>
              </a:rPr>
              <a:t>海外フォロワーを持つクリエイターが自然に投稿・紹介したくなる導線を設計します</a:t>
            </a:r>
          </a:p>
        </p:txBody>
      </p:sp>
      <p:sp>
        <p:nvSpPr>
          <p:cNvPr id="18" name="Rectangle 17"/>
          <p:cNvSpPr/>
          <p:nvPr/>
        </p:nvSpPr>
        <p:spPr>
          <a:xfrm>
            <a:off x="502920" y="3419856"/>
            <a:ext cx="11201400" cy="896112"/>
          </a:xfrm>
          <a:prstGeom prst="rect">
            <a:avLst/>
          </a:prstGeom>
          <a:solidFill>
            <a:srgbClr val="F7F8FC"/>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419856"/>
            <a:ext cx="384048" cy="896112"/>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3529584"/>
            <a:ext cx="594360" cy="640080"/>
          </a:xfrm>
          <a:prstGeom prst="rect">
            <a:avLst/>
          </a:prstGeom>
          <a:noFill/>
        </p:spPr>
        <p:txBody>
          <a:bodyPr wrap="square">
            <a:spAutoFit/>
          </a:bodyPr>
          <a:lstStyle/>
          <a:p>
            <a:pPr algn="l"/>
            <a:r>
              <a:rPr sz="2000" b="1" i="0">
                <a:solidFill>
                  <a:srgbClr val="E0458A"/>
                </a:solidFill>
              </a:rPr>
              <a:t>03</a:t>
            </a:r>
          </a:p>
        </p:txBody>
      </p:sp>
      <p:sp>
        <p:nvSpPr>
          <p:cNvPr id="21" name="TextBox 20"/>
          <p:cNvSpPr txBox="1"/>
          <p:nvPr/>
        </p:nvSpPr>
        <p:spPr>
          <a:xfrm>
            <a:off x="1600200" y="3511296"/>
            <a:ext cx="4114800" cy="411480"/>
          </a:xfrm>
          <a:prstGeom prst="rect">
            <a:avLst/>
          </a:prstGeom>
          <a:noFill/>
        </p:spPr>
        <p:txBody>
          <a:bodyPr wrap="square">
            <a:spAutoFit/>
          </a:bodyPr>
          <a:lstStyle/>
          <a:p>
            <a:pPr algn="l"/>
            <a:r>
              <a:rPr sz="1500" b="1" i="0">
                <a:solidFill>
                  <a:srgbClr val="0D1F3C"/>
                </a:solidFill>
              </a:rPr>
              <a:t>商品・店舗・施設の体験導入</a:t>
            </a:r>
          </a:p>
        </p:txBody>
      </p:sp>
      <p:sp>
        <p:nvSpPr>
          <p:cNvPr id="22" name="TextBox 21"/>
          <p:cNvSpPr txBox="1"/>
          <p:nvPr/>
        </p:nvSpPr>
        <p:spPr>
          <a:xfrm>
            <a:off x="5852160" y="3511296"/>
            <a:ext cx="5669280" cy="685800"/>
          </a:xfrm>
          <a:prstGeom prst="rect">
            <a:avLst/>
          </a:prstGeom>
          <a:noFill/>
        </p:spPr>
        <p:txBody>
          <a:bodyPr wrap="square">
            <a:spAutoFit/>
          </a:bodyPr>
          <a:lstStyle/>
          <a:p>
            <a:pPr algn="l"/>
            <a:r>
              <a:rPr sz="1300" b="0" i="0">
                <a:solidFill>
                  <a:srgbClr val="3A4A5C"/>
                </a:solidFill>
              </a:rPr>
              <a:t>広告ではなくリアルな体験として商品・サービスを届けるUGC起点のインバウンドPR</a:t>
            </a:r>
          </a:p>
        </p:txBody>
      </p:sp>
      <p:sp>
        <p:nvSpPr>
          <p:cNvPr id="23" name="Rectangle 22"/>
          <p:cNvSpPr/>
          <p:nvPr/>
        </p:nvSpPr>
        <p:spPr>
          <a:xfrm>
            <a:off x="502920" y="4398264"/>
            <a:ext cx="11201400" cy="896112"/>
          </a:xfrm>
          <a:prstGeom prst="rect">
            <a:avLst/>
          </a:prstGeom>
          <a:solidFill>
            <a:srgbClr val="F7F8FC"/>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4398264"/>
            <a:ext cx="384048" cy="896112"/>
          </a:xfrm>
          <a:prstGeom prst="rect">
            <a:avLst/>
          </a:prstGeom>
          <a:solidFill>
            <a:srgbClr val="0B9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507992"/>
            <a:ext cx="594360" cy="640080"/>
          </a:xfrm>
          <a:prstGeom prst="rect">
            <a:avLst/>
          </a:prstGeom>
          <a:noFill/>
        </p:spPr>
        <p:txBody>
          <a:bodyPr wrap="square">
            <a:spAutoFit/>
          </a:bodyPr>
          <a:lstStyle/>
          <a:p>
            <a:pPr algn="l"/>
            <a:r>
              <a:rPr sz="2000" b="1" i="0">
                <a:solidFill>
                  <a:srgbClr val="0B9A8A"/>
                </a:solidFill>
              </a:rPr>
              <a:t>04</a:t>
            </a:r>
          </a:p>
        </p:txBody>
      </p:sp>
      <p:sp>
        <p:nvSpPr>
          <p:cNvPr id="26" name="TextBox 25"/>
          <p:cNvSpPr txBox="1"/>
          <p:nvPr/>
        </p:nvSpPr>
        <p:spPr>
          <a:xfrm>
            <a:off x="1600200" y="4489704"/>
            <a:ext cx="4114800" cy="411480"/>
          </a:xfrm>
          <a:prstGeom prst="rect">
            <a:avLst/>
          </a:prstGeom>
          <a:noFill/>
        </p:spPr>
        <p:txBody>
          <a:bodyPr wrap="square">
            <a:spAutoFit/>
          </a:bodyPr>
          <a:lstStyle/>
          <a:p>
            <a:pPr algn="l"/>
            <a:r>
              <a:rPr sz="1500" b="1" i="0">
                <a:solidFill>
                  <a:srgbClr val="0D1F3C"/>
                </a:solidFill>
              </a:rPr>
              <a:t>公式レポート・写真素材・SNS露出</a:t>
            </a:r>
          </a:p>
        </p:txBody>
      </p:sp>
      <p:sp>
        <p:nvSpPr>
          <p:cNvPr id="27" name="TextBox 26"/>
          <p:cNvSpPr txBox="1"/>
          <p:nvPr/>
        </p:nvSpPr>
        <p:spPr>
          <a:xfrm>
            <a:off x="5852160" y="4489704"/>
            <a:ext cx="5669280" cy="685800"/>
          </a:xfrm>
          <a:prstGeom prst="rect">
            <a:avLst/>
          </a:prstGeom>
          <a:noFill/>
        </p:spPr>
        <p:txBody>
          <a:bodyPr wrap="square">
            <a:spAutoFit/>
          </a:bodyPr>
          <a:lstStyle/>
          <a:p>
            <a:pPr algn="l"/>
            <a:r>
              <a:rPr sz="1300" b="0" i="0">
                <a:solidFill>
                  <a:srgbClr val="3A4A5C"/>
                </a:solidFill>
              </a:rPr>
              <a:t>公式アカウントでのイベントレポート投稿、写真素材の提供、SNS掲載による露出</a:t>
            </a:r>
          </a:p>
        </p:txBody>
      </p:sp>
      <p:sp>
        <p:nvSpPr>
          <p:cNvPr id="28" name="Rectangle 27"/>
          <p:cNvSpPr/>
          <p:nvPr/>
        </p:nvSpPr>
        <p:spPr>
          <a:xfrm>
            <a:off x="502920" y="5376672"/>
            <a:ext cx="11201400" cy="896112"/>
          </a:xfrm>
          <a:prstGeom prst="rect">
            <a:avLst/>
          </a:prstGeom>
          <a:solidFill>
            <a:srgbClr val="F7F8FC"/>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5376672"/>
            <a:ext cx="384048" cy="896112"/>
          </a:xfrm>
          <a:prstGeom prst="rect">
            <a:avLst/>
          </a:prstGeom>
          <a:solidFill>
            <a:srgbClr val="F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552" y="5486400"/>
            <a:ext cx="594360" cy="640080"/>
          </a:xfrm>
          <a:prstGeom prst="rect">
            <a:avLst/>
          </a:prstGeom>
          <a:noFill/>
        </p:spPr>
        <p:txBody>
          <a:bodyPr wrap="square">
            <a:spAutoFit/>
          </a:bodyPr>
          <a:lstStyle/>
          <a:p>
            <a:pPr algn="l"/>
            <a:r>
              <a:rPr sz="2000" b="1" i="0">
                <a:solidFill>
                  <a:srgbClr val="F0A800"/>
                </a:solidFill>
              </a:rPr>
              <a:t>05</a:t>
            </a:r>
          </a:p>
        </p:txBody>
      </p:sp>
      <p:sp>
        <p:nvSpPr>
          <p:cNvPr id="31" name="TextBox 30"/>
          <p:cNvSpPr txBox="1"/>
          <p:nvPr/>
        </p:nvSpPr>
        <p:spPr>
          <a:xfrm>
            <a:off x="1600200" y="5468112"/>
            <a:ext cx="4114800" cy="411480"/>
          </a:xfrm>
          <a:prstGeom prst="rect">
            <a:avLst/>
          </a:prstGeom>
          <a:noFill/>
        </p:spPr>
        <p:txBody>
          <a:bodyPr wrap="square">
            <a:spAutoFit/>
          </a:bodyPr>
          <a:lstStyle/>
          <a:p>
            <a:pPr algn="l"/>
            <a:r>
              <a:rPr sz="1500" b="1" i="0">
                <a:solidFill>
                  <a:srgbClr val="0D1F3C"/>
                </a:solidFill>
              </a:rPr>
              <a:t>関西インバウンドコミュニティへのブランド浸透</a:t>
            </a:r>
          </a:p>
        </p:txBody>
      </p:sp>
      <p:sp>
        <p:nvSpPr>
          <p:cNvPr id="32" name="TextBox 31"/>
          <p:cNvSpPr txBox="1"/>
          <p:nvPr/>
        </p:nvSpPr>
        <p:spPr>
          <a:xfrm>
            <a:off x="5852160" y="5468112"/>
            <a:ext cx="5669280" cy="685800"/>
          </a:xfrm>
          <a:prstGeom prst="rect">
            <a:avLst/>
          </a:prstGeom>
          <a:noFill/>
        </p:spPr>
        <p:txBody>
          <a:bodyPr wrap="square">
            <a:spAutoFit/>
          </a:bodyPr>
          <a:lstStyle/>
          <a:p>
            <a:pPr algn="l"/>
            <a:r>
              <a:rPr sz="1300" b="0" i="0">
                <a:solidFill>
                  <a:srgbClr val="3A4A5C"/>
                </a:solidFill>
              </a:rPr>
              <a:t>単発広告ではなく継続的なコミュニティとの関係構築で認知を積み上げる長期戦略</a:t>
            </a:r>
          </a:p>
        </p:txBody>
      </p:sp>
      <p:sp>
        <p:nvSpPr>
          <p:cNvPr id="33" name="Rectangle 32"/>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881360" cy="777240"/>
          </a:xfrm>
          <a:prstGeom prst="rect">
            <a:avLst/>
          </a:prstGeom>
          <a:noFill/>
        </p:spPr>
        <p:txBody>
          <a:bodyPr wrap="square">
            <a:spAutoFit/>
          </a:bodyPr>
          <a:lstStyle/>
          <a:p>
            <a:pPr algn="l"/>
            <a:r>
              <a:rPr sz="2800" b="1" i="0">
                <a:solidFill>
                  <a:srgbClr val="0D1F3C"/>
                </a:solidFill>
              </a:rPr>
              <a:t>スポンサー参加の具体例</a:t>
            </a:r>
          </a:p>
        </p:txBody>
      </p:sp>
      <p:sp>
        <p:nvSpPr>
          <p:cNvPr id="5" name="TextBox 4"/>
          <p:cNvSpPr txBox="1"/>
          <p:nvPr/>
        </p:nvSpPr>
        <p:spPr>
          <a:xfrm>
            <a:off x="640080" y="868680"/>
            <a:ext cx="10881360" cy="411480"/>
          </a:xfrm>
          <a:prstGeom prst="rect">
            <a:avLst/>
          </a:prstGeom>
          <a:noFill/>
        </p:spPr>
        <p:txBody>
          <a:bodyPr wrap="square">
            <a:spAutoFit/>
          </a:bodyPr>
          <a:lstStyle/>
          <a:p>
            <a:pPr algn="l"/>
            <a:r>
              <a:rPr sz="1300" b="0" i="0">
                <a:solidFill>
                  <a:srgbClr val="8A96AA"/>
                </a:solidFill>
              </a:rPr>
              <a:t>業種別 — スポンサー活用イメージ</a:t>
            </a:r>
          </a:p>
        </p:txBody>
      </p:sp>
      <p:sp>
        <p:nvSpPr>
          <p:cNvPr id="6" name="Rectangle 5"/>
          <p:cNvSpPr/>
          <p:nvPr/>
        </p:nvSpPr>
        <p:spPr>
          <a:xfrm>
            <a:off x="640080" y="1234440"/>
            <a:ext cx="10908792" cy="190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84048" y="1463040"/>
            <a:ext cx="2176272" cy="4937760"/>
          </a:xfrm>
          <a:prstGeom prst="rect">
            <a:avLst/>
          </a:prstGeom>
          <a:solidFill>
            <a:srgbClr val="FFFFFF"/>
          </a:solidFill>
          <a:ln w="19050">
            <a:solidFill>
              <a:srgbClr val="1A6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4048" y="1463040"/>
            <a:ext cx="2176272" cy="45720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481328"/>
            <a:ext cx="457200" cy="384048"/>
          </a:xfrm>
          <a:prstGeom prst="rect">
            <a:avLst/>
          </a:prstGeom>
          <a:noFill/>
        </p:spPr>
        <p:txBody>
          <a:bodyPr wrap="square">
            <a:spAutoFit/>
          </a:bodyPr>
          <a:lstStyle/>
          <a:p>
            <a:pPr algn="l"/>
            <a:r>
              <a:rPr sz="1800" b="0" i="0">
                <a:solidFill>
                  <a:srgbClr val="FFFFFF"/>
                </a:solidFill>
              </a:rPr>
              <a:t>🏨</a:t>
            </a:r>
          </a:p>
        </p:txBody>
      </p:sp>
      <p:sp>
        <p:nvSpPr>
          <p:cNvPr id="11" name="TextBox 10"/>
          <p:cNvSpPr txBox="1"/>
          <p:nvPr/>
        </p:nvSpPr>
        <p:spPr>
          <a:xfrm>
            <a:off x="914400" y="1508760"/>
            <a:ext cx="1600200" cy="384048"/>
          </a:xfrm>
          <a:prstGeom prst="rect">
            <a:avLst/>
          </a:prstGeom>
          <a:noFill/>
        </p:spPr>
        <p:txBody>
          <a:bodyPr wrap="square">
            <a:spAutoFit/>
          </a:bodyPr>
          <a:lstStyle/>
          <a:p>
            <a:pPr algn="l"/>
            <a:r>
              <a:rPr sz="1200" b="1" i="0">
                <a:solidFill>
                  <a:srgbClr val="FFFFFF"/>
                </a:solidFill>
              </a:rPr>
              <a:t>ホテル・宿泊</a:t>
            </a:r>
          </a:p>
        </p:txBody>
      </p:sp>
      <p:sp>
        <p:nvSpPr>
          <p:cNvPr id="12" name="TextBox 11"/>
          <p:cNvSpPr txBox="1"/>
          <p:nvPr/>
        </p:nvSpPr>
        <p:spPr>
          <a:xfrm>
            <a:off x="493776" y="2057400"/>
            <a:ext cx="2011680" cy="4206240"/>
          </a:xfrm>
          <a:prstGeom prst="rect">
            <a:avLst/>
          </a:prstGeom>
          <a:noFill/>
        </p:spPr>
        <p:txBody>
          <a:bodyPr wrap="square">
            <a:spAutoFit/>
          </a:bodyPr>
          <a:lstStyle/>
          <a:p>
            <a:pPr algn="l"/>
            <a:r>
              <a:rPr sz="1250" b="0" i="0">
                <a:solidFill>
                  <a:srgbClr val="3A4A5C"/>
                </a:solidFill>
              </a:rPr>
              <a:t>会場提供
館内ツアー・ルーム体験
レストラン・バー紹介
公式レポート投稿</a:t>
            </a:r>
          </a:p>
        </p:txBody>
      </p:sp>
      <p:sp>
        <p:nvSpPr>
          <p:cNvPr id="13" name="Rectangle 12"/>
          <p:cNvSpPr/>
          <p:nvPr/>
        </p:nvSpPr>
        <p:spPr>
          <a:xfrm>
            <a:off x="2670048" y="1463040"/>
            <a:ext cx="2176272" cy="4937760"/>
          </a:xfrm>
          <a:prstGeom prst="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70048" y="1463040"/>
            <a:ext cx="2176272" cy="4572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43200" y="1481328"/>
            <a:ext cx="457200" cy="384048"/>
          </a:xfrm>
          <a:prstGeom prst="rect">
            <a:avLst/>
          </a:prstGeom>
          <a:noFill/>
        </p:spPr>
        <p:txBody>
          <a:bodyPr wrap="square">
            <a:spAutoFit/>
          </a:bodyPr>
          <a:lstStyle/>
          <a:p>
            <a:pPr algn="l"/>
            <a:r>
              <a:rPr sz="1800" b="0" i="0">
                <a:solidFill>
                  <a:srgbClr val="FFFFFF"/>
                </a:solidFill>
              </a:rPr>
              <a:t>🍽</a:t>
            </a:r>
          </a:p>
        </p:txBody>
      </p:sp>
      <p:sp>
        <p:nvSpPr>
          <p:cNvPr id="16" name="TextBox 15"/>
          <p:cNvSpPr txBox="1"/>
          <p:nvPr/>
        </p:nvSpPr>
        <p:spPr>
          <a:xfrm>
            <a:off x="3200400" y="1508760"/>
            <a:ext cx="1600200" cy="384048"/>
          </a:xfrm>
          <a:prstGeom prst="rect">
            <a:avLst/>
          </a:prstGeom>
          <a:noFill/>
        </p:spPr>
        <p:txBody>
          <a:bodyPr wrap="square">
            <a:spAutoFit/>
          </a:bodyPr>
          <a:lstStyle/>
          <a:p>
            <a:pPr algn="l"/>
            <a:r>
              <a:rPr sz="1200" b="1" i="0">
                <a:solidFill>
                  <a:srgbClr val="FFFFFF"/>
                </a:solidFill>
              </a:rPr>
              <a:t>飲食店・レストラン</a:t>
            </a:r>
          </a:p>
        </p:txBody>
      </p:sp>
      <p:sp>
        <p:nvSpPr>
          <p:cNvPr id="17" name="TextBox 16"/>
          <p:cNvSpPr txBox="1"/>
          <p:nvPr/>
        </p:nvSpPr>
        <p:spPr>
          <a:xfrm>
            <a:off x="2779776" y="2057400"/>
            <a:ext cx="2011680" cy="4206240"/>
          </a:xfrm>
          <a:prstGeom prst="rect">
            <a:avLst/>
          </a:prstGeom>
          <a:noFill/>
        </p:spPr>
        <p:txBody>
          <a:bodyPr wrap="square">
            <a:spAutoFit/>
          </a:bodyPr>
          <a:lstStyle/>
          <a:p>
            <a:pPr algn="l"/>
            <a:r>
              <a:rPr sz="1250" b="0" i="0">
                <a:solidFill>
                  <a:srgbClr val="3A4A5C"/>
                </a:solidFill>
              </a:rPr>
              <a:t>会場提供
フード・ドリンク提供
クリエイター向け試食体験
訪日客向け認知拡大</a:t>
            </a:r>
          </a:p>
        </p:txBody>
      </p:sp>
      <p:sp>
        <p:nvSpPr>
          <p:cNvPr id="18" name="Rectangle 17"/>
          <p:cNvSpPr/>
          <p:nvPr/>
        </p:nvSpPr>
        <p:spPr>
          <a:xfrm>
            <a:off x="4956048" y="1463040"/>
            <a:ext cx="2176272" cy="4937760"/>
          </a:xfrm>
          <a:prstGeom prst="rect">
            <a:avLst/>
          </a:prstGeom>
          <a:solidFill>
            <a:srgbClr val="FFFFFF"/>
          </a:solidFill>
          <a:ln w="19050">
            <a:solidFill>
              <a:srgbClr val="E04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56048" y="1463040"/>
            <a:ext cx="2176272" cy="457200"/>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0" y="1481328"/>
            <a:ext cx="457200" cy="384048"/>
          </a:xfrm>
          <a:prstGeom prst="rect">
            <a:avLst/>
          </a:prstGeom>
          <a:noFill/>
        </p:spPr>
        <p:txBody>
          <a:bodyPr wrap="square">
            <a:spAutoFit/>
          </a:bodyPr>
          <a:lstStyle/>
          <a:p>
            <a:pPr algn="l"/>
            <a:r>
              <a:rPr sz="1800" b="0" i="0">
                <a:solidFill>
                  <a:srgbClr val="FFFFFF"/>
                </a:solidFill>
              </a:rPr>
              <a:t>🥤</a:t>
            </a:r>
          </a:p>
        </p:txBody>
      </p:sp>
      <p:sp>
        <p:nvSpPr>
          <p:cNvPr id="21" name="TextBox 20"/>
          <p:cNvSpPr txBox="1"/>
          <p:nvPr/>
        </p:nvSpPr>
        <p:spPr>
          <a:xfrm>
            <a:off x="5486400" y="1508760"/>
            <a:ext cx="1600200" cy="384048"/>
          </a:xfrm>
          <a:prstGeom prst="rect">
            <a:avLst/>
          </a:prstGeom>
          <a:noFill/>
        </p:spPr>
        <p:txBody>
          <a:bodyPr wrap="square">
            <a:spAutoFit/>
          </a:bodyPr>
          <a:lstStyle/>
          <a:p>
            <a:pPr algn="l"/>
            <a:r>
              <a:rPr sz="1200" b="1" i="0">
                <a:solidFill>
                  <a:srgbClr val="FFFFFF"/>
                </a:solidFill>
              </a:rPr>
              <a:t>飲料・食品メーカー</a:t>
            </a:r>
          </a:p>
        </p:txBody>
      </p:sp>
      <p:sp>
        <p:nvSpPr>
          <p:cNvPr id="22" name="TextBox 21"/>
          <p:cNvSpPr txBox="1"/>
          <p:nvPr/>
        </p:nvSpPr>
        <p:spPr>
          <a:xfrm>
            <a:off x="5065776" y="2057400"/>
            <a:ext cx="2011680" cy="4206240"/>
          </a:xfrm>
          <a:prstGeom prst="rect">
            <a:avLst/>
          </a:prstGeom>
          <a:noFill/>
        </p:spPr>
        <p:txBody>
          <a:bodyPr wrap="square">
            <a:spAutoFit/>
          </a:bodyPr>
          <a:lstStyle/>
          <a:p>
            <a:pPr algn="l"/>
            <a:r>
              <a:rPr sz="1250" b="0" i="0">
                <a:solidFill>
                  <a:srgbClr val="3A4A5C"/>
                </a:solidFill>
              </a:rPr>
              <a:t>商品サンプリング
乾杯ドリンク提供
フォトスポット設置
新商品体験展示</a:t>
            </a:r>
          </a:p>
        </p:txBody>
      </p:sp>
      <p:sp>
        <p:nvSpPr>
          <p:cNvPr id="23" name="Rectangle 22"/>
          <p:cNvSpPr/>
          <p:nvPr/>
        </p:nvSpPr>
        <p:spPr>
          <a:xfrm>
            <a:off x="7242048" y="1463040"/>
            <a:ext cx="2176272" cy="4937760"/>
          </a:xfrm>
          <a:prstGeom prst="rect">
            <a:avLst/>
          </a:prstGeom>
          <a:solidFill>
            <a:srgbClr val="FFFFFF"/>
          </a:solidFill>
          <a:ln w="19050">
            <a:solidFill>
              <a:srgbClr val="0B9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42048" y="1463040"/>
            <a:ext cx="2176272" cy="457200"/>
          </a:xfrm>
          <a:prstGeom prst="rect">
            <a:avLst/>
          </a:prstGeom>
          <a:solidFill>
            <a:srgbClr val="0B9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0" y="1481328"/>
            <a:ext cx="457200" cy="384048"/>
          </a:xfrm>
          <a:prstGeom prst="rect">
            <a:avLst/>
          </a:prstGeom>
          <a:noFill/>
        </p:spPr>
        <p:txBody>
          <a:bodyPr wrap="square">
            <a:spAutoFit/>
          </a:bodyPr>
          <a:lstStyle/>
          <a:p>
            <a:pPr algn="l"/>
            <a:r>
              <a:rPr sz="1800" b="0" i="0">
                <a:solidFill>
                  <a:srgbClr val="FFFFFF"/>
                </a:solidFill>
              </a:rPr>
              <a:t>🗾</a:t>
            </a:r>
          </a:p>
        </p:txBody>
      </p:sp>
      <p:sp>
        <p:nvSpPr>
          <p:cNvPr id="26" name="TextBox 25"/>
          <p:cNvSpPr txBox="1"/>
          <p:nvPr/>
        </p:nvSpPr>
        <p:spPr>
          <a:xfrm>
            <a:off x="7772400" y="1508760"/>
            <a:ext cx="1600200" cy="384048"/>
          </a:xfrm>
          <a:prstGeom prst="rect">
            <a:avLst/>
          </a:prstGeom>
          <a:noFill/>
        </p:spPr>
        <p:txBody>
          <a:bodyPr wrap="square">
            <a:spAutoFit/>
          </a:bodyPr>
          <a:lstStyle/>
          <a:p>
            <a:pPr algn="l"/>
            <a:r>
              <a:rPr sz="1200" b="1" i="0">
                <a:solidFill>
                  <a:srgbClr val="FFFFFF"/>
                </a:solidFill>
              </a:rPr>
              <a:t>観光施設・自治体</a:t>
            </a:r>
          </a:p>
        </p:txBody>
      </p:sp>
      <p:sp>
        <p:nvSpPr>
          <p:cNvPr id="27" name="TextBox 26"/>
          <p:cNvSpPr txBox="1"/>
          <p:nvPr/>
        </p:nvSpPr>
        <p:spPr>
          <a:xfrm>
            <a:off x="7351776" y="2057400"/>
            <a:ext cx="2011680" cy="4206240"/>
          </a:xfrm>
          <a:prstGeom prst="rect">
            <a:avLst/>
          </a:prstGeom>
          <a:noFill/>
        </p:spPr>
        <p:txBody>
          <a:bodyPr wrap="square">
            <a:spAutoFit/>
          </a:bodyPr>
          <a:lstStyle/>
          <a:p>
            <a:pPr algn="l"/>
            <a:r>
              <a:rPr sz="1250" b="0" i="0">
                <a:solidFill>
                  <a:srgbClr val="3A4A5C"/>
                </a:solidFill>
              </a:rPr>
              <a:t>地域PR・ローカル体験紹介
クリエイターツアー導線
将来的なFAMツアー企画</a:t>
            </a:r>
          </a:p>
        </p:txBody>
      </p:sp>
      <p:sp>
        <p:nvSpPr>
          <p:cNvPr id="28" name="Rectangle 27"/>
          <p:cNvSpPr/>
          <p:nvPr/>
        </p:nvSpPr>
        <p:spPr>
          <a:xfrm>
            <a:off x="9528048" y="1463040"/>
            <a:ext cx="2176272" cy="4937760"/>
          </a:xfrm>
          <a:prstGeom prst="rect">
            <a:avLst/>
          </a:prstGeom>
          <a:solidFill>
            <a:srgbClr val="FFFFFF"/>
          </a:solidFill>
          <a:ln w="19050">
            <a:solidFill>
              <a:srgbClr val="F0A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28048" y="1463040"/>
            <a:ext cx="2176272" cy="457200"/>
          </a:xfrm>
          <a:prstGeom prst="rect">
            <a:avLst/>
          </a:prstGeom>
          <a:solidFill>
            <a:srgbClr val="F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0" y="1481328"/>
            <a:ext cx="457200" cy="384048"/>
          </a:xfrm>
          <a:prstGeom prst="rect">
            <a:avLst/>
          </a:prstGeom>
          <a:noFill/>
        </p:spPr>
        <p:txBody>
          <a:bodyPr wrap="square">
            <a:spAutoFit/>
          </a:bodyPr>
          <a:lstStyle/>
          <a:p>
            <a:pPr algn="l"/>
            <a:r>
              <a:rPr sz="1800" b="0" i="0">
                <a:solidFill>
                  <a:srgbClr val="FFFFFF"/>
                </a:solidFill>
              </a:rPr>
              <a:t>⚽</a:t>
            </a:r>
          </a:p>
        </p:txBody>
      </p:sp>
      <p:sp>
        <p:nvSpPr>
          <p:cNvPr id="31" name="TextBox 30"/>
          <p:cNvSpPr txBox="1"/>
          <p:nvPr/>
        </p:nvSpPr>
        <p:spPr>
          <a:xfrm>
            <a:off x="10058400" y="1508760"/>
            <a:ext cx="1600200" cy="384048"/>
          </a:xfrm>
          <a:prstGeom prst="rect">
            <a:avLst/>
          </a:prstGeom>
          <a:noFill/>
        </p:spPr>
        <p:txBody>
          <a:bodyPr wrap="square">
            <a:spAutoFit/>
          </a:bodyPr>
          <a:lstStyle/>
          <a:p>
            <a:pPr algn="l"/>
            <a:r>
              <a:rPr sz="1200" b="1" i="0">
                <a:solidFill>
                  <a:srgbClr val="FFFFFF"/>
                </a:solidFill>
              </a:rPr>
              <a:t>スポーツチーム</a:t>
            </a:r>
          </a:p>
        </p:txBody>
      </p:sp>
      <p:sp>
        <p:nvSpPr>
          <p:cNvPr id="32" name="TextBox 31"/>
          <p:cNvSpPr txBox="1"/>
          <p:nvPr/>
        </p:nvSpPr>
        <p:spPr>
          <a:xfrm>
            <a:off x="9637776" y="2057400"/>
            <a:ext cx="2011680" cy="4206240"/>
          </a:xfrm>
          <a:prstGeom prst="rect">
            <a:avLst/>
          </a:prstGeom>
          <a:noFill/>
        </p:spPr>
        <p:txBody>
          <a:bodyPr wrap="square">
            <a:spAutoFit/>
          </a:bodyPr>
          <a:lstStyle/>
          <a:p>
            <a:pPr algn="l"/>
            <a:r>
              <a:rPr sz="1250" b="0" i="0">
                <a:solidFill>
                  <a:srgbClr val="3A4A5C"/>
                </a:solidFill>
              </a:rPr>
              <a:t>試合観戦・スタジアム体験
グッズ体験・選手交流
海外ファン向け認知拡大</a:t>
            </a:r>
          </a:p>
        </p:txBody>
      </p:sp>
      <p:sp>
        <p:nvSpPr>
          <p:cNvPr id="33" name="Rectangle 32"/>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881360" cy="777240"/>
          </a:xfrm>
          <a:prstGeom prst="rect">
            <a:avLst/>
          </a:prstGeom>
          <a:noFill/>
        </p:spPr>
        <p:txBody>
          <a:bodyPr wrap="square">
            <a:spAutoFit/>
          </a:bodyPr>
          <a:lstStyle/>
          <a:p>
            <a:pPr algn="l"/>
            <a:r>
              <a:rPr sz="3000" b="1" i="0">
                <a:solidFill>
                  <a:srgbClr val="0D1F3C"/>
                </a:solidFill>
              </a:rPr>
              <a:t>Sponsorship Menu</a:t>
            </a:r>
          </a:p>
        </p:txBody>
      </p:sp>
      <p:sp>
        <p:nvSpPr>
          <p:cNvPr id="5" name="TextBox 4"/>
          <p:cNvSpPr txBox="1"/>
          <p:nvPr/>
        </p:nvSpPr>
        <p:spPr>
          <a:xfrm>
            <a:off x="640080" y="868680"/>
            <a:ext cx="10881360" cy="411480"/>
          </a:xfrm>
          <a:prstGeom prst="rect">
            <a:avLst/>
          </a:prstGeom>
          <a:noFill/>
        </p:spPr>
        <p:txBody>
          <a:bodyPr wrap="square">
            <a:spAutoFit/>
          </a:bodyPr>
          <a:lstStyle/>
          <a:p>
            <a:pPr algn="l"/>
            <a:r>
              <a:rPr sz="1300" b="0" i="0">
                <a:solidFill>
                  <a:srgbClr val="8A96AA"/>
                </a:solidFill>
              </a:rPr>
              <a:t>スポンサープラン — 参加形式と目安費用</a:t>
            </a:r>
          </a:p>
        </p:txBody>
      </p:sp>
      <p:sp>
        <p:nvSpPr>
          <p:cNvPr id="6" name="Rectangle 5"/>
          <p:cNvSpPr/>
          <p:nvPr/>
        </p:nvSpPr>
        <p:spPr>
          <a:xfrm>
            <a:off x="640080" y="1234440"/>
            <a:ext cx="10908792" cy="190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84048" y="1463040"/>
            <a:ext cx="2834640" cy="4892040"/>
          </a:xfrm>
          <a:prstGeom prst="rect">
            <a:avLst/>
          </a:prstGeom>
          <a:solidFill>
            <a:srgbClr val="FFFFFF"/>
          </a:solidFill>
          <a:ln w="19050">
            <a:solidFill>
              <a:srgbClr val="1A6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4048" y="1463040"/>
            <a:ext cx="2834640" cy="59436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481328"/>
            <a:ext cx="2651760" cy="548640"/>
          </a:xfrm>
          <a:prstGeom prst="rect">
            <a:avLst/>
          </a:prstGeom>
          <a:noFill/>
        </p:spPr>
        <p:txBody>
          <a:bodyPr wrap="square">
            <a:spAutoFit/>
          </a:bodyPr>
          <a:lstStyle/>
          <a:p>
            <a:pPr algn="l"/>
            <a:r>
              <a:rPr sz="1400" b="1" i="0">
                <a:solidFill>
                  <a:srgbClr val="FFFFFF"/>
                </a:solidFill>
              </a:rPr>
              <a:t>Venue
Sponsor</a:t>
            </a:r>
          </a:p>
        </p:txBody>
      </p:sp>
      <p:sp>
        <p:nvSpPr>
          <p:cNvPr id="11" name="TextBox 10"/>
          <p:cNvSpPr txBox="1"/>
          <p:nvPr/>
        </p:nvSpPr>
        <p:spPr>
          <a:xfrm>
            <a:off x="493776" y="2148840"/>
            <a:ext cx="2651760" cy="2743200"/>
          </a:xfrm>
          <a:prstGeom prst="rect">
            <a:avLst/>
          </a:prstGeom>
          <a:noFill/>
        </p:spPr>
        <p:txBody>
          <a:bodyPr wrap="square">
            <a:spAutoFit/>
          </a:bodyPr>
          <a:lstStyle/>
          <a:p>
            <a:pPr algn="l"/>
            <a:r>
              <a:rPr sz="1200" b="0" i="0">
                <a:solidFill>
                  <a:srgbClr val="3A4A5C"/>
                </a:solidFill>
              </a:rPr>
              <a:t>・会場提供
・ドリンク・軽食提供
・ロゴ掲載
・公式SNS紹介
・当日写真・レポート共有</a:t>
            </a:r>
          </a:p>
        </p:txBody>
      </p:sp>
      <p:sp>
        <p:nvSpPr>
          <p:cNvPr id="12" name="Rectangle 11"/>
          <p:cNvSpPr/>
          <p:nvPr/>
        </p:nvSpPr>
        <p:spPr>
          <a:xfrm>
            <a:off x="384048" y="5925312"/>
            <a:ext cx="2834640" cy="621792"/>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5943600"/>
            <a:ext cx="2834640" cy="566928"/>
          </a:xfrm>
          <a:prstGeom prst="rect">
            <a:avLst/>
          </a:prstGeom>
          <a:noFill/>
        </p:spPr>
        <p:txBody>
          <a:bodyPr wrap="square">
            <a:spAutoFit/>
          </a:bodyPr>
          <a:lstStyle/>
          <a:p>
            <a:pPr algn="ctr"/>
            <a:r>
              <a:rPr sz="1200" b="1" i="0">
                <a:solidFill>
                  <a:srgbClr val="FFFFFF"/>
                </a:solidFill>
              </a:rPr>
              <a:t>会場提供
または飲食提供</a:t>
            </a:r>
          </a:p>
        </p:txBody>
      </p:sp>
      <p:sp>
        <p:nvSpPr>
          <p:cNvPr id="14" name="Rectangle 13"/>
          <p:cNvSpPr/>
          <p:nvPr/>
        </p:nvSpPr>
        <p:spPr>
          <a:xfrm>
            <a:off x="3355848" y="1463040"/>
            <a:ext cx="2834640" cy="4892040"/>
          </a:xfrm>
          <a:prstGeom prst="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55848" y="1463040"/>
            <a:ext cx="2834640" cy="5943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65576" y="1481328"/>
            <a:ext cx="2651760" cy="548640"/>
          </a:xfrm>
          <a:prstGeom prst="rect">
            <a:avLst/>
          </a:prstGeom>
          <a:noFill/>
        </p:spPr>
        <p:txBody>
          <a:bodyPr wrap="square">
            <a:spAutoFit/>
          </a:bodyPr>
          <a:lstStyle/>
          <a:p>
            <a:pPr algn="l"/>
            <a:r>
              <a:rPr sz="1400" b="1" i="0">
                <a:solidFill>
                  <a:srgbClr val="FFFFFF"/>
                </a:solidFill>
              </a:rPr>
              <a:t>Product
Sampling</a:t>
            </a:r>
          </a:p>
        </p:txBody>
      </p:sp>
      <p:sp>
        <p:nvSpPr>
          <p:cNvPr id="17" name="TextBox 16"/>
          <p:cNvSpPr txBox="1"/>
          <p:nvPr/>
        </p:nvSpPr>
        <p:spPr>
          <a:xfrm>
            <a:off x="3465576" y="2148840"/>
            <a:ext cx="2651760" cy="2743200"/>
          </a:xfrm>
          <a:prstGeom prst="rect">
            <a:avLst/>
          </a:prstGeom>
          <a:noFill/>
        </p:spPr>
        <p:txBody>
          <a:bodyPr wrap="square">
            <a:spAutoFit/>
          </a:bodyPr>
          <a:lstStyle/>
          <a:p>
            <a:pPr algn="l"/>
            <a:r>
              <a:rPr sz="1200" b="0" i="0">
                <a:solidFill>
                  <a:srgbClr val="3A4A5C"/>
                </a:solidFill>
              </a:rPr>
              <a:t>・商品サンプリング
・体験ブース設置
・参加者への商品配布
・公式SNS紹介</a:t>
            </a:r>
          </a:p>
        </p:txBody>
      </p:sp>
      <p:sp>
        <p:nvSpPr>
          <p:cNvPr id="18" name="Rectangle 17"/>
          <p:cNvSpPr/>
          <p:nvPr/>
        </p:nvSpPr>
        <p:spPr>
          <a:xfrm>
            <a:off x="3355848" y="5925312"/>
            <a:ext cx="2834640" cy="62179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55848" y="5943600"/>
            <a:ext cx="2834640" cy="566928"/>
          </a:xfrm>
          <a:prstGeom prst="rect">
            <a:avLst/>
          </a:prstGeom>
          <a:noFill/>
        </p:spPr>
        <p:txBody>
          <a:bodyPr wrap="square">
            <a:spAutoFit/>
          </a:bodyPr>
          <a:lstStyle/>
          <a:p>
            <a:pPr algn="ctr"/>
            <a:r>
              <a:rPr sz="1200" b="1" i="0">
                <a:solidFill>
                  <a:srgbClr val="FFFFFF"/>
                </a:solidFill>
              </a:rPr>
              <a:t>商品提供
＋協賛費
5〜10万円</a:t>
            </a:r>
          </a:p>
        </p:txBody>
      </p:sp>
      <p:sp>
        <p:nvSpPr>
          <p:cNvPr id="20" name="Rectangle 19"/>
          <p:cNvSpPr/>
          <p:nvPr/>
        </p:nvSpPr>
        <p:spPr>
          <a:xfrm>
            <a:off x="6327648" y="1463040"/>
            <a:ext cx="2834640" cy="4892040"/>
          </a:xfrm>
          <a:prstGeom prst="rect">
            <a:avLst/>
          </a:prstGeom>
          <a:solidFill>
            <a:srgbClr val="FFFFFF"/>
          </a:solidFill>
          <a:ln w="19050">
            <a:solidFill>
              <a:srgbClr val="E04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27648" y="1463040"/>
            <a:ext cx="2834640" cy="594360"/>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1481328"/>
            <a:ext cx="2651760" cy="548640"/>
          </a:xfrm>
          <a:prstGeom prst="rect">
            <a:avLst/>
          </a:prstGeom>
          <a:noFill/>
        </p:spPr>
        <p:txBody>
          <a:bodyPr wrap="square">
            <a:spAutoFit/>
          </a:bodyPr>
          <a:lstStyle/>
          <a:p>
            <a:pPr algn="l"/>
            <a:r>
              <a:rPr sz="1400" b="1" i="0">
                <a:solidFill>
                  <a:srgbClr val="FFFFFF"/>
                </a:solidFill>
              </a:rPr>
              <a:t>Main
Sponsor</a:t>
            </a:r>
          </a:p>
        </p:txBody>
      </p:sp>
      <p:sp>
        <p:nvSpPr>
          <p:cNvPr id="23" name="TextBox 22"/>
          <p:cNvSpPr txBox="1"/>
          <p:nvPr/>
        </p:nvSpPr>
        <p:spPr>
          <a:xfrm>
            <a:off x="6437376" y="2148840"/>
            <a:ext cx="2651760" cy="2743200"/>
          </a:xfrm>
          <a:prstGeom prst="rect">
            <a:avLst/>
          </a:prstGeom>
          <a:noFill/>
        </p:spPr>
        <p:txBody>
          <a:bodyPr wrap="square">
            <a:spAutoFit/>
          </a:bodyPr>
          <a:lstStyle/>
          <a:p>
            <a:pPr algn="l"/>
            <a:r>
              <a:rPr sz="1200" b="0" i="0">
                <a:solidFill>
                  <a:srgbClr val="3A4A5C"/>
                </a:solidFill>
              </a:rPr>
              <a:t>・イベントメイン協賛
・会場内ブランド露出
・1分ブランド紹介
・公式レポート投稿
・クリエイター交流機会</a:t>
            </a:r>
          </a:p>
        </p:txBody>
      </p:sp>
      <p:sp>
        <p:nvSpPr>
          <p:cNvPr id="24" name="Rectangle 23"/>
          <p:cNvSpPr/>
          <p:nvPr/>
        </p:nvSpPr>
        <p:spPr>
          <a:xfrm>
            <a:off x="6327648" y="5925312"/>
            <a:ext cx="2834640" cy="621792"/>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27648" y="5943600"/>
            <a:ext cx="2834640" cy="566928"/>
          </a:xfrm>
          <a:prstGeom prst="rect">
            <a:avLst/>
          </a:prstGeom>
          <a:noFill/>
        </p:spPr>
        <p:txBody>
          <a:bodyPr wrap="square">
            <a:spAutoFit/>
          </a:bodyPr>
          <a:lstStyle/>
          <a:p>
            <a:pPr algn="ctr"/>
            <a:r>
              <a:rPr sz="1200" b="1" i="0">
                <a:solidFill>
                  <a:srgbClr val="FFFFFF"/>
                </a:solidFill>
              </a:rPr>
              <a:t>15万〜
30万円</a:t>
            </a:r>
          </a:p>
        </p:txBody>
      </p:sp>
      <p:sp>
        <p:nvSpPr>
          <p:cNvPr id="26" name="Rectangle 25"/>
          <p:cNvSpPr/>
          <p:nvPr/>
        </p:nvSpPr>
        <p:spPr>
          <a:xfrm>
            <a:off x="9299448" y="1463040"/>
            <a:ext cx="2834640" cy="4892040"/>
          </a:xfrm>
          <a:prstGeom prst="rect">
            <a:avLst/>
          </a:prstGeom>
          <a:solidFill>
            <a:srgbClr val="FFFFFF"/>
          </a:solidFill>
          <a:ln w="19050">
            <a:solidFill>
              <a:srgbClr val="F0A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299448" y="1463040"/>
            <a:ext cx="2834640" cy="594360"/>
          </a:xfrm>
          <a:prstGeom prst="rect">
            <a:avLst/>
          </a:prstGeom>
          <a:solidFill>
            <a:srgbClr val="F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09176" y="1481328"/>
            <a:ext cx="2651760" cy="548640"/>
          </a:xfrm>
          <a:prstGeom prst="rect">
            <a:avLst/>
          </a:prstGeom>
          <a:noFill/>
        </p:spPr>
        <p:txBody>
          <a:bodyPr wrap="square">
            <a:spAutoFit/>
          </a:bodyPr>
          <a:lstStyle/>
          <a:p>
            <a:pPr algn="l"/>
            <a:r>
              <a:rPr sz="1400" b="1" i="0">
                <a:solidFill>
                  <a:srgbClr val="FFFFFF"/>
                </a:solidFill>
              </a:rPr>
              <a:t>Title
Sponsor</a:t>
            </a:r>
          </a:p>
        </p:txBody>
      </p:sp>
      <p:sp>
        <p:nvSpPr>
          <p:cNvPr id="29" name="TextBox 28"/>
          <p:cNvSpPr txBox="1"/>
          <p:nvPr/>
        </p:nvSpPr>
        <p:spPr>
          <a:xfrm>
            <a:off x="9409176" y="2148840"/>
            <a:ext cx="2651760" cy="2743200"/>
          </a:xfrm>
          <a:prstGeom prst="rect">
            <a:avLst/>
          </a:prstGeom>
          <a:noFill/>
        </p:spPr>
        <p:txBody>
          <a:bodyPr wrap="square">
            <a:spAutoFit/>
          </a:bodyPr>
          <a:lstStyle/>
          <a:p>
            <a:pPr algn="l"/>
            <a:r>
              <a:rPr sz="1200" b="0" i="0">
                <a:solidFill>
                  <a:srgbClr val="3A4A5C"/>
                </a:solidFill>
              </a:rPr>
              <a:t>・イベント名への冠掲載
・トップスポンサー掲載
・企画設計から共同実施
・クリエイター体験導線設計
・インフルエンサー施策相談</a:t>
            </a:r>
          </a:p>
        </p:txBody>
      </p:sp>
      <p:sp>
        <p:nvSpPr>
          <p:cNvPr id="30" name="Rectangle 29"/>
          <p:cNvSpPr/>
          <p:nvPr/>
        </p:nvSpPr>
        <p:spPr>
          <a:xfrm>
            <a:off x="9299448" y="5925312"/>
            <a:ext cx="2834640" cy="621792"/>
          </a:xfrm>
          <a:prstGeom prst="rect">
            <a:avLst/>
          </a:prstGeom>
          <a:solidFill>
            <a:srgbClr val="F0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99448" y="5943600"/>
            <a:ext cx="2834640" cy="566928"/>
          </a:xfrm>
          <a:prstGeom prst="rect">
            <a:avLst/>
          </a:prstGeom>
          <a:noFill/>
        </p:spPr>
        <p:txBody>
          <a:bodyPr wrap="square">
            <a:spAutoFit/>
          </a:bodyPr>
          <a:lstStyle/>
          <a:p>
            <a:pPr algn="ctr"/>
            <a:r>
              <a:rPr sz="1200" b="1" i="0">
                <a:solidFill>
                  <a:srgbClr val="FFFFFF"/>
                </a:solidFill>
              </a:rPr>
              <a:t>30万〜
50万円以上</a:t>
            </a:r>
          </a:p>
        </p:txBody>
      </p:sp>
      <p:sp>
        <p:nvSpPr>
          <p:cNvPr id="32" name="TextBox 31"/>
          <p:cNvSpPr txBox="1"/>
          <p:nvPr/>
        </p:nvSpPr>
        <p:spPr>
          <a:xfrm>
            <a:off x="502920" y="6510528"/>
            <a:ext cx="11430000" cy="274320"/>
          </a:xfrm>
          <a:prstGeom prst="rect">
            <a:avLst/>
          </a:prstGeom>
          <a:noFill/>
        </p:spPr>
        <p:txBody>
          <a:bodyPr wrap="square">
            <a:spAutoFit/>
          </a:bodyPr>
          <a:lstStyle/>
          <a:p>
            <a:pPr algn="l"/>
            <a:r>
              <a:rPr sz="900" b="0" i="1">
                <a:solidFill>
                  <a:srgbClr val="8A96AA"/>
                </a:solidFill>
              </a:rPr>
              <a:t>※料金は提案用の目安です。確定料金は開催規模・会場・提供内容により個別見積もりとなります。</a:t>
            </a:r>
          </a:p>
        </p:txBody>
      </p:sp>
      <p:sp>
        <p:nvSpPr>
          <p:cNvPr id="33" name="Rectangle 32"/>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881360" cy="777240"/>
          </a:xfrm>
          <a:prstGeom prst="rect">
            <a:avLst/>
          </a:prstGeom>
          <a:noFill/>
        </p:spPr>
        <p:txBody>
          <a:bodyPr wrap="square">
            <a:spAutoFit/>
          </a:bodyPr>
          <a:lstStyle/>
          <a:p>
            <a:pPr algn="l"/>
            <a:r>
              <a:rPr sz="2800" b="1" i="0">
                <a:solidFill>
                  <a:srgbClr val="0D1F3C"/>
                </a:solidFill>
              </a:rPr>
              <a:t>自然なUGCを生み出す設計</a:t>
            </a:r>
          </a:p>
        </p:txBody>
      </p:sp>
      <p:sp>
        <p:nvSpPr>
          <p:cNvPr id="5" name="TextBox 4"/>
          <p:cNvSpPr txBox="1"/>
          <p:nvPr/>
        </p:nvSpPr>
        <p:spPr>
          <a:xfrm>
            <a:off x="640080" y="868680"/>
            <a:ext cx="10881360" cy="411480"/>
          </a:xfrm>
          <a:prstGeom prst="rect">
            <a:avLst/>
          </a:prstGeom>
          <a:noFill/>
        </p:spPr>
        <p:txBody>
          <a:bodyPr wrap="square">
            <a:spAutoFit/>
          </a:bodyPr>
          <a:lstStyle/>
          <a:p>
            <a:pPr algn="l"/>
            <a:r>
              <a:rPr sz="1300" b="0" i="0">
                <a:solidFill>
                  <a:srgbClr val="8A96AA"/>
                </a:solidFill>
              </a:rPr>
              <a:t>投稿・露出について — SNS Exposure Design</a:t>
            </a:r>
          </a:p>
        </p:txBody>
      </p:sp>
      <p:sp>
        <p:nvSpPr>
          <p:cNvPr id="6" name="Rectangle 5"/>
          <p:cNvSpPr/>
          <p:nvPr/>
        </p:nvSpPr>
        <p:spPr>
          <a:xfrm>
            <a:off x="640080" y="1234440"/>
            <a:ext cx="10908792" cy="190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508760"/>
            <a:ext cx="11201400" cy="868680"/>
          </a:xfrm>
          <a:prstGeom prst="rect">
            <a:avLst/>
          </a:prstGeom>
          <a:solidFill>
            <a:srgbClr val="F7F8FC"/>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508760"/>
            <a:ext cx="54864" cy="86868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1600200"/>
            <a:ext cx="548640" cy="640080"/>
          </a:xfrm>
          <a:prstGeom prst="rect">
            <a:avLst/>
          </a:prstGeom>
          <a:noFill/>
        </p:spPr>
        <p:txBody>
          <a:bodyPr wrap="square">
            <a:spAutoFit/>
          </a:bodyPr>
          <a:lstStyle/>
          <a:p>
            <a:pPr algn="l"/>
            <a:r>
              <a:rPr sz="2000" b="0" i="0">
                <a:solidFill>
                  <a:srgbClr val="3A4A5C"/>
                </a:solidFill>
              </a:rPr>
              <a:t>📸</a:t>
            </a:r>
          </a:p>
        </p:txBody>
      </p:sp>
      <p:sp>
        <p:nvSpPr>
          <p:cNvPr id="11" name="TextBox 10"/>
          <p:cNvSpPr txBox="1"/>
          <p:nvPr/>
        </p:nvSpPr>
        <p:spPr>
          <a:xfrm>
            <a:off x="1325880" y="1600200"/>
            <a:ext cx="3474720" cy="411480"/>
          </a:xfrm>
          <a:prstGeom prst="rect">
            <a:avLst/>
          </a:prstGeom>
          <a:noFill/>
        </p:spPr>
        <p:txBody>
          <a:bodyPr wrap="square">
            <a:spAutoFit/>
          </a:bodyPr>
          <a:lstStyle/>
          <a:p>
            <a:pPr algn="l"/>
            <a:r>
              <a:rPr sz="1400" b="1" i="0">
                <a:solidFill>
                  <a:srgbClr val="0D1F3C"/>
                </a:solidFill>
              </a:rPr>
              <a:t>撮影しやすい導線</a:t>
            </a:r>
          </a:p>
        </p:txBody>
      </p:sp>
      <p:sp>
        <p:nvSpPr>
          <p:cNvPr id="12" name="TextBox 11"/>
          <p:cNvSpPr txBox="1"/>
          <p:nvPr/>
        </p:nvSpPr>
        <p:spPr>
          <a:xfrm>
            <a:off x="4937760" y="1600200"/>
            <a:ext cx="6629400" cy="685800"/>
          </a:xfrm>
          <a:prstGeom prst="rect">
            <a:avLst/>
          </a:prstGeom>
          <a:noFill/>
        </p:spPr>
        <p:txBody>
          <a:bodyPr wrap="square">
            <a:spAutoFit/>
          </a:bodyPr>
          <a:lstStyle/>
          <a:p>
            <a:pPr algn="l"/>
            <a:r>
              <a:rPr sz="1250" b="0" i="0">
                <a:solidFill>
                  <a:srgbClr val="3A4A5C"/>
                </a:solidFill>
              </a:rPr>
              <a:t>ブランド体験・フォトスポット・商品展示を設計し、自然に写真・動画が生まれる環境を用意します。</a:t>
            </a:r>
          </a:p>
        </p:txBody>
      </p:sp>
      <p:sp>
        <p:nvSpPr>
          <p:cNvPr id="13" name="Rectangle 12"/>
          <p:cNvSpPr/>
          <p:nvPr/>
        </p:nvSpPr>
        <p:spPr>
          <a:xfrm>
            <a:off x="502920" y="2487168"/>
            <a:ext cx="11201400" cy="868680"/>
          </a:xfrm>
          <a:prstGeom prst="rect">
            <a:avLst/>
          </a:prstGeom>
          <a:solidFill>
            <a:srgbClr val="F7F8FC"/>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2487168"/>
            <a:ext cx="54864" cy="8686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578608"/>
            <a:ext cx="548640" cy="640080"/>
          </a:xfrm>
          <a:prstGeom prst="rect">
            <a:avLst/>
          </a:prstGeom>
          <a:noFill/>
        </p:spPr>
        <p:txBody>
          <a:bodyPr wrap="square">
            <a:spAutoFit/>
          </a:bodyPr>
          <a:lstStyle/>
          <a:p>
            <a:pPr algn="l"/>
            <a:r>
              <a:rPr sz="2000" b="0" i="0">
                <a:solidFill>
                  <a:srgbClr val="3A4A5C"/>
                </a:solidFill>
              </a:rPr>
              <a:t>🎉</a:t>
            </a:r>
          </a:p>
        </p:txBody>
      </p:sp>
      <p:sp>
        <p:nvSpPr>
          <p:cNvPr id="16" name="TextBox 15"/>
          <p:cNvSpPr txBox="1"/>
          <p:nvPr/>
        </p:nvSpPr>
        <p:spPr>
          <a:xfrm>
            <a:off x="1325880" y="2578608"/>
            <a:ext cx="3474720" cy="411480"/>
          </a:xfrm>
          <a:prstGeom prst="rect">
            <a:avLst/>
          </a:prstGeom>
          <a:noFill/>
        </p:spPr>
        <p:txBody>
          <a:bodyPr wrap="square">
            <a:spAutoFit/>
          </a:bodyPr>
          <a:lstStyle/>
          <a:p>
            <a:pPr algn="l"/>
            <a:r>
              <a:rPr sz="1400" b="1" i="0">
                <a:solidFill>
                  <a:srgbClr val="0D1F3C"/>
                </a:solidFill>
              </a:rPr>
              <a:t>体験コンテンツ</a:t>
            </a:r>
          </a:p>
        </p:txBody>
      </p:sp>
      <p:sp>
        <p:nvSpPr>
          <p:cNvPr id="17" name="TextBox 16"/>
          <p:cNvSpPr txBox="1"/>
          <p:nvPr/>
        </p:nvSpPr>
        <p:spPr>
          <a:xfrm>
            <a:off x="4937760" y="2578608"/>
            <a:ext cx="6629400" cy="685800"/>
          </a:xfrm>
          <a:prstGeom prst="rect">
            <a:avLst/>
          </a:prstGeom>
          <a:noFill/>
        </p:spPr>
        <p:txBody>
          <a:bodyPr wrap="square">
            <a:spAutoFit/>
          </a:bodyPr>
          <a:lstStyle/>
          <a:p>
            <a:pPr algn="l"/>
            <a:r>
              <a:rPr sz="1250" b="0" i="0">
                <a:solidFill>
                  <a:srgbClr val="3A4A5C"/>
                </a:solidFill>
              </a:rPr>
              <a:t>商品サンプリング・試食・交流企画を通じて、クリエイターが「投稿したくなる」体験を提供します。</a:t>
            </a:r>
          </a:p>
        </p:txBody>
      </p:sp>
      <p:sp>
        <p:nvSpPr>
          <p:cNvPr id="18" name="Rectangle 17"/>
          <p:cNvSpPr/>
          <p:nvPr/>
        </p:nvSpPr>
        <p:spPr>
          <a:xfrm>
            <a:off x="502920" y="3465576"/>
            <a:ext cx="11201400" cy="868680"/>
          </a:xfrm>
          <a:prstGeom prst="rect">
            <a:avLst/>
          </a:prstGeom>
          <a:solidFill>
            <a:srgbClr val="F7F8FC"/>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465576"/>
            <a:ext cx="54864" cy="868680"/>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557016"/>
            <a:ext cx="548640" cy="640080"/>
          </a:xfrm>
          <a:prstGeom prst="rect">
            <a:avLst/>
          </a:prstGeom>
          <a:noFill/>
        </p:spPr>
        <p:txBody>
          <a:bodyPr wrap="square">
            <a:spAutoFit/>
          </a:bodyPr>
          <a:lstStyle/>
          <a:p>
            <a:pPr algn="l"/>
            <a:r>
              <a:rPr sz="2000" b="0" i="0">
                <a:solidFill>
                  <a:srgbClr val="3A4A5C"/>
                </a:solidFill>
              </a:rPr>
              <a:t>📢</a:t>
            </a:r>
          </a:p>
        </p:txBody>
      </p:sp>
      <p:sp>
        <p:nvSpPr>
          <p:cNvPr id="21" name="TextBox 20"/>
          <p:cNvSpPr txBox="1"/>
          <p:nvPr/>
        </p:nvSpPr>
        <p:spPr>
          <a:xfrm>
            <a:off x="1325880" y="3557016"/>
            <a:ext cx="3474720" cy="411480"/>
          </a:xfrm>
          <a:prstGeom prst="rect">
            <a:avLst/>
          </a:prstGeom>
          <a:noFill/>
        </p:spPr>
        <p:txBody>
          <a:bodyPr wrap="square">
            <a:spAutoFit/>
          </a:bodyPr>
          <a:lstStyle/>
          <a:p>
            <a:pPr algn="l"/>
            <a:r>
              <a:rPr sz="1400" b="1" i="0">
                <a:solidFill>
                  <a:srgbClr val="0D1F3C"/>
                </a:solidFill>
              </a:rPr>
              <a:t>公式アカウント発信</a:t>
            </a:r>
          </a:p>
        </p:txBody>
      </p:sp>
      <p:sp>
        <p:nvSpPr>
          <p:cNvPr id="22" name="TextBox 21"/>
          <p:cNvSpPr txBox="1"/>
          <p:nvPr/>
        </p:nvSpPr>
        <p:spPr>
          <a:xfrm>
            <a:off x="4937760" y="3557016"/>
            <a:ext cx="6629400" cy="685800"/>
          </a:xfrm>
          <a:prstGeom prst="rect">
            <a:avLst/>
          </a:prstGeom>
          <a:noFill/>
        </p:spPr>
        <p:txBody>
          <a:bodyPr wrap="square">
            <a:spAutoFit/>
          </a:bodyPr>
          <a:lstStyle/>
          <a:p>
            <a:pPr algn="l"/>
            <a:r>
              <a:rPr sz="1250" b="0" i="0">
                <a:solidFill>
                  <a:srgbClr val="3A4A5C"/>
                </a:solidFill>
              </a:rPr>
              <a:t>イベントレポートを公式SNSアカウントで投稿。スポンサー企業・会場・提供商品を紹介します。</a:t>
            </a:r>
          </a:p>
        </p:txBody>
      </p:sp>
      <p:sp>
        <p:nvSpPr>
          <p:cNvPr id="23" name="Rectangle 22"/>
          <p:cNvSpPr/>
          <p:nvPr/>
        </p:nvSpPr>
        <p:spPr>
          <a:xfrm>
            <a:off x="502920" y="4443983"/>
            <a:ext cx="11201400" cy="868680"/>
          </a:xfrm>
          <a:prstGeom prst="rect">
            <a:avLst/>
          </a:prstGeom>
          <a:solidFill>
            <a:srgbClr val="F7F8FC"/>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4443983"/>
            <a:ext cx="54864" cy="868680"/>
          </a:xfrm>
          <a:prstGeom prst="rect">
            <a:avLst/>
          </a:prstGeom>
          <a:solidFill>
            <a:srgbClr val="0B9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4535423"/>
            <a:ext cx="548640" cy="640080"/>
          </a:xfrm>
          <a:prstGeom prst="rect">
            <a:avLst/>
          </a:prstGeom>
          <a:noFill/>
        </p:spPr>
        <p:txBody>
          <a:bodyPr wrap="square">
            <a:spAutoFit/>
          </a:bodyPr>
          <a:lstStyle/>
          <a:p>
            <a:pPr algn="l"/>
            <a:r>
              <a:rPr sz="2000" b="0" i="0">
                <a:solidFill>
                  <a:srgbClr val="3A4A5C"/>
                </a:solidFill>
              </a:rPr>
              <a:t>🔗</a:t>
            </a:r>
          </a:p>
        </p:txBody>
      </p:sp>
      <p:sp>
        <p:nvSpPr>
          <p:cNvPr id="26" name="TextBox 25"/>
          <p:cNvSpPr txBox="1"/>
          <p:nvPr/>
        </p:nvSpPr>
        <p:spPr>
          <a:xfrm>
            <a:off x="1325880" y="4535423"/>
            <a:ext cx="3474720" cy="411480"/>
          </a:xfrm>
          <a:prstGeom prst="rect">
            <a:avLst/>
          </a:prstGeom>
          <a:noFill/>
        </p:spPr>
        <p:txBody>
          <a:bodyPr wrap="square">
            <a:spAutoFit/>
          </a:bodyPr>
          <a:lstStyle/>
          <a:p>
            <a:pPr algn="l"/>
            <a:r>
              <a:rPr sz="1400" b="1" i="0">
                <a:solidFill>
                  <a:srgbClr val="0D1F3C"/>
                </a:solidFill>
              </a:rPr>
              <a:t>任意投稿を促進</a:t>
            </a:r>
          </a:p>
        </p:txBody>
      </p:sp>
      <p:sp>
        <p:nvSpPr>
          <p:cNvPr id="27" name="TextBox 26"/>
          <p:cNvSpPr txBox="1"/>
          <p:nvPr/>
        </p:nvSpPr>
        <p:spPr>
          <a:xfrm>
            <a:off x="4937760" y="4535423"/>
            <a:ext cx="6629400" cy="685800"/>
          </a:xfrm>
          <a:prstGeom prst="rect">
            <a:avLst/>
          </a:prstGeom>
          <a:noFill/>
        </p:spPr>
        <p:txBody>
          <a:bodyPr wrap="square">
            <a:spAutoFit/>
          </a:bodyPr>
          <a:lstStyle/>
          <a:p>
            <a:pPr algn="l"/>
            <a:r>
              <a:rPr sz="1250" b="0" i="0">
                <a:solidFill>
                  <a:srgbClr val="3A4A5C"/>
                </a:solidFill>
              </a:rPr>
              <a:t>参加クリエイターへの自然な体験提供により、任意投稿・UGCの創出を促進する導線を設計します。</a:t>
            </a:r>
          </a:p>
        </p:txBody>
      </p:sp>
      <p:sp>
        <p:nvSpPr>
          <p:cNvPr id="28" name="Rectangle 27"/>
          <p:cNvSpPr/>
          <p:nvPr/>
        </p:nvSpPr>
        <p:spPr>
          <a:xfrm>
            <a:off x="502920" y="5422392"/>
            <a:ext cx="11201400" cy="868680"/>
          </a:xfrm>
          <a:prstGeom prst="rect">
            <a:avLst/>
          </a:prstGeom>
          <a:solidFill>
            <a:srgbClr val="F7F8FC"/>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5422392"/>
            <a:ext cx="54864" cy="868680"/>
          </a:xfrm>
          <a:prstGeom prst="rect">
            <a:avLst/>
          </a:prstGeom>
          <a:solidFill>
            <a:srgbClr val="8A96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5513832"/>
            <a:ext cx="548640" cy="640080"/>
          </a:xfrm>
          <a:prstGeom prst="rect">
            <a:avLst/>
          </a:prstGeom>
          <a:noFill/>
        </p:spPr>
        <p:txBody>
          <a:bodyPr wrap="square">
            <a:spAutoFit/>
          </a:bodyPr>
          <a:lstStyle/>
          <a:p>
            <a:pPr algn="l"/>
            <a:r>
              <a:rPr sz="2000" b="0" i="0">
                <a:solidFill>
                  <a:srgbClr val="3A4A5C"/>
                </a:solidFill>
              </a:rPr>
              <a:t>⭐</a:t>
            </a:r>
          </a:p>
        </p:txBody>
      </p:sp>
      <p:sp>
        <p:nvSpPr>
          <p:cNvPr id="31" name="TextBox 30"/>
          <p:cNvSpPr txBox="1"/>
          <p:nvPr/>
        </p:nvSpPr>
        <p:spPr>
          <a:xfrm>
            <a:off x="1325880" y="5513832"/>
            <a:ext cx="3474720" cy="411480"/>
          </a:xfrm>
          <a:prstGeom prst="rect">
            <a:avLst/>
          </a:prstGeom>
          <a:noFill/>
        </p:spPr>
        <p:txBody>
          <a:bodyPr wrap="square">
            <a:spAutoFit/>
          </a:bodyPr>
          <a:lstStyle/>
          <a:p>
            <a:pPr algn="l"/>
            <a:r>
              <a:rPr sz="1400" b="1" i="0">
                <a:solidFill>
                  <a:srgbClr val="0D1F3C"/>
                </a:solidFill>
              </a:rPr>
              <a:t>投稿保証オプション</a:t>
            </a:r>
          </a:p>
        </p:txBody>
      </p:sp>
      <p:sp>
        <p:nvSpPr>
          <p:cNvPr id="32" name="TextBox 31"/>
          <p:cNvSpPr txBox="1"/>
          <p:nvPr/>
        </p:nvSpPr>
        <p:spPr>
          <a:xfrm>
            <a:off x="4937760" y="5513832"/>
            <a:ext cx="6629400" cy="685800"/>
          </a:xfrm>
          <a:prstGeom prst="rect">
            <a:avLst/>
          </a:prstGeom>
          <a:noFill/>
        </p:spPr>
        <p:txBody>
          <a:bodyPr wrap="square">
            <a:spAutoFit/>
          </a:bodyPr>
          <a:lstStyle/>
          <a:p>
            <a:pPr algn="l"/>
            <a:r>
              <a:rPr sz="1250" b="0" i="0">
                <a:solidFill>
                  <a:srgbClr val="3A4A5C"/>
                </a:solidFill>
              </a:rPr>
              <a:t>投稿数・リーチを保証するキャスティング施策は、別途有料オプションとして設計可能です。</a:t>
            </a:r>
          </a:p>
        </p:txBody>
      </p:sp>
      <p:sp>
        <p:nvSpPr>
          <p:cNvPr id="33" name="TextBox 32"/>
          <p:cNvSpPr txBox="1"/>
          <p:nvPr/>
        </p:nvSpPr>
        <p:spPr>
          <a:xfrm>
            <a:off x="502920" y="6492240"/>
            <a:ext cx="11430000" cy="320040"/>
          </a:xfrm>
          <a:prstGeom prst="rect">
            <a:avLst/>
          </a:prstGeom>
          <a:noFill/>
        </p:spPr>
        <p:txBody>
          <a:bodyPr wrap="square">
            <a:spAutoFit/>
          </a:bodyPr>
          <a:lstStyle/>
          <a:p>
            <a:pPr algn="l"/>
            <a:r>
              <a:rPr sz="900" b="0" i="1">
                <a:solidFill>
                  <a:srgbClr val="8A96AA"/>
                </a:solidFill>
              </a:rPr>
              <a:t>※参加者の個別投稿は任意であり、投稿本数・再生数を保証するものではありません。投稿保証型PRは別途有料施策としてご提案可能です。</a:t>
            </a:r>
          </a:p>
        </p:txBody>
      </p:sp>
      <p:sp>
        <p:nvSpPr>
          <p:cNvPr id="34" name="Rectangle 33"/>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881360" cy="777240"/>
          </a:xfrm>
          <a:prstGeom prst="rect">
            <a:avLst/>
          </a:prstGeom>
          <a:noFill/>
        </p:spPr>
        <p:txBody>
          <a:bodyPr wrap="square">
            <a:spAutoFit/>
          </a:bodyPr>
          <a:lstStyle/>
          <a:p>
            <a:pPr algn="l"/>
            <a:r>
              <a:rPr sz="3000" b="1" i="0">
                <a:solidFill>
                  <a:srgbClr val="0D1F3C"/>
                </a:solidFill>
              </a:rPr>
              <a:t>イベント当日の流れ</a:t>
            </a:r>
          </a:p>
        </p:txBody>
      </p:sp>
      <p:sp>
        <p:nvSpPr>
          <p:cNvPr id="5" name="TextBox 4"/>
          <p:cNvSpPr txBox="1"/>
          <p:nvPr/>
        </p:nvSpPr>
        <p:spPr>
          <a:xfrm>
            <a:off x="640080" y="868680"/>
            <a:ext cx="10881360" cy="411480"/>
          </a:xfrm>
          <a:prstGeom prst="rect">
            <a:avLst/>
          </a:prstGeom>
          <a:noFill/>
        </p:spPr>
        <p:txBody>
          <a:bodyPr wrap="square">
            <a:spAutoFit/>
          </a:bodyPr>
          <a:lstStyle/>
          <a:p>
            <a:pPr algn="l"/>
            <a:r>
              <a:rPr sz="1300" b="0" i="0">
                <a:solidFill>
                  <a:srgbClr val="8A96AA"/>
                </a:solidFill>
              </a:rPr>
              <a:t>Event Flow</a:t>
            </a:r>
          </a:p>
        </p:txBody>
      </p:sp>
      <p:sp>
        <p:nvSpPr>
          <p:cNvPr id="6" name="Rectangle 5"/>
          <p:cNvSpPr/>
          <p:nvPr/>
        </p:nvSpPr>
        <p:spPr>
          <a:xfrm>
            <a:off x="640080" y="1234440"/>
            <a:ext cx="10908792" cy="190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84048" y="1463040"/>
            <a:ext cx="2834640" cy="2423160"/>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4048" y="1463040"/>
            <a:ext cx="2834640" cy="41148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508760"/>
            <a:ext cx="2606040" cy="347472"/>
          </a:xfrm>
          <a:prstGeom prst="rect">
            <a:avLst/>
          </a:prstGeom>
          <a:noFill/>
        </p:spPr>
        <p:txBody>
          <a:bodyPr wrap="square">
            <a:spAutoFit/>
          </a:bodyPr>
          <a:lstStyle/>
          <a:p>
            <a:pPr algn="l"/>
            <a:r>
              <a:rPr sz="1600" b="1" i="0">
                <a:solidFill>
                  <a:srgbClr val="FFFFFF"/>
                </a:solidFill>
              </a:rPr>
              <a:t>01</a:t>
            </a:r>
          </a:p>
        </p:txBody>
      </p:sp>
      <p:sp>
        <p:nvSpPr>
          <p:cNvPr id="11" name="TextBox 10"/>
          <p:cNvSpPr txBox="1"/>
          <p:nvPr/>
        </p:nvSpPr>
        <p:spPr>
          <a:xfrm>
            <a:off x="493776" y="1965960"/>
            <a:ext cx="2606040" cy="685800"/>
          </a:xfrm>
          <a:prstGeom prst="rect">
            <a:avLst/>
          </a:prstGeom>
          <a:noFill/>
        </p:spPr>
        <p:txBody>
          <a:bodyPr wrap="square">
            <a:spAutoFit/>
          </a:bodyPr>
          <a:lstStyle/>
          <a:p>
            <a:pPr algn="l"/>
            <a:r>
              <a:rPr sz="1400" b="1" i="0">
                <a:solidFill>
                  <a:srgbClr val="0D1F3C"/>
                </a:solidFill>
              </a:rPr>
              <a:t>受付・チェックイン</a:t>
            </a:r>
          </a:p>
        </p:txBody>
      </p:sp>
      <p:sp>
        <p:nvSpPr>
          <p:cNvPr id="12" name="TextBox 11"/>
          <p:cNvSpPr txBox="1"/>
          <p:nvPr/>
        </p:nvSpPr>
        <p:spPr>
          <a:xfrm>
            <a:off x="493776" y="2697480"/>
            <a:ext cx="2606040" cy="1097280"/>
          </a:xfrm>
          <a:prstGeom prst="rect">
            <a:avLst/>
          </a:prstGeom>
          <a:noFill/>
        </p:spPr>
        <p:txBody>
          <a:bodyPr wrap="square">
            <a:spAutoFit/>
          </a:bodyPr>
          <a:lstStyle/>
          <a:p>
            <a:pPr algn="l"/>
            <a:r>
              <a:rPr sz="1200" b="0" i="0">
                <a:solidFill>
                  <a:srgbClr val="3A4A5C"/>
                </a:solidFill>
              </a:rPr>
              <a:t>名札配布・参加確認</a:t>
            </a:r>
          </a:p>
        </p:txBody>
      </p:sp>
      <p:sp>
        <p:nvSpPr>
          <p:cNvPr id="13" name="Rectangle 12"/>
          <p:cNvSpPr/>
          <p:nvPr/>
        </p:nvSpPr>
        <p:spPr>
          <a:xfrm>
            <a:off x="3355848" y="1463040"/>
            <a:ext cx="2834640" cy="2423160"/>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55848" y="1463040"/>
            <a:ext cx="2834640" cy="4114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65576" y="1508760"/>
            <a:ext cx="2606040" cy="347472"/>
          </a:xfrm>
          <a:prstGeom prst="rect">
            <a:avLst/>
          </a:prstGeom>
          <a:noFill/>
        </p:spPr>
        <p:txBody>
          <a:bodyPr wrap="square">
            <a:spAutoFit/>
          </a:bodyPr>
          <a:lstStyle/>
          <a:p>
            <a:pPr algn="l"/>
            <a:r>
              <a:rPr sz="1600" b="1" i="0">
                <a:solidFill>
                  <a:srgbClr val="FFFFFF"/>
                </a:solidFill>
              </a:rPr>
              <a:t>02</a:t>
            </a:r>
          </a:p>
        </p:txBody>
      </p:sp>
      <p:sp>
        <p:nvSpPr>
          <p:cNvPr id="16" name="TextBox 15"/>
          <p:cNvSpPr txBox="1"/>
          <p:nvPr/>
        </p:nvSpPr>
        <p:spPr>
          <a:xfrm>
            <a:off x="3465576" y="1965960"/>
            <a:ext cx="2606040" cy="685800"/>
          </a:xfrm>
          <a:prstGeom prst="rect">
            <a:avLst/>
          </a:prstGeom>
          <a:noFill/>
        </p:spPr>
        <p:txBody>
          <a:bodyPr wrap="square">
            <a:spAutoFit/>
          </a:bodyPr>
          <a:lstStyle/>
          <a:p>
            <a:pPr algn="l"/>
            <a:r>
              <a:rPr sz="1400" b="1" i="0">
                <a:solidFill>
                  <a:srgbClr val="0D1F3C"/>
                </a:solidFill>
              </a:rPr>
              <a:t>ウェルカムドリンク</a:t>
            </a:r>
          </a:p>
        </p:txBody>
      </p:sp>
      <p:sp>
        <p:nvSpPr>
          <p:cNvPr id="17" name="TextBox 16"/>
          <p:cNvSpPr txBox="1"/>
          <p:nvPr/>
        </p:nvSpPr>
        <p:spPr>
          <a:xfrm>
            <a:off x="3465576" y="2697480"/>
            <a:ext cx="2606040" cy="1097280"/>
          </a:xfrm>
          <a:prstGeom prst="rect">
            <a:avLst/>
          </a:prstGeom>
          <a:noFill/>
        </p:spPr>
        <p:txBody>
          <a:bodyPr wrap="square">
            <a:spAutoFit/>
          </a:bodyPr>
          <a:lstStyle/>
          <a:p>
            <a:pPr algn="l"/>
            <a:r>
              <a:rPr sz="1200" b="0" i="0">
                <a:solidFill>
                  <a:srgbClr val="3A4A5C"/>
                </a:solidFill>
              </a:rPr>
              <a:t>スポンサー提供ドリンクで乾杯</a:t>
            </a:r>
          </a:p>
        </p:txBody>
      </p:sp>
      <p:sp>
        <p:nvSpPr>
          <p:cNvPr id="18" name="Rectangle 17"/>
          <p:cNvSpPr/>
          <p:nvPr/>
        </p:nvSpPr>
        <p:spPr>
          <a:xfrm>
            <a:off x="6327648" y="1463040"/>
            <a:ext cx="2834640" cy="2423160"/>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27648" y="1463040"/>
            <a:ext cx="2834640" cy="411480"/>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6" y="1508760"/>
            <a:ext cx="2606040" cy="347472"/>
          </a:xfrm>
          <a:prstGeom prst="rect">
            <a:avLst/>
          </a:prstGeom>
          <a:noFill/>
        </p:spPr>
        <p:txBody>
          <a:bodyPr wrap="square">
            <a:spAutoFit/>
          </a:bodyPr>
          <a:lstStyle/>
          <a:p>
            <a:pPr algn="l"/>
            <a:r>
              <a:rPr sz="1600" b="1" i="0">
                <a:solidFill>
                  <a:srgbClr val="FFFFFF"/>
                </a:solidFill>
              </a:rPr>
              <a:t>03</a:t>
            </a:r>
          </a:p>
        </p:txBody>
      </p:sp>
      <p:sp>
        <p:nvSpPr>
          <p:cNvPr id="21" name="TextBox 20"/>
          <p:cNvSpPr txBox="1"/>
          <p:nvPr/>
        </p:nvSpPr>
        <p:spPr>
          <a:xfrm>
            <a:off x="6437376" y="1965960"/>
            <a:ext cx="2606040" cy="685800"/>
          </a:xfrm>
          <a:prstGeom prst="rect">
            <a:avLst/>
          </a:prstGeom>
          <a:noFill/>
        </p:spPr>
        <p:txBody>
          <a:bodyPr wrap="square">
            <a:spAutoFit/>
          </a:bodyPr>
          <a:lstStyle/>
          <a:p>
            <a:pPr algn="l"/>
            <a:r>
              <a:rPr sz="1400" b="1" i="0">
                <a:solidFill>
                  <a:srgbClr val="0D1F3C"/>
                </a:solidFill>
              </a:rPr>
              <a:t>主催挨拶・スポンサー紹介</a:t>
            </a:r>
          </a:p>
        </p:txBody>
      </p:sp>
      <p:sp>
        <p:nvSpPr>
          <p:cNvPr id="22" name="TextBox 21"/>
          <p:cNvSpPr txBox="1"/>
          <p:nvPr/>
        </p:nvSpPr>
        <p:spPr>
          <a:xfrm>
            <a:off x="6437376" y="2697480"/>
            <a:ext cx="2606040" cy="1097280"/>
          </a:xfrm>
          <a:prstGeom prst="rect">
            <a:avLst/>
          </a:prstGeom>
          <a:noFill/>
        </p:spPr>
        <p:txBody>
          <a:bodyPr wrap="square">
            <a:spAutoFit/>
          </a:bodyPr>
          <a:lstStyle/>
          <a:p>
            <a:pPr algn="l"/>
            <a:r>
              <a:rPr sz="1200" b="0" i="0">
                <a:solidFill>
                  <a:srgbClr val="3A4A5C"/>
                </a:solidFill>
              </a:rPr>
              <a:t>趣旨説明・スポンサー紹介</a:t>
            </a:r>
          </a:p>
        </p:txBody>
      </p:sp>
      <p:sp>
        <p:nvSpPr>
          <p:cNvPr id="23" name="Rectangle 22"/>
          <p:cNvSpPr/>
          <p:nvPr/>
        </p:nvSpPr>
        <p:spPr>
          <a:xfrm>
            <a:off x="9299448" y="1463040"/>
            <a:ext cx="2834640" cy="2423160"/>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299448" y="1463040"/>
            <a:ext cx="2834640" cy="411480"/>
          </a:xfrm>
          <a:prstGeom prst="rect">
            <a:avLst/>
          </a:prstGeom>
          <a:solidFill>
            <a:srgbClr val="0B9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09176" y="1508760"/>
            <a:ext cx="2606040" cy="347472"/>
          </a:xfrm>
          <a:prstGeom prst="rect">
            <a:avLst/>
          </a:prstGeom>
          <a:noFill/>
        </p:spPr>
        <p:txBody>
          <a:bodyPr wrap="square">
            <a:spAutoFit/>
          </a:bodyPr>
          <a:lstStyle/>
          <a:p>
            <a:pPr algn="l"/>
            <a:r>
              <a:rPr sz="1600" b="1" i="0">
                <a:solidFill>
                  <a:srgbClr val="FFFFFF"/>
                </a:solidFill>
              </a:rPr>
              <a:t>04</a:t>
            </a:r>
          </a:p>
        </p:txBody>
      </p:sp>
      <p:sp>
        <p:nvSpPr>
          <p:cNvPr id="26" name="TextBox 25"/>
          <p:cNvSpPr txBox="1"/>
          <p:nvPr/>
        </p:nvSpPr>
        <p:spPr>
          <a:xfrm>
            <a:off x="9409176" y="1965960"/>
            <a:ext cx="2606040" cy="685800"/>
          </a:xfrm>
          <a:prstGeom prst="rect">
            <a:avLst/>
          </a:prstGeom>
          <a:noFill/>
        </p:spPr>
        <p:txBody>
          <a:bodyPr wrap="square">
            <a:spAutoFit/>
          </a:bodyPr>
          <a:lstStyle/>
          <a:p>
            <a:pPr algn="l"/>
            <a:r>
              <a:rPr sz="1400" b="1" i="0">
                <a:solidFill>
                  <a:srgbClr val="0D1F3C"/>
                </a:solidFill>
              </a:rPr>
              <a:t>クリエイター自己紹介</a:t>
            </a:r>
          </a:p>
        </p:txBody>
      </p:sp>
      <p:sp>
        <p:nvSpPr>
          <p:cNvPr id="27" name="TextBox 26"/>
          <p:cNvSpPr txBox="1"/>
          <p:nvPr/>
        </p:nvSpPr>
        <p:spPr>
          <a:xfrm>
            <a:off x="9409176" y="2697480"/>
            <a:ext cx="2606040" cy="1097280"/>
          </a:xfrm>
          <a:prstGeom prst="rect">
            <a:avLst/>
          </a:prstGeom>
          <a:noFill/>
        </p:spPr>
        <p:txBody>
          <a:bodyPr wrap="square">
            <a:spAutoFit/>
          </a:bodyPr>
          <a:lstStyle/>
          <a:p>
            <a:pPr algn="l"/>
            <a:r>
              <a:rPr sz="1200" b="0" i="0">
                <a:solidFill>
                  <a:srgbClr val="3A4A5C"/>
                </a:solidFill>
              </a:rPr>
              <a:t>全員で簡単な自己紹介・SNS交換</a:t>
            </a:r>
          </a:p>
        </p:txBody>
      </p:sp>
      <p:sp>
        <p:nvSpPr>
          <p:cNvPr id="28" name="Rectangle 27"/>
          <p:cNvSpPr/>
          <p:nvPr/>
        </p:nvSpPr>
        <p:spPr>
          <a:xfrm>
            <a:off x="384048" y="4069080"/>
            <a:ext cx="2834640" cy="2423160"/>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84048" y="4069080"/>
            <a:ext cx="2834640" cy="41148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93776" y="4114800"/>
            <a:ext cx="2606040" cy="347472"/>
          </a:xfrm>
          <a:prstGeom prst="rect">
            <a:avLst/>
          </a:prstGeom>
          <a:noFill/>
        </p:spPr>
        <p:txBody>
          <a:bodyPr wrap="square">
            <a:spAutoFit/>
          </a:bodyPr>
          <a:lstStyle/>
          <a:p>
            <a:pPr algn="l"/>
            <a:r>
              <a:rPr sz="1600" b="1" i="0">
                <a:solidFill>
                  <a:srgbClr val="FFFFFF"/>
                </a:solidFill>
              </a:rPr>
              <a:t>05</a:t>
            </a:r>
          </a:p>
        </p:txBody>
      </p:sp>
      <p:sp>
        <p:nvSpPr>
          <p:cNvPr id="31" name="TextBox 30"/>
          <p:cNvSpPr txBox="1"/>
          <p:nvPr/>
        </p:nvSpPr>
        <p:spPr>
          <a:xfrm>
            <a:off x="493776" y="4572000"/>
            <a:ext cx="2606040" cy="685800"/>
          </a:xfrm>
          <a:prstGeom prst="rect">
            <a:avLst/>
          </a:prstGeom>
          <a:noFill/>
        </p:spPr>
        <p:txBody>
          <a:bodyPr wrap="square">
            <a:spAutoFit/>
          </a:bodyPr>
          <a:lstStyle/>
          <a:p>
            <a:pPr algn="l"/>
            <a:r>
              <a:rPr sz="1400" b="1" i="0">
                <a:solidFill>
                  <a:srgbClr val="0D1F3C"/>
                </a:solidFill>
              </a:rPr>
              <a:t>商品・施設体験</a:t>
            </a:r>
          </a:p>
        </p:txBody>
      </p:sp>
      <p:sp>
        <p:nvSpPr>
          <p:cNvPr id="32" name="TextBox 31"/>
          <p:cNvSpPr txBox="1"/>
          <p:nvPr/>
        </p:nvSpPr>
        <p:spPr>
          <a:xfrm>
            <a:off x="493776" y="5303520"/>
            <a:ext cx="2606040" cy="1097280"/>
          </a:xfrm>
          <a:prstGeom prst="rect">
            <a:avLst/>
          </a:prstGeom>
          <a:noFill/>
        </p:spPr>
        <p:txBody>
          <a:bodyPr wrap="square">
            <a:spAutoFit/>
          </a:bodyPr>
          <a:lstStyle/>
          <a:p>
            <a:pPr algn="l"/>
            <a:r>
              <a:rPr sz="1200" b="0" i="0">
                <a:solidFill>
                  <a:srgbClr val="3A4A5C"/>
                </a:solidFill>
              </a:rPr>
              <a:t>サンプリング・体験コーナー</a:t>
            </a:r>
          </a:p>
        </p:txBody>
      </p:sp>
      <p:sp>
        <p:nvSpPr>
          <p:cNvPr id="33" name="Rectangle 32"/>
          <p:cNvSpPr/>
          <p:nvPr/>
        </p:nvSpPr>
        <p:spPr>
          <a:xfrm>
            <a:off x="3355848" y="4069080"/>
            <a:ext cx="2834640" cy="2423160"/>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355848" y="4069080"/>
            <a:ext cx="2834640" cy="4114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65576" y="4114800"/>
            <a:ext cx="2606040" cy="347472"/>
          </a:xfrm>
          <a:prstGeom prst="rect">
            <a:avLst/>
          </a:prstGeom>
          <a:noFill/>
        </p:spPr>
        <p:txBody>
          <a:bodyPr wrap="square">
            <a:spAutoFit/>
          </a:bodyPr>
          <a:lstStyle/>
          <a:p>
            <a:pPr algn="l"/>
            <a:r>
              <a:rPr sz="1600" b="1" i="0">
                <a:solidFill>
                  <a:srgbClr val="FFFFFF"/>
                </a:solidFill>
              </a:rPr>
              <a:t>06</a:t>
            </a:r>
          </a:p>
        </p:txBody>
      </p:sp>
      <p:sp>
        <p:nvSpPr>
          <p:cNvPr id="36" name="TextBox 35"/>
          <p:cNvSpPr txBox="1"/>
          <p:nvPr/>
        </p:nvSpPr>
        <p:spPr>
          <a:xfrm>
            <a:off x="3465576" y="4572000"/>
            <a:ext cx="2606040" cy="685800"/>
          </a:xfrm>
          <a:prstGeom prst="rect">
            <a:avLst/>
          </a:prstGeom>
          <a:noFill/>
        </p:spPr>
        <p:txBody>
          <a:bodyPr wrap="square">
            <a:spAutoFit/>
          </a:bodyPr>
          <a:lstStyle/>
          <a:p>
            <a:pPr algn="l"/>
            <a:r>
              <a:rPr sz="1400" b="1" i="0">
                <a:solidFill>
                  <a:srgbClr val="0D1F3C"/>
                </a:solidFill>
              </a:rPr>
              <a:t>ミニゲーム・ネットワーキング</a:t>
            </a:r>
          </a:p>
        </p:txBody>
      </p:sp>
      <p:sp>
        <p:nvSpPr>
          <p:cNvPr id="37" name="TextBox 36"/>
          <p:cNvSpPr txBox="1"/>
          <p:nvPr/>
        </p:nvSpPr>
        <p:spPr>
          <a:xfrm>
            <a:off x="3465576" y="5303520"/>
            <a:ext cx="2606040" cy="1097280"/>
          </a:xfrm>
          <a:prstGeom prst="rect">
            <a:avLst/>
          </a:prstGeom>
          <a:noFill/>
        </p:spPr>
        <p:txBody>
          <a:bodyPr wrap="square">
            <a:spAutoFit/>
          </a:bodyPr>
          <a:lstStyle/>
          <a:p>
            <a:pPr algn="l"/>
            <a:r>
              <a:rPr sz="1200" b="0" i="0">
                <a:solidFill>
                  <a:srgbClr val="3A4A5C"/>
                </a:solidFill>
              </a:rPr>
              <a:t>交流企画・フォトタイム</a:t>
            </a:r>
          </a:p>
        </p:txBody>
      </p:sp>
      <p:sp>
        <p:nvSpPr>
          <p:cNvPr id="38" name="Rectangle 37"/>
          <p:cNvSpPr/>
          <p:nvPr/>
        </p:nvSpPr>
        <p:spPr>
          <a:xfrm>
            <a:off x="6327648" y="4069080"/>
            <a:ext cx="2834640" cy="2423160"/>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327648" y="4069080"/>
            <a:ext cx="2834640" cy="411480"/>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37376" y="4114800"/>
            <a:ext cx="2606040" cy="347472"/>
          </a:xfrm>
          <a:prstGeom prst="rect">
            <a:avLst/>
          </a:prstGeom>
          <a:noFill/>
        </p:spPr>
        <p:txBody>
          <a:bodyPr wrap="square">
            <a:spAutoFit/>
          </a:bodyPr>
          <a:lstStyle/>
          <a:p>
            <a:pPr algn="l"/>
            <a:r>
              <a:rPr sz="1600" b="1" i="0">
                <a:solidFill>
                  <a:srgbClr val="FFFFFF"/>
                </a:solidFill>
              </a:rPr>
              <a:t>07</a:t>
            </a:r>
          </a:p>
        </p:txBody>
      </p:sp>
      <p:sp>
        <p:nvSpPr>
          <p:cNvPr id="41" name="TextBox 40"/>
          <p:cNvSpPr txBox="1"/>
          <p:nvPr/>
        </p:nvSpPr>
        <p:spPr>
          <a:xfrm>
            <a:off x="6437376" y="4572000"/>
            <a:ext cx="2606040" cy="685800"/>
          </a:xfrm>
          <a:prstGeom prst="rect">
            <a:avLst/>
          </a:prstGeom>
          <a:noFill/>
        </p:spPr>
        <p:txBody>
          <a:bodyPr wrap="square">
            <a:spAutoFit/>
          </a:bodyPr>
          <a:lstStyle/>
          <a:p>
            <a:pPr algn="l"/>
            <a:r>
              <a:rPr sz="1400" b="1" i="0">
                <a:solidFill>
                  <a:srgbClr val="0D1F3C"/>
                </a:solidFill>
              </a:rPr>
              <a:t>集合写真</a:t>
            </a:r>
          </a:p>
        </p:txBody>
      </p:sp>
      <p:sp>
        <p:nvSpPr>
          <p:cNvPr id="42" name="TextBox 41"/>
          <p:cNvSpPr txBox="1"/>
          <p:nvPr/>
        </p:nvSpPr>
        <p:spPr>
          <a:xfrm>
            <a:off x="6437376" y="5303520"/>
            <a:ext cx="2606040" cy="1097280"/>
          </a:xfrm>
          <a:prstGeom prst="rect">
            <a:avLst/>
          </a:prstGeom>
          <a:noFill/>
        </p:spPr>
        <p:txBody>
          <a:bodyPr wrap="square">
            <a:spAutoFit/>
          </a:bodyPr>
          <a:lstStyle/>
          <a:p>
            <a:pPr algn="l"/>
            <a:r>
              <a:rPr sz="1200" b="0" i="0">
                <a:solidFill>
                  <a:srgbClr val="3A4A5C"/>
                </a:solidFill>
              </a:rPr>
              <a:t>公式レポート用撮影</a:t>
            </a:r>
          </a:p>
        </p:txBody>
      </p:sp>
      <p:sp>
        <p:nvSpPr>
          <p:cNvPr id="43" name="Rectangle 42"/>
          <p:cNvSpPr/>
          <p:nvPr/>
        </p:nvSpPr>
        <p:spPr>
          <a:xfrm>
            <a:off x="9299448" y="4069080"/>
            <a:ext cx="2834640" cy="2423160"/>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299448" y="4069080"/>
            <a:ext cx="2834640" cy="411480"/>
          </a:xfrm>
          <a:prstGeom prst="rect">
            <a:avLst/>
          </a:prstGeom>
          <a:solidFill>
            <a:srgbClr val="0B9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409176" y="4114800"/>
            <a:ext cx="2606040" cy="347472"/>
          </a:xfrm>
          <a:prstGeom prst="rect">
            <a:avLst/>
          </a:prstGeom>
          <a:noFill/>
        </p:spPr>
        <p:txBody>
          <a:bodyPr wrap="square">
            <a:spAutoFit/>
          </a:bodyPr>
          <a:lstStyle/>
          <a:p>
            <a:pPr algn="l"/>
            <a:r>
              <a:rPr sz="1600" b="1" i="0">
                <a:solidFill>
                  <a:srgbClr val="FFFFFF"/>
                </a:solidFill>
              </a:rPr>
              <a:t>08</a:t>
            </a:r>
          </a:p>
        </p:txBody>
      </p:sp>
      <p:sp>
        <p:nvSpPr>
          <p:cNvPr id="46" name="TextBox 45"/>
          <p:cNvSpPr txBox="1"/>
          <p:nvPr/>
        </p:nvSpPr>
        <p:spPr>
          <a:xfrm>
            <a:off x="9409176" y="4572000"/>
            <a:ext cx="2606040" cy="685800"/>
          </a:xfrm>
          <a:prstGeom prst="rect">
            <a:avLst/>
          </a:prstGeom>
          <a:noFill/>
        </p:spPr>
        <p:txBody>
          <a:bodyPr wrap="square">
            <a:spAutoFit/>
          </a:bodyPr>
          <a:lstStyle/>
          <a:p>
            <a:pPr algn="l"/>
            <a:r>
              <a:rPr sz="1400" b="1" i="0">
                <a:solidFill>
                  <a:srgbClr val="0D1F3C"/>
                </a:solidFill>
              </a:rPr>
              <a:t>アフターレポート配信</a:t>
            </a:r>
          </a:p>
        </p:txBody>
      </p:sp>
      <p:sp>
        <p:nvSpPr>
          <p:cNvPr id="47" name="TextBox 46"/>
          <p:cNvSpPr txBox="1"/>
          <p:nvPr/>
        </p:nvSpPr>
        <p:spPr>
          <a:xfrm>
            <a:off x="9409176" y="5303520"/>
            <a:ext cx="2606040" cy="1097280"/>
          </a:xfrm>
          <a:prstGeom prst="rect">
            <a:avLst/>
          </a:prstGeom>
          <a:noFill/>
        </p:spPr>
        <p:txBody>
          <a:bodyPr wrap="square">
            <a:spAutoFit/>
          </a:bodyPr>
          <a:lstStyle/>
          <a:p>
            <a:pPr algn="l"/>
            <a:r>
              <a:rPr sz="1200" b="0" i="0">
                <a:solidFill>
                  <a:srgbClr val="3A4A5C"/>
                </a:solidFill>
              </a:rPr>
              <a:t>公式SNSでイベントレポート投稿</a:t>
            </a:r>
          </a:p>
        </p:txBody>
      </p:sp>
      <p:sp>
        <p:nvSpPr>
          <p:cNvPr id="48" name="Rectangle 47"/>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881360" cy="777240"/>
          </a:xfrm>
          <a:prstGeom prst="rect">
            <a:avLst/>
          </a:prstGeom>
          <a:noFill/>
        </p:spPr>
        <p:txBody>
          <a:bodyPr wrap="square">
            <a:spAutoFit/>
          </a:bodyPr>
          <a:lstStyle/>
          <a:p>
            <a:pPr algn="l"/>
            <a:r>
              <a:rPr sz="2500" b="1" i="0">
                <a:solidFill>
                  <a:srgbClr val="0D1F3C"/>
                </a:solidFill>
              </a:rPr>
              <a:t>関西発のグローバルクリエイターコミュニティへ</a:t>
            </a:r>
          </a:p>
        </p:txBody>
      </p:sp>
      <p:sp>
        <p:nvSpPr>
          <p:cNvPr id="5" name="TextBox 4"/>
          <p:cNvSpPr txBox="1"/>
          <p:nvPr/>
        </p:nvSpPr>
        <p:spPr>
          <a:xfrm>
            <a:off x="640080" y="868680"/>
            <a:ext cx="10881360" cy="411480"/>
          </a:xfrm>
          <a:prstGeom prst="rect">
            <a:avLst/>
          </a:prstGeom>
          <a:noFill/>
        </p:spPr>
        <p:txBody>
          <a:bodyPr wrap="square">
            <a:spAutoFit/>
          </a:bodyPr>
          <a:lstStyle/>
          <a:p>
            <a:pPr algn="l"/>
            <a:r>
              <a:rPr sz="1300" b="0" i="0">
                <a:solidFill>
                  <a:srgbClr val="8A96AA"/>
                </a:solidFill>
              </a:rPr>
              <a:t>今後の展開 — Future Vision</a:t>
            </a:r>
          </a:p>
        </p:txBody>
      </p:sp>
      <p:sp>
        <p:nvSpPr>
          <p:cNvPr id="6" name="Rectangle 5"/>
          <p:cNvSpPr/>
          <p:nvPr/>
        </p:nvSpPr>
        <p:spPr>
          <a:xfrm>
            <a:off x="640080" y="1234440"/>
            <a:ext cx="10908792" cy="190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84048" y="1508760"/>
            <a:ext cx="3730752" cy="2286000"/>
          </a:xfrm>
          <a:prstGeom prst="rect">
            <a:avLst/>
          </a:prstGeom>
          <a:solidFill>
            <a:srgbClr val="FFFFFF"/>
          </a:solidFill>
          <a:ln w="19050">
            <a:solidFill>
              <a:srgbClr val="1A6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4048" y="1508760"/>
            <a:ext cx="3730752" cy="41148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554480"/>
            <a:ext cx="3502152" cy="347472"/>
          </a:xfrm>
          <a:prstGeom prst="rect">
            <a:avLst/>
          </a:prstGeom>
          <a:noFill/>
        </p:spPr>
        <p:txBody>
          <a:bodyPr wrap="square">
            <a:spAutoFit/>
          </a:bodyPr>
          <a:lstStyle/>
          <a:p>
            <a:pPr algn="l"/>
            <a:r>
              <a:rPr sz="1300" b="1" i="0">
                <a:solidFill>
                  <a:srgbClr val="FFFFFF"/>
                </a:solidFill>
              </a:rPr>
              <a:t>🔄  定期開催</a:t>
            </a:r>
          </a:p>
        </p:txBody>
      </p:sp>
      <p:sp>
        <p:nvSpPr>
          <p:cNvPr id="11" name="TextBox 10"/>
          <p:cNvSpPr txBox="1"/>
          <p:nvPr/>
        </p:nvSpPr>
        <p:spPr>
          <a:xfrm>
            <a:off x="493776" y="2103120"/>
            <a:ext cx="3502152" cy="1600200"/>
          </a:xfrm>
          <a:prstGeom prst="rect">
            <a:avLst/>
          </a:prstGeom>
          <a:noFill/>
        </p:spPr>
        <p:txBody>
          <a:bodyPr wrap="square">
            <a:spAutoFit/>
          </a:bodyPr>
          <a:lstStyle/>
          <a:p>
            <a:pPr algn="l"/>
            <a:r>
              <a:rPr sz="1300" b="0" i="0">
                <a:solidFill>
                  <a:srgbClr val="3A4A5C"/>
                </a:solidFill>
              </a:rPr>
              <a:t>年複数回の定期開催でコミュニティを継続成長させる</a:t>
            </a:r>
          </a:p>
        </p:txBody>
      </p:sp>
      <p:sp>
        <p:nvSpPr>
          <p:cNvPr id="12" name="Rectangle 11"/>
          <p:cNvSpPr/>
          <p:nvPr/>
        </p:nvSpPr>
        <p:spPr>
          <a:xfrm>
            <a:off x="4297680" y="1508760"/>
            <a:ext cx="3730752" cy="2286000"/>
          </a:xfrm>
          <a:prstGeom prst="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508760"/>
            <a:ext cx="3730752" cy="4114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07408" y="1554480"/>
            <a:ext cx="3502152" cy="347472"/>
          </a:xfrm>
          <a:prstGeom prst="rect">
            <a:avLst/>
          </a:prstGeom>
          <a:noFill/>
        </p:spPr>
        <p:txBody>
          <a:bodyPr wrap="square">
            <a:spAutoFit/>
          </a:bodyPr>
          <a:lstStyle/>
          <a:p>
            <a:pPr algn="l"/>
            <a:r>
              <a:rPr sz="1300" b="1" i="0">
                <a:solidFill>
                  <a:srgbClr val="FFFFFF"/>
                </a:solidFill>
              </a:rPr>
              <a:t>🤝  コラボイベント</a:t>
            </a:r>
          </a:p>
        </p:txBody>
      </p:sp>
      <p:sp>
        <p:nvSpPr>
          <p:cNvPr id="15" name="TextBox 14"/>
          <p:cNvSpPr txBox="1"/>
          <p:nvPr/>
        </p:nvSpPr>
        <p:spPr>
          <a:xfrm>
            <a:off x="4407408" y="2103120"/>
            <a:ext cx="3502152" cy="1600200"/>
          </a:xfrm>
          <a:prstGeom prst="rect">
            <a:avLst/>
          </a:prstGeom>
          <a:noFill/>
        </p:spPr>
        <p:txBody>
          <a:bodyPr wrap="square">
            <a:spAutoFit/>
          </a:bodyPr>
          <a:lstStyle/>
          <a:p>
            <a:pPr algn="l"/>
            <a:r>
              <a:rPr sz="1300" b="0" i="0">
                <a:solidFill>
                  <a:srgbClr val="3A4A5C"/>
                </a:solidFill>
              </a:rPr>
              <a:t>スポンサー企業との共同イベント・コラボ企画を実施</a:t>
            </a:r>
          </a:p>
        </p:txBody>
      </p:sp>
      <p:sp>
        <p:nvSpPr>
          <p:cNvPr id="16" name="Rectangle 15"/>
          <p:cNvSpPr/>
          <p:nvPr/>
        </p:nvSpPr>
        <p:spPr>
          <a:xfrm>
            <a:off x="8211312" y="1508760"/>
            <a:ext cx="3730752" cy="2286000"/>
          </a:xfrm>
          <a:prstGeom prst="rect">
            <a:avLst/>
          </a:prstGeom>
          <a:solidFill>
            <a:srgbClr val="FFFFFF"/>
          </a:solidFill>
          <a:ln w="19050">
            <a:solidFill>
              <a:srgbClr val="E04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11312" y="1508760"/>
            <a:ext cx="3730752" cy="411480"/>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1554480"/>
            <a:ext cx="3502152" cy="347472"/>
          </a:xfrm>
          <a:prstGeom prst="rect">
            <a:avLst/>
          </a:prstGeom>
          <a:noFill/>
        </p:spPr>
        <p:txBody>
          <a:bodyPr wrap="square">
            <a:spAutoFit/>
          </a:bodyPr>
          <a:lstStyle/>
          <a:p>
            <a:pPr algn="l"/>
            <a:r>
              <a:rPr sz="1300" b="1" i="0">
                <a:solidFill>
                  <a:srgbClr val="FFFFFF"/>
                </a:solidFill>
              </a:rPr>
              <a:t>✈️  FAMツアー</a:t>
            </a:r>
          </a:p>
        </p:txBody>
      </p:sp>
      <p:sp>
        <p:nvSpPr>
          <p:cNvPr id="19" name="TextBox 18"/>
          <p:cNvSpPr txBox="1"/>
          <p:nvPr/>
        </p:nvSpPr>
        <p:spPr>
          <a:xfrm>
            <a:off x="8321040" y="2103120"/>
            <a:ext cx="3502152" cy="1600200"/>
          </a:xfrm>
          <a:prstGeom prst="rect">
            <a:avLst/>
          </a:prstGeom>
          <a:noFill/>
        </p:spPr>
        <p:txBody>
          <a:bodyPr wrap="square">
            <a:spAutoFit/>
          </a:bodyPr>
          <a:lstStyle/>
          <a:p>
            <a:pPr algn="l"/>
            <a:r>
              <a:rPr sz="1300" b="0" i="0">
                <a:solidFill>
                  <a:srgbClr val="3A4A5C"/>
                </a:solidFill>
              </a:rPr>
              <a:t>地域・観光施設とのファムトリップでインバウンドPRを強化</a:t>
            </a:r>
          </a:p>
        </p:txBody>
      </p:sp>
      <p:sp>
        <p:nvSpPr>
          <p:cNvPr id="20" name="Rectangle 19"/>
          <p:cNvSpPr/>
          <p:nvPr/>
        </p:nvSpPr>
        <p:spPr>
          <a:xfrm>
            <a:off x="1344168" y="4023360"/>
            <a:ext cx="4892040" cy="2286000"/>
          </a:xfrm>
          <a:prstGeom prst="rect">
            <a:avLst/>
          </a:prstGeom>
          <a:solidFill>
            <a:srgbClr val="FFFFFF"/>
          </a:solidFill>
          <a:ln w="19050">
            <a:solidFill>
              <a:srgbClr val="0B9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344168" y="4023360"/>
            <a:ext cx="4892040" cy="411480"/>
          </a:xfrm>
          <a:prstGeom prst="rect">
            <a:avLst/>
          </a:prstGeom>
          <a:solidFill>
            <a:srgbClr val="0B9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53896" y="4069080"/>
            <a:ext cx="4663440" cy="347472"/>
          </a:xfrm>
          <a:prstGeom prst="rect">
            <a:avLst/>
          </a:prstGeom>
          <a:noFill/>
        </p:spPr>
        <p:txBody>
          <a:bodyPr wrap="square">
            <a:spAutoFit/>
          </a:bodyPr>
          <a:lstStyle/>
          <a:p>
            <a:pPr algn="l"/>
            <a:r>
              <a:rPr sz="1300" b="1" i="0">
                <a:solidFill>
                  <a:srgbClr val="FFFFFF"/>
                </a:solidFill>
              </a:rPr>
              <a:t>🏙  インバウンドPR支援</a:t>
            </a:r>
          </a:p>
        </p:txBody>
      </p:sp>
      <p:sp>
        <p:nvSpPr>
          <p:cNvPr id="23" name="TextBox 22"/>
          <p:cNvSpPr txBox="1"/>
          <p:nvPr/>
        </p:nvSpPr>
        <p:spPr>
          <a:xfrm>
            <a:off x="1453896" y="4617720"/>
            <a:ext cx="4663440" cy="1600200"/>
          </a:xfrm>
          <a:prstGeom prst="rect">
            <a:avLst/>
          </a:prstGeom>
          <a:noFill/>
        </p:spPr>
        <p:txBody>
          <a:bodyPr wrap="square">
            <a:spAutoFit/>
          </a:bodyPr>
          <a:lstStyle/>
          <a:p>
            <a:pPr algn="l"/>
            <a:r>
              <a:rPr sz="1300" b="0" i="0">
                <a:solidFill>
                  <a:srgbClr val="3A4A5C"/>
                </a:solidFill>
              </a:rPr>
              <a:t>飲食店・ホテル・商業施設の訪日客向けPRをクリエイター起点で支援</a:t>
            </a:r>
          </a:p>
        </p:txBody>
      </p:sp>
      <p:sp>
        <p:nvSpPr>
          <p:cNvPr id="24" name="Rectangle 23"/>
          <p:cNvSpPr/>
          <p:nvPr/>
        </p:nvSpPr>
        <p:spPr>
          <a:xfrm>
            <a:off x="7242048" y="4023360"/>
            <a:ext cx="4892040" cy="2286000"/>
          </a:xfrm>
          <a:prstGeom prst="rect">
            <a:avLst/>
          </a:prstGeom>
          <a:solidFill>
            <a:srgbClr val="FFFFFF"/>
          </a:solidFill>
          <a:ln w="19050">
            <a:solidFill>
              <a:srgbClr val="1A6F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42048" y="4023360"/>
            <a:ext cx="4892040" cy="41148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6" y="4069080"/>
            <a:ext cx="4663440" cy="347472"/>
          </a:xfrm>
          <a:prstGeom prst="rect">
            <a:avLst/>
          </a:prstGeom>
          <a:noFill/>
        </p:spPr>
        <p:txBody>
          <a:bodyPr wrap="square">
            <a:spAutoFit/>
          </a:bodyPr>
          <a:lstStyle/>
          <a:p>
            <a:pPr algn="l"/>
            <a:r>
              <a:rPr sz="1300" b="1" i="0">
                <a:solidFill>
                  <a:srgbClr val="FFFFFF"/>
                </a:solidFill>
              </a:rPr>
              <a:t>🌐  ネットワーク拡大</a:t>
            </a:r>
          </a:p>
        </p:txBody>
      </p:sp>
      <p:sp>
        <p:nvSpPr>
          <p:cNvPr id="27" name="TextBox 26"/>
          <p:cNvSpPr txBox="1"/>
          <p:nvPr/>
        </p:nvSpPr>
        <p:spPr>
          <a:xfrm>
            <a:off x="7351776" y="4617720"/>
            <a:ext cx="4663440" cy="1600200"/>
          </a:xfrm>
          <a:prstGeom prst="rect">
            <a:avLst/>
          </a:prstGeom>
          <a:noFill/>
        </p:spPr>
        <p:txBody>
          <a:bodyPr wrap="square">
            <a:spAutoFit/>
          </a:bodyPr>
          <a:lstStyle/>
          <a:p>
            <a:pPr algn="l"/>
            <a:r>
              <a:rPr sz="1300" b="0" i="0">
                <a:solidFill>
                  <a:srgbClr val="3A4A5C"/>
                </a:solidFill>
              </a:rPr>
              <a:t>関西から日本全国・海外へ発信するグローバルネットワークへ</a:t>
            </a:r>
          </a:p>
        </p:txBody>
      </p:sp>
      <p:sp>
        <p:nvSpPr>
          <p:cNvPr id="28" name="Rectangle 27"/>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881360" cy="777240"/>
          </a:xfrm>
          <a:prstGeom prst="rect">
            <a:avLst/>
          </a:prstGeom>
          <a:noFill/>
        </p:spPr>
        <p:txBody>
          <a:bodyPr wrap="square">
            <a:spAutoFit/>
          </a:bodyPr>
          <a:lstStyle/>
          <a:p>
            <a:pPr algn="l"/>
            <a:r>
              <a:rPr sz="2800" b="1" i="0">
                <a:solidFill>
                  <a:srgbClr val="0D1F3C"/>
                </a:solidFill>
              </a:rPr>
              <a:t>想定スポンサー領域</a:t>
            </a:r>
          </a:p>
        </p:txBody>
      </p:sp>
      <p:sp>
        <p:nvSpPr>
          <p:cNvPr id="5" name="TextBox 4"/>
          <p:cNvSpPr txBox="1"/>
          <p:nvPr/>
        </p:nvSpPr>
        <p:spPr>
          <a:xfrm>
            <a:off x="640080" y="868680"/>
            <a:ext cx="10881360" cy="411480"/>
          </a:xfrm>
          <a:prstGeom prst="rect">
            <a:avLst/>
          </a:prstGeom>
          <a:noFill/>
        </p:spPr>
        <p:txBody>
          <a:bodyPr wrap="square">
            <a:spAutoFit/>
          </a:bodyPr>
          <a:lstStyle/>
          <a:p>
            <a:pPr algn="l"/>
            <a:r>
              <a:rPr sz="1300" b="0" i="0">
                <a:solidFill>
                  <a:srgbClr val="8A96AA"/>
                </a:solidFill>
              </a:rPr>
              <a:t>Potential Sponsors — ご提案先カテゴリ（候補として記載）</a:t>
            </a:r>
          </a:p>
        </p:txBody>
      </p:sp>
      <p:sp>
        <p:nvSpPr>
          <p:cNvPr id="6" name="Rectangle 5"/>
          <p:cNvSpPr/>
          <p:nvPr/>
        </p:nvSpPr>
        <p:spPr>
          <a:xfrm>
            <a:off x="640080" y="1234440"/>
            <a:ext cx="10908792" cy="19050"/>
          </a:xfrm>
          <a:prstGeom prst="rect">
            <a:avLst/>
          </a:prstGeom>
          <a:solidFill>
            <a:srgbClr val="F0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84048" y="1463040"/>
            <a:ext cx="3730752" cy="2176272"/>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84048" y="1463040"/>
            <a:ext cx="3730752" cy="384048"/>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508760"/>
            <a:ext cx="3520440" cy="320040"/>
          </a:xfrm>
          <a:prstGeom prst="rect">
            <a:avLst/>
          </a:prstGeom>
          <a:noFill/>
        </p:spPr>
        <p:txBody>
          <a:bodyPr wrap="square">
            <a:spAutoFit/>
          </a:bodyPr>
          <a:lstStyle/>
          <a:p>
            <a:pPr algn="l"/>
            <a:r>
              <a:rPr sz="1300" b="1" i="0">
                <a:solidFill>
                  <a:srgbClr val="FFFFFF"/>
                </a:solidFill>
              </a:rPr>
              <a:t>🏨  ホテル・宿泊</a:t>
            </a:r>
          </a:p>
        </p:txBody>
      </p:sp>
      <p:sp>
        <p:nvSpPr>
          <p:cNvPr id="11" name="TextBox 10"/>
          <p:cNvSpPr txBox="1"/>
          <p:nvPr/>
        </p:nvSpPr>
        <p:spPr>
          <a:xfrm>
            <a:off x="493776" y="1993392"/>
            <a:ext cx="3520440" cy="1554480"/>
          </a:xfrm>
          <a:prstGeom prst="rect">
            <a:avLst/>
          </a:prstGeom>
          <a:noFill/>
        </p:spPr>
        <p:txBody>
          <a:bodyPr wrap="square">
            <a:spAutoFit/>
          </a:bodyPr>
          <a:lstStyle/>
          <a:p>
            <a:pPr algn="l"/>
            <a:r>
              <a:rPr sz="1250" b="0" i="0">
                <a:solidFill>
                  <a:srgbClr val="3A4A5C"/>
                </a:solidFill>
              </a:rPr>
              <a:t>W Osaka、Moxy など
関西の個性的なホテル・ブティックホテル</a:t>
            </a:r>
          </a:p>
        </p:txBody>
      </p:sp>
      <p:sp>
        <p:nvSpPr>
          <p:cNvPr id="12" name="Rectangle 11"/>
          <p:cNvSpPr/>
          <p:nvPr/>
        </p:nvSpPr>
        <p:spPr>
          <a:xfrm>
            <a:off x="4297680" y="1463040"/>
            <a:ext cx="3730752" cy="2176272"/>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463040"/>
            <a:ext cx="3730752" cy="3840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07408" y="1508760"/>
            <a:ext cx="3520440" cy="320040"/>
          </a:xfrm>
          <a:prstGeom prst="rect">
            <a:avLst/>
          </a:prstGeom>
          <a:noFill/>
        </p:spPr>
        <p:txBody>
          <a:bodyPr wrap="square">
            <a:spAutoFit/>
          </a:bodyPr>
          <a:lstStyle/>
          <a:p>
            <a:pPr algn="l"/>
            <a:r>
              <a:rPr sz="1300" b="1" i="0">
                <a:solidFill>
                  <a:srgbClr val="FFFFFF"/>
                </a:solidFill>
              </a:rPr>
              <a:t>🍺  飲料・酒類</a:t>
            </a:r>
          </a:p>
        </p:txBody>
      </p:sp>
      <p:sp>
        <p:nvSpPr>
          <p:cNvPr id="15" name="TextBox 14"/>
          <p:cNvSpPr txBox="1"/>
          <p:nvPr/>
        </p:nvSpPr>
        <p:spPr>
          <a:xfrm>
            <a:off x="4407408" y="1993392"/>
            <a:ext cx="3520440" cy="1554480"/>
          </a:xfrm>
          <a:prstGeom prst="rect">
            <a:avLst/>
          </a:prstGeom>
          <a:noFill/>
        </p:spPr>
        <p:txBody>
          <a:bodyPr wrap="square">
            <a:spAutoFit/>
          </a:bodyPr>
          <a:lstStyle/>
          <a:p>
            <a:pPr algn="l"/>
            <a:r>
              <a:rPr sz="1250" b="0" i="0">
                <a:solidFill>
                  <a:srgbClr val="3A4A5C"/>
                </a:solidFill>
              </a:rPr>
              <a:t>日本盛、アサヒビール、伊藤園 など
乾杯・サンプリングスポンサー</a:t>
            </a:r>
          </a:p>
        </p:txBody>
      </p:sp>
      <p:sp>
        <p:nvSpPr>
          <p:cNvPr id="16" name="Rectangle 15"/>
          <p:cNvSpPr/>
          <p:nvPr/>
        </p:nvSpPr>
        <p:spPr>
          <a:xfrm>
            <a:off x="8211312" y="1463040"/>
            <a:ext cx="3730752" cy="2176272"/>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11312" y="1463040"/>
            <a:ext cx="3730752" cy="384048"/>
          </a:xfrm>
          <a:prstGeom prst="rect">
            <a:avLst/>
          </a:prstGeom>
          <a:solidFill>
            <a:srgbClr val="E045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1508760"/>
            <a:ext cx="3520440" cy="320040"/>
          </a:xfrm>
          <a:prstGeom prst="rect">
            <a:avLst/>
          </a:prstGeom>
          <a:noFill/>
        </p:spPr>
        <p:txBody>
          <a:bodyPr wrap="square">
            <a:spAutoFit/>
          </a:bodyPr>
          <a:lstStyle/>
          <a:p>
            <a:pPr algn="l"/>
            <a:r>
              <a:rPr sz="1300" b="1" i="0">
                <a:solidFill>
                  <a:srgbClr val="FFFFFF"/>
                </a:solidFill>
              </a:rPr>
              <a:t>🍫  食品・お菓子</a:t>
            </a:r>
          </a:p>
        </p:txBody>
      </p:sp>
      <p:sp>
        <p:nvSpPr>
          <p:cNvPr id="19" name="TextBox 18"/>
          <p:cNvSpPr txBox="1"/>
          <p:nvPr/>
        </p:nvSpPr>
        <p:spPr>
          <a:xfrm>
            <a:off x="8321040" y="1993392"/>
            <a:ext cx="3520440" cy="1554480"/>
          </a:xfrm>
          <a:prstGeom prst="rect">
            <a:avLst/>
          </a:prstGeom>
          <a:noFill/>
        </p:spPr>
        <p:txBody>
          <a:bodyPr wrap="square">
            <a:spAutoFit/>
          </a:bodyPr>
          <a:lstStyle/>
          <a:p>
            <a:pPr algn="l"/>
            <a:r>
              <a:rPr sz="1250" b="0" i="0">
                <a:solidFill>
                  <a:srgbClr val="3A4A5C"/>
                </a:solidFill>
              </a:rPr>
              <a:t>ブラックサンダー、森永 など
サンプリング・体験展示</a:t>
            </a:r>
          </a:p>
        </p:txBody>
      </p:sp>
      <p:sp>
        <p:nvSpPr>
          <p:cNvPr id="20" name="Rectangle 19"/>
          <p:cNvSpPr/>
          <p:nvPr/>
        </p:nvSpPr>
        <p:spPr>
          <a:xfrm>
            <a:off x="384048" y="3794760"/>
            <a:ext cx="3730752" cy="2176272"/>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84048" y="3794760"/>
            <a:ext cx="3730752" cy="384048"/>
          </a:xfrm>
          <a:prstGeom prst="rect">
            <a:avLst/>
          </a:prstGeom>
          <a:solidFill>
            <a:srgbClr val="0B9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 y="3840480"/>
            <a:ext cx="3520440" cy="320040"/>
          </a:xfrm>
          <a:prstGeom prst="rect">
            <a:avLst/>
          </a:prstGeom>
          <a:noFill/>
        </p:spPr>
        <p:txBody>
          <a:bodyPr wrap="square">
            <a:spAutoFit/>
          </a:bodyPr>
          <a:lstStyle/>
          <a:p>
            <a:pPr algn="l"/>
            <a:r>
              <a:rPr sz="1300" b="1" i="0">
                <a:solidFill>
                  <a:srgbClr val="FFFFFF"/>
                </a:solidFill>
              </a:rPr>
              <a:t>⚽  スポーツ</a:t>
            </a:r>
          </a:p>
        </p:txBody>
      </p:sp>
      <p:sp>
        <p:nvSpPr>
          <p:cNvPr id="23" name="TextBox 22"/>
          <p:cNvSpPr txBox="1"/>
          <p:nvPr/>
        </p:nvSpPr>
        <p:spPr>
          <a:xfrm>
            <a:off x="493776" y="4325112"/>
            <a:ext cx="3520440" cy="1554480"/>
          </a:xfrm>
          <a:prstGeom prst="rect">
            <a:avLst/>
          </a:prstGeom>
          <a:noFill/>
        </p:spPr>
        <p:txBody>
          <a:bodyPr wrap="square">
            <a:spAutoFit/>
          </a:bodyPr>
          <a:lstStyle/>
          <a:p>
            <a:pPr algn="l"/>
            <a:r>
              <a:rPr sz="1250" b="0" i="0">
                <a:solidFill>
                  <a:srgbClr val="3A4A5C"/>
                </a:solidFill>
              </a:rPr>
              <a:t>セレッソ大阪 など
海外ファン向け認知拡大・体験イベント</a:t>
            </a:r>
          </a:p>
        </p:txBody>
      </p:sp>
      <p:sp>
        <p:nvSpPr>
          <p:cNvPr id="24" name="Rectangle 23"/>
          <p:cNvSpPr/>
          <p:nvPr/>
        </p:nvSpPr>
        <p:spPr>
          <a:xfrm>
            <a:off x="4297680" y="3794760"/>
            <a:ext cx="3730752" cy="2176272"/>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3794760"/>
            <a:ext cx="3730752" cy="384048"/>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07408" y="3840480"/>
            <a:ext cx="3520440" cy="320040"/>
          </a:xfrm>
          <a:prstGeom prst="rect">
            <a:avLst/>
          </a:prstGeom>
          <a:noFill/>
        </p:spPr>
        <p:txBody>
          <a:bodyPr wrap="square">
            <a:spAutoFit/>
          </a:bodyPr>
          <a:lstStyle/>
          <a:p>
            <a:pPr algn="l"/>
            <a:r>
              <a:rPr sz="1300" b="1" i="0">
                <a:solidFill>
                  <a:srgbClr val="FFFFFF"/>
                </a:solidFill>
              </a:rPr>
              <a:t>🗾  観光・自治体</a:t>
            </a:r>
          </a:p>
        </p:txBody>
      </p:sp>
      <p:sp>
        <p:nvSpPr>
          <p:cNvPr id="27" name="TextBox 26"/>
          <p:cNvSpPr txBox="1"/>
          <p:nvPr/>
        </p:nvSpPr>
        <p:spPr>
          <a:xfrm>
            <a:off x="4407408" y="4325112"/>
            <a:ext cx="3520440" cy="1554480"/>
          </a:xfrm>
          <a:prstGeom prst="rect">
            <a:avLst/>
          </a:prstGeom>
          <a:noFill/>
        </p:spPr>
        <p:txBody>
          <a:bodyPr wrap="square">
            <a:spAutoFit/>
          </a:bodyPr>
          <a:lstStyle/>
          <a:p>
            <a:pPr algn="l"/>
            <a:r>
              <a:rPr sz="1250" b="0" i="0">
                <a:solidFill>
                  <a:srgbClr val="3A4A5C"/>
                </a:solidFill>
              </a:rPr>
              <a:t>観光施設・地域自治体
インバウンドPR・ローカル体験発信</a:t>
            </a:r>
          </a:p>
        </p:txBody>
      </p:sp>
      <p:sp>
        <p:nvSpPr>
          <p:cNvPr id="28" name="Rectangle 27"/>
          <p:cNvSpPr/>
          <p:nvPr/>
        </p:nvSpPr>
        <p:spPr>
          <a:xfrm>
            <a:off x="8211312" y="3794760"/>
            <a:ext cx="3730752" cy="2176272"/>
          </a:xfrm>
          <a:prstGeom prst="rect">
            <a:avLst/>
          </a:prstGeom>
          <a:solidFill>
            <a:srgbClr val="FFFFFF"/>
          </a:solidFill>
          <a:ln w="12700">
            <a:solidFill>
              <a:srgbClr val="F0F2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11312" y="3794760"/>
            <a:ext cx="3730752" cy="38404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21040" y="3840480"/>
            <a:ext cx="3520440" cy="320040"/>
          </a:xfrm>
          <a:prstGeom prst="rect">
            <a:avLst/>
          </a:prstGeom>
          <a:noFill/>
        </p:spPr>
        <p:txBody>
          <a:bodyPr wrap="square">
            <a:spAutoFit/>
          </a:bodyPr>
          <a:lstStyle/>
          <a:p>
            <a:pPr algn="l"/>
            <a:r>
              <a:rPr sz="1300" b="1" i="0">
                <a:solidFill>
                  <a:srgbClr val="FFFFFF"/>
                </a:solidFill>
              </a:rPr>
              <a:t>🏬  商業施設</a:t>
            </a:r>
          </a:p>
        </p:txBody>
      </p:sp>
      <p:sp>
        <p:nvSpPr>
          <p:cNvPr id="31" name="TextBox 30"/>
          <p:cNvSpPr txBox="1"/>
          <p:nvPr/>
        </p:nvSpPr>
        <p:spPr>
          <a:xfrm>
            <a:off x="8321040" y="4325112"/>
            <a:ext cx="3520440" cy="1554480"/>
          </a:xfrm>
          <a:prstGeom prst="rect">
            <a:avLst/>
          </a:prstGeom>
          <a:noFill/>
        </p:spPr>
        <p:txBody>
          <a:bodyPr wrap="square">
            <a:spAutoFit/>
          </a:bodyPr>
          <a:lstStyle/>
          <a:p>
            <a:pPr algn="l"/>
            <a:r>
              <a:rPr sz="1250" b="0" i="0">
                <a:solidFill>
                  <a:srgbClr val="3A4A5C"/>
                </a:solidFill>
              </a:rPr>
              <a:t>商業施設・ショッピングモール
インバウンド消費促進・導線設計</a:t>
            </a:r>
          </a:p>
        </p:txBody>
      </p:sp>
      <p:sp>
        <p:nvSpPr>
          <p:cNvPr id="32" name="TextBox 31"/>
          <p:cNvSpPr txBox="1"/>
          <p:nvPr/>
        </p:nvSpPr>
        <p:spPr>
          <a:xfrm>
            <a:off x="502920" y="6492240"/>
            <a:ext cx="11430000" cy="320040"/>
          </a:xfrm>
          <a:prstGeom prst="rect">
            <a:avLst/>
          </a:prstGeom>
          <a:noFill/>
        </p:spPr>
        <p:txBody>
          <a:bodyPr wrap="square">
            <a:spAutoFit/>
          </a:bodyPr>
          <a:lstStyle/>
          <a:p>
            <a:pPr algn="l"/>
            <a:r>
              <a:rPr sz="900" b="0" i="1">
                <a:solidFill>
                  <a:srgbClr val="8A96AA"/>
                </a:solidFill>
              </a:rPr>
              <a:t>※記載はすべて候補・想定として表記しています。営業先に応じてスライドを差し替え可能です。</a:t>
            </a:r>
          </a:p>
        </p:txBody>
      </p:sp>
      <p:sp>
        <p:nvSpPr>
          <p:cNvPr id="33" name="Rectangle 32"/>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0" cy="68580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0" y="0"/>
            <a:ext cx="54864" cy="685800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822960"/>
            <a:ext cx="4389120" cy="457200"/>
          </a:xfrm>
          <a:prstGeom prst="rect">
            <a:avLst/>
          </a:prstGeom>
          <a:noFill/>
        </p:spPr>
        <p:txBody>
          <a:bodyPr wrap="square">
            <a:spAutoFit/>
          </a:bodyPr>
          <a:lstStyle/>
          <a:p>
            <a:pPr algn="l"/>
            <a:r>
              <a:rPr sz="1100" b="1" i="0">
                <a:solidFill>
                  <a:srgbClr val="1A6FC4"/>
                </a:solidFill>
              </a:rPr>
              <a:t>CONTACT</a:t>
            </a:r>
          </a:p>
        </p:txBody>
      </p:sp>
      <p:sp>
        <p:nvSpPr>
          <p:cNvPr id="6" name="Rectangle 5"/>
          <p:cNvSpPr/>
          <p:nvPr/>
        </p:nvSpPr>
        <p:spPr>
          <a:xfrm>
            <a:off x="502920" y="1261872"/>
            <a:ext cx="4206240" cy="1905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463040"/>
            <a:ext cx="1280160" cy="411480"/>
          </a:xfrm>
          <a:prstGeom prst="rect">
            <a:avLst/>
          </a:prstGeom>
          <a:noFill/>
        </p:spPr>
        <p:txBody>
          <a:bodyPr wrap="square">
            <a:spAutoFit/>
          </a:bodyPr>
          <a:lstStyle/>
          <a:p>
            <a:pPr algn="l"/>
            <a:r>
              <a:rPr sz="1100" b="1" i="0">
                <a:solidFill>
                  <a:srgbClr val="1A6FC4"/>
                </a:solidFill>
              </a:rPr>
              <a:t>Company</a:t>
            </a:r>
          </a:p>
        </p:txBody>
      </p:sp>
      <p:sp>
        <p:nvSpPr>
          <p:cNvPr id="8" name="TextBox 7"/>
          <p:cNvSpPr txBox="1"/>
          <p:nvPr/>
        </p:nvSpPr>
        <p:spPr>
          <a:xfrm>
            <a:off x="502920" y="1810512"/>
            <a:ext cx="4434840" cy="475488"/>
          </a:xfrm>
          <a:prstGeom prst="rect">
            <a:avLst/>
          </a:prstGeom>
          <a:noFill/>
        </p:spPr>
        <p:txBody>
          <a:bodyPr wrap="square">
            <a:spAutoFit/>
          </a:bodyPr>
          <a:lstStyle/>
          <a:p>
            <a:pPr algn="l"/>
            <a:r>
              <a:rPr sz="1400" b="0" i="0">
                <a:solidFill>
                  <a:srgbClr val="FFFFFF"/>
                </a:solidFill>
              </a:rPr>
              <a:t>株式会社 Mr.sasuke</a:t>
            </a:r>
          </a:p>
        </p:txBody>
      </p:sp>
      <p:sp>
        <p:nvSpPr>
          <p:cNvPr id="9" name="TextBox 8"/>
          <p:cNvSpPr txBox="1"/>
          <p:nvPr/>
        </p:nvSpPr>
        <p:spPr>
          <a:xfrm>
            <a:off x="502920" y="2331720"/>
            <a:ext cx="1280160" cy="411480"/>
          </a:xfrm>
          <a:prstGeom prst="rect">
            <a:avLst/>
          </a:prstGeom>
          <a:noFill/>
        </p:spPr>
        <p:txBody>
          <a:bodyPr wrap="square">
            <a:spAutoFit/>
          </a:bodyPr>
          <a:lstStyle/>
          <a:p>
            <a:pPr algn="l"/>
            <a:r>
              <a:rPr sz="1100" b="1" i="0">
                <a:solidFill>
                  <a:srgbClr val="1A6FC4"/>
                </a:solidFill>
              </a:rPr>
              <a:t>Contact</a:t>
            </a:r>
          </a:p>
        </p:txBody>
      </p:sp>
      <p:sp>
        <p:nvSpPr>
          <p:cNvPr id="10" name="TextBox 9"/>
          <p:cNvSpPr txBox="1"/>
          <p:nvPr/>
        </p:nvSpPr>
        <p:spPr>
          <a:xfrm>
            <a:off x="502920" y="2679192"/>
            <a:ext cx="4434840" cy="475488"/>
          </a:xfrm>
          <a:prstGeom prst="rect">
            <a:avLst/>
          </a:prstGeom>
          <a:noFill/>
        </p:spPr>
        <p:txBody>
          <a:bodyPr wrap="square">
            <a:spAutoFit/>
          </a:bodyPr>
          <a:lstStyle/>
          <a:p>
            <a:pPr algn="l"/>
            <a:r>
              <a:rPr sz="1400" b="0" i="0">
                <a:solidFill>
                  <a:srgbClr val="FFFFFF"/>
                </a:solidFill>
              </a:rPr>
              <a:t>西村 雄矢</a:t>
            </a:r>
          </a:p>
        </p:txBody>
      </p:sp>
      <p:sp>
        <p:nvSpPr>
          <p:cNvPr id="11" name="TextBox 10"/>
          <p:cNvSpPr txBox="1"/>
          <p:nvPr/>
        </p:nvSpPr>
        <p:spPr>
          <a:xfrm>
            <a:off x="502920" y="3200400"/>
            <a:ext cx="1280160" cy="411480"/>
          </a:xfrm>
          <a:prstGeom prst="rect">
            <a:avLst/>
          </a:prstGeom>
          <a:noFill/>
        </p:spPr>
        <p:txBody>
          <a:bodyPr wrap="square">
            <a:spAutoFit/>
          </a:bodyPr>
          <a:lstStyle/>
          <a:p>
            <a:pPr algn="l"/>
            <a:r>
              <a:rPr sz="1100" b="1" i="0">
                <a:solidFill>
                  <a:srgbClr val="1A6FC4"/>
                </a:solidFill>
              </a:rPr>
              <a:t>Instagram</a:t>
            </a:r>
          </a:p>
        </p:txBody>
      </p:sp>
      <p:sp>
        <p:nvSpPr>
          <p:cNvPr id="12" name="TextBox 11"/>
          <p:cNvSpPr txBox="1"/>
          <p:nvPr/>
        </p:nvSpPr>
        <p:spPr>
          <a:xfrm>
            <a:off x="502920" y="3547872"/>
            <a:ext cx="4434840" cy="475488"/>
          </a:xfrm>
          <a:prstGeom prst="rect">
            <a:avLst/>
          </a:prstGeom>
          <a:noFill/>
        </p:spPr>
        <p:txBody>
          <a:bodyPr wrap="square">
            <a:spAutoFit/>
          </a:bodyPr>
          <a:lstStyle/>
          <a:p>
            <a:pPr algn="l"/>
            <a:r>
              <a:rPr sz="1400" b="0" i="0">
                <a:solidFill>
                  <a:srgbClr val="FFFFFF"/>
                </a:solidFill>
              </a:rPr>
              <a:t>@mr.sasuke_japan</a:t>
            </a:r>
          </a:p>
        </p:txBody>
      </p:sp>
      <p:sp>
        <p:nvSpPr>
          <p:cNvPr id="13" name="TextBox 12"/>
          <p:cNvSpPr txBox="1"/>
          <p:nvPr/>
        </p:nvSpPr>
        <p:spPr>
          <a:xfrm>
            <a:off x="502920" y="4069079"/>
            <a:ext cx="1280160" cy="411480"/>
          </a:xfrm>
          <a:prstGeom prst="rect">
            <a:avLst/>
          </a:prstGeom>
          <a:noFill/>
        </p:spPr>
        <p:txBody>
          <a:bodyPr wrap="square">
            <a:spAutoFit/>
          </a:bodyPr>
          <a:lstStyle/>
          <a:p>
            <a:pPr algn="l"/>
            <a:r>
              <a:rPr sz="1100" b="1" i="0">
                <a:solidFill>
                  <a:srgbClr val="1A6FC4"/>
                </a:solidFill>
              </a:rPr>
              <a:t>Email</a:t>
            </a:r>
          </a:p>
        </p:txBody>
      </p:sp>
      <p:sp>
        <p:nvSpPr>
          <p:cNvPr id="14" name="TextBox 13"/>
          <p:cNvSpPr txBox="1"/>
          <p:nvPr/>
        </p:nvSpPr>
        <p:spPr>
          <a:xfrm>
            <a:off x="502920" y="4416551"/>
            <a:ext cx="4434840" cy="475488"/>
          </a:xfrm>
          <a:prstGeom prst="rect">
            <a:avLst/>
          </a:prstGeom>
          <a:noFill/>
        </p:spPr>
        <p:txBody>
          <a:bodyPr wrap="square">
            <a:spAutoFit/>
          </a:bodyPr>
          <a:lstStyle/>
          <a:p>
            <a:pPr algn="l"/>
            <a:r>
              <a:rPr sz="1400" b="0" i="0">
                <a:solidFill>
                  <a:srgbClr val="FFFFFF"/>
                </a:solidFill>
              </a:rPr>
              <a:t>（担当者よりご連絡いたします）</a:t>
            </a:r>
          </a:p>
        </p:txBody>
      </p:sp>
      <p:sp>
        <p:nvSpPr>
          <p:cNvPr id="15" name="TextBox 14"/>
          <p:cNvSpPr txBox="1"/>
          <p:nvPr/>
        </p:nvSpPr>
        <p:spPr>
          <a:xfrm>
            <a:off x="502920" y="6263640"/>
            <a:ext cx="4389120" cy="411480"/>
          </a:xfrm>
          <a:prstGeom prst="rect">
            <a:avLst/>
          </a:prstGeom>
          <a:noFill/>
        </p:spPr>
        <p:txBody>
          <a:bodyPr wrap="square">
            <a:spAutoFit/>
          </a:bodyPr>
          <a:lstStyle/>
          <a:p>
            <a:pPr algn="l"/>
            <a:r>
              <a:rPr sz="1100" b="0" i="0">
                <a:solidFill>
                  <a:srgbClr val="8A96AA"/>
                </a:solidFill>
              </a:rPr>
              <a:t>Presented by  Mr.sasuke inc.</a:t>
            </a:r>
          </a:p>
        </p:txBody>
      </p:sp>
      <p:sp>
        <p:nvSpPr>
          <p:cNvPr id="16" name="TextBox 15"/>
          <p:cNvSpPr txBox="1"/>
          <p:nvPr/>
        </p:nvSpPr>
        <p:spPr>
          <a:xfrm>
            <a:off x="5349240" y="1097280"/>
            <a:ext cx="6583680" cy="2286000"/>
          </a:xfrm>
          <a:prstGeom prst="rect">
            <a:avLst/>
          </a:prstGeom>
          <a:noFill/>
        </p:spPr>
        <p:txBody>
          <a:bodyPr wrap="square">
            <a:spAutoFit/>
          </a:bodyPr>
          <a:lstStyle/>
          <a:p>
            <a:pPr algn="l"/>
            <a:r>
              <a:rPr sz="3600" b="1" i="0">
                <a:solidFill>
                  <a:srgbClr val="0D1F3C"/>
                </a:solidFill>
              </a:rPr>
              <a:t>関西の魅力を、
世界に届く体験へ。</a:t>
            </a:r>
          </a:p>
        </p:txBody>
      </p:sp>
      <p:sp>
        <p:nvSpPr>
          <p:cNvPr id="17" name="Rectangle 16"/>
          <p:cNvSpPr/>
          <p:nvPr/>
        </p:nvSpPr>
        <p:spPr>
          <a:xfrm>
            <a:off x="5349240" y="3291840"/>
            <a:ext cx="5029200" cy="25400"/>
          </a:xfrm>
          <a:prstGeom prst="rect">
            <a:avLst/>
          </a:prstGeom>
          <a:solidFill>
            <a:srgbClr val="1A6F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9240" y="3474720"/>
            <a:ext cx="6583680" cy="2194560"/>
          </a:xfrm>
          <a:prstGeom prst="rect">
            <a:avLst/>
          </a:prstGeom>
          <a:noFill/>
        </p:spPr>
        <p:txBody>
          <a:bodyPr wrap="square">
            <a:spAutoFit/>
          </a:bodyPr>
          <a:lstStyle/>
          <a:p>
            <a:pPr algn="l"/>
            <a:r>
              <a:rPr sz="1400" b="0" i="0">
                <a:solidFill>
                  <a:srgbClr val="3A4A5C"/>
                </a:solidFill>
              </a:rPr>
              <a:t>スポンサー企業様とともに、グローバルクリエイターが集まる
場をつくりたいと思います。商品・施設・地域の魅力を、
リアルな体験として届けましょう。
会場提供・商品提供・協賛など、形は柔軟にご相談いただけます。</a:t>
            </a:r>
          </a:p>
        </p:txBody>
      </p:sp>
      <p:sp>
        <p:nvSpPr>
          <p:cNvPr id="19" name="Rectangle 18"/>
          <p:cNvSpPr/>
          <p:nvPr/>
        </p:nvSpPr>
        <p:spPr>
          <a:xfrm>
            <a:off x="0" y="6807200"/>
            <a:ext cx="12188952" cy="5080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