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0" y="-457200"/>
            <a:ext cx="5029200" cy="822960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0" y="-457200"/>
            <a:ext cx="4206240" cy="82296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9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7772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D100"/>
                </a:solidFill>
                <a:latin typeface="Arial"/>
              </a:rPr>
              <a:t>BIG GROOVE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33172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JAPAN PR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154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9B54A"/>
                </a:solidFill>
                <a:latin typeface="Arial"/>
              </a:rPr>
              <a:t>Viral Food &amp; Entertainment Activation for Japan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749039"/>
            <a:ext cx="5486400" cy="36576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3886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Arial"/>
              </a:rPr>
              <a:t>Clive Ibizugbe  |  Boston · Nigeria · Worldwide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251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Arial"/>
              </a:rPr>
              <a:t>Dancer  ·  Foodie  ·  Fitness  ·  Viral Entertainer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983480"/>
            <a:ext cx="2103120" cy="13716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4983480"/>
            <a:ext cx="2103120" cy="36576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507492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D100"/>
                </a:solidFill>
                <a:latin typeface="Arial"/>
              </a:rPr>
              <a:t>6B+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Arial"/>
              </a:rPr>
              <a:t>Global Views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4983480"/>
            <a:ext cx="2103120" cy="13716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0" y="4983480"/>
            <a:ext cx="2103120" cy="36576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507492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D100"/>
                </a:solidFill>
                <a:latin typeface="Arial"/>
              </a:rPr>
              <a:t>4.6M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56692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Arial"/>
              </a:rPr>
              <a:t>TikTok Followers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4983480"/>
            <a:ext cx="2103120" cy="13716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4983480"/>
            <a:ext cx="2103120" cy="36576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0" y="507492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D100"/>
                </a:solidFill>
                <a:latin typeface="Arial"/>
              </a:rPr>
              <a:t>2,000+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6692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Arial"/>
              </a:rPr>
              <a:t>Restaurant Activations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77777"/>
                </a:solidFill>
                <a:latin typeface="Arial"/>
              </a:rPr>
              <a:t>Publicly available data / To be verified with latest insights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D100"/>
                </a:solidFill>
                <a:latin typeface="Arial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rial"/>
              </a:rPr>
              <a:t>Big Grooveとは何者か？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4572000" cy="36576"/>
          </a:xfrm>
          <a:prstGeom prst="rect">
            <a:avLst/>
          </a:prstGeom>
          <a:solidFill>
            <a:srgbClr val="39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11430000" cy="1280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109728" cy="128016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Big Grooveは、飲食体験を「記憶に残るSNSコンテンツ」へ変えるグローバルエンターテイナーです。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  <a:latin typeface="Arial"/>
              </a:rPr>
              <a:t>ダンス・フード・フィットネスを掛け合わせた独自スタイルで、レストランやブランドへの来店・認知をバイラルに爆発させます。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017520"/>
            <a:ext cx="3657600" cy="25603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017520"/>
            <a:ext cx="3657600" cy="54864"/>
          </a:xfrm>
          <a:prstGeom prst="rect">
            <a:avLst/>
          </a:prstGeom>
          <a:solidFill>
            <a:srgbClr val="39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1272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00"/>
                </a:solidFill>
                <a:latin typeface="Arial"/>
              </a:rPr>
              <a:t>🌍 Global Reach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566160"/>
            <a:ext cx="3383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/>
              </a:rPr>
              <a:t>6B+ビューを誇るグローバルなリーチ。
40カ国以上でコンテンツが拡散。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3017520"/>
            <a:ext cx="3657600" cy="25603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3017520"/>
            <a:ext cx="3657600" cy="54864"/>
          </a:xfrm>
          <a:prstGeom prst="rect">
            <a:avLst/>
          </a:prstGeom>
          <a:solidFill>
            <a:srgbClr val="39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31272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00"/>
                </a:solidFill>
                <a:latin typeface="Arial"/>
              </a:rPr>
              <a:t>🍜 Food Activation Expert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3566160"/>
            <a:ext cx="3383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/>
              </a:rPr>
              <a:t>2,000以上のレストラン訪問実績。
飲食店との親和性が圧倒的に高い。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3017520"/>
            <a:ext cx="3657600" cy="25603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3017520"/>
            <a:ext cx="3657600" cy="54864"/>
          </a:xfrm>
          <a:prstGeom prst="rect">
            <a:avLst/>
          </a:prstGeom>
          <a:solidFill>
            <a:srgbClr val="39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31272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00"/>
                </a:solidFill>
                <a:latin typeface="Arial"/>
              </a:rPr>
              <a:t>📱 Viral Creation Machine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566160"/>
            <a:ext cx="3383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/>
              </a:rPr>
              <a:t>TikTok・Instagram・Facebookで
リアルタイムに話題を爆発させる。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6666"/>
                </a:solidFill>
                <a:latin typeface="Arial"/>
              </a:rPr>
              <a:t>Publicly available data / To be verified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9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9B54A"/>
                </a:solidFill>
                <a:latin typeface="Arial"/>
              </a:rPr>
              <a:t>CREATOR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rial"/>
              </a:rPr>
              <a:t>Clive Ibizugbe / Big Groove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4114800" cy="36576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Arial"/>
              </a:rPr>
              <a:t>🎤  Creator Name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66420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Big Groove (Clive Ibizugbe)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11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Arial"/>
              </a:rPr>
              <a:t>📍 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25856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Boston, MA / Nigeria / Worldwide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0604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Arial"/>
              </a:rPr>
              <a:t>🎯  Genre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5292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Dancer · Foodie · Fitness · Viral Entertainer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004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Arial"/>
              </a:rPr>
              <a:t>🌐  Reach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44728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40+ Countries  |  Featured Worldwide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79476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Arial"/>
              </a:rPr>
              <a:t>📧  Booking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4164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booking@movewitgroove.com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1417320"/>
            <a:ext cx="6949440" cy="49377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417320"/>
            <a:ext cx="91440" cy="493776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5544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100"/>
                </a:solidFill>
                <a:latin typeface="Arial"/>
              </a:rPr>
              <a:t>Big Grooveの世界観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011680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Big Grooveは、単なるダンサーではありません。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2468880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レストランに入り、料理に感動し、そのエネルギーをダンスとユーモアで爆発させる。そのスタイルが世界中で共感を呼び、数十億回の視聴を記録しています。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926080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飲食・フィットネス・エンターテイメントという異なるジャンルを自然に融合させた彼の存在は、食体験を「シェアしたくなる瞬間」へと昇華させます。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3383280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Snoop Dogg、Deion Sanders、Bobby Shmurda、Feastablesなど、グローバルブランド・セレブリティとの接点も多数。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3840480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日本の飲食シーンに彼を呼び込むことで、インバウンド層へのアピールと国内SNS拡散の両方を同時に実現できます。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6666"/>
                </a:solidFill>
                <a:latin typeface="Arial"/>
              </a:rPr>
              <a:t>Publicly available data / To be verified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D100"/>
                </a:solidFill>
                <a:latin typeface="Arial"/>
              </a:rPr>
              <a:t>SOCIAL MEDIA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数字が証明するグローバルな影響力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4572000" cy="36576"/>
          </a:xfrm>
          <a:prstGeom prst="rect">
            <a:avLst/>
          </a:prstGeom>
          <a:solidFill>
            <a:srgbClr val="39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2743200" cy="16459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63040"/>
            <a:ext cx="2743200" cy="4572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00200"/>
            <a:ext cx="256032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D100"/>
                </a:solidFill>
                <a:latin typeface="Arial"/>
              </a:rPr>
              <a:t>6B+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253081"/>
            <a:ext cx="25603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Global 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46857"/>
            <a:ext cx="2560320" cy="296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AAAAA"/>
                </a:solidFill>
                <a:latin typeface="Arial"/>
              </a:rPr>
              <a:t>Publicly available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463040"/>
            <a:ext cx="2743200" cy="16459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0" y="1463040"/>
            <a:ext cx="2743200" cy="4572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1600200"/>
            <a:ext cx="256032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D100"/>
                </a:solidFill>
                <a:latin typeface="Arial"/>
              </a:rPr>
              <a:t>100M+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253081"/>
            <a:ext cx="25603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Views (Official Site)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746857"/>
            <a:ext cx="2560320" cy="296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AAAAA"/>
                </a:solidFill>
                <a:latin typeface="Arial"/>
              </a:rPr>
              <a:t>Publicly available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463040"/>
            <a:ext cx="2743200" cy="16459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463040"/>
            <a:ext cx="2743200" cy="4572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600200"/>
            <a:ext cx="256032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D100"/>
                </a:solidFill>
                <a:latin typeface="Arial"/>
              </a:rPr>
              <a:t>40+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253081"/>
            <a:ext cx="25603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Countries Reached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2746857"/>
            <a:ext cx="2560320" cy="296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AAAAA"/>
                </a:solidFill>
                <a:latin typeface="Arial"/>
              </a:rPr>
              <a:t>Publicly available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60" y="1463040"/>
            <a:ext cx="2743200" cy="16459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60" y="1463040"/>
            <a:ext cx="2743200" cy="4572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1600200"/>
            <a:ext cx="256032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D100"/>
                </a:solidFill>
                <a:latin typeface="Arial"/>
              </a:rPr>
              <a:t>2,000+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253081"/>
            <a:ext cx="25603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Restaurant Activations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2746857"/>
            <a:ext cx="2560320" cy="296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AAAAA"/>
                </a:solidFill>
                <a:latin typeface="Arial"/>
              </a:rPr>
              <a:t>Publicly available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429000"/>
            <a:ext cx="3657600" cy="22860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429000"/>
            <a:ext cx="3657600" cy="54864"/>
          </a:xfrm>
          <a:prstGeom prst="rect">
            <a:avLst/>
          </a:prstGeom>
          <a:solidFill>
            <a:srgbClr val="39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5204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9B54A"/>
                </a:solidFill>
                <a:latin typeface="Arial"/>
              </a:rPr>
              <a:t>TikTok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93192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D100"/>
                </a:solidFill>
                <a:latin typeface="Arial"/>
              </a:rPr>
              <a:t>4,600,000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262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Followers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82803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AAAA"/>
                </a:solidFill>
                <a:latin typeface="Arial"/>
              </a:rPr>
              <a:t>Favikon Nigeria TikTok #18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1663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777777"/>
                </a:solidFill>
                <a:latin typeface="Arial"/>
              </a:rPr>
              <a:t>* To be verified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3429000"/>
            <a:ext cx="3657600" cy="22860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97680" y="3429000"/>
            <a:ext cx="3657600" cy="5486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35204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1306C"/>
                </a:solidFill>
                <a:latin typeface="Arial"/>
              </a:rPr>
              <a:t>Instagram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393192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D100"/>
                </a:solidFill>
                <a:latin typeface="Arial"/>
              </a:rPr>
              <a:t>~2,000,000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34840" y="45262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Followers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482803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AAAA"/>
                </a:solidFill>
                <a:latin typeface="Arial"/>
              </a:rPr>
              <a:t>~1,600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34840" y="51663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777777"/>
                </a:solidFill>
                <a:latin typeface="Arial"/>
              </a:rPr>
              <a:t>* To be verified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0" y="3429000"/>
            <a:ext cx="3657600" cy="22860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29600" y="3429000"/>
            <a:ext cx="3657600" cy="54864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66760" y="35204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877F2"/>
                </a:solidFill>
                <a:latin typeface="Arial"/>
              </a:rPr>
              <a:t>Facebook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393192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D100"/>
                </a:solidFill>
                <a:latin typeface="Arial"/>
              </a:rPr>
              <a:t>2,009,903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66760" y="45262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Page Likes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66760" y="482803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AAAA"/>
                </a:solidFill>
                <a:latin typeface="Arial"/>
              </a:rPr>
              <a:t>273,673 talking about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51663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777777"/>
                </a:solidFill>
                <a:latin typeface="Arial"/>
              </a:rPr>
              <a:t>* To be verified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6666"/>
                </a:solidFill>
                <a:latin typeface="Arial"/>
              </a:rPr>
              <a:t>Publicly available data / To be verified with latest screenshots from creator/manager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9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9B54A"/>
                </a:solidFill>
                <a:latin typeface="Arial"/>
              </a:rPr>
              <a:t>WHY BIG GROOVE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なぜ今、Big Grooveなのか？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4114800" cy="36576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577840" cy="23774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5577840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100"/>
                </a:solidFill>
                <a:latin typeface="Arial"/>
              </a:rPr>
              <a:t>⚡  Viral Attention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リアクション動画・サプライズ演出でSNSバズを量産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7744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視聴者が思わず「シェアしたくなる」瞬間を設計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432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飲食コンテンツとの親和性が極めて高い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5577840" cy="23774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5577840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5544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100"/>
                </a:solidFill>
                <a:latin typeface="Arial"/>
              </a:rPr>
              <a:t>🤝  Real-World Engagement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0116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現場に入り込み、スタッフ・客とリアルに交流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37744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演技・台本なしの自然なエネルギーで信頼感を醸成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7432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来店者のUGC（二次投稿）を自然に誘発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114800"/>
            <a:ext cx="5577840" cy="23774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114800"/>
            <a:ext cx="5577840" cy="54864"/>
          </a:xfrm>
          <a:prstGeom prst="rect">
            <a:avLst/>
          </a:prstGeom>
          <a:solidFill>
            <a:srgbClr val="39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2062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100"/>
                </a:solidFill>
                <a:latin typeface="Arial"/>
              </a:rPr>
              <a:t>🍽️  Restaurant Activation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66344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2,000以上の飲食店で検証済みのコンテンツ手法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0292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料理の魅力を最大限に引き出す表現力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3949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高級店から大衆店まで幅広くマッチ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4114800"/>
            <a:ext cx="5577840" cy="23774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4114800"/>
            <a:ext cx="5577840" cy="54864"/>
          </a:xfrm>
          <a:prstGeom prst="rect">
            <a:avLst/>
          </a:prstGeom>
          <a:solidFill>
            <a:srgbClr val="39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42062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100"/>
                </a:solidFill>
                <a:latin typeface="Arial"/>
              </a:rPr>
              <a:t>🌏  Cultural Impact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66344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ナイジェリア・ボストン・世界を股にかけるバックグラウンド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50292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インバウンド観光客にも強くアピール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3949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グローバルセレブとのコネクションで国際的権威性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D100"/>
                </a:solidFill>
                <a:latin typeface="Arial"/>
              </a:rPr>
              <a:t>JAPAN MARKET 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日本市場との相性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4572000" cy="36576"/>
          </a:xfrm>
          <a:prstGeom prst="rect">
            <a:avLst/>
          </a:prstGeom>
          <a:solidFill>
            <a:srgbClr val="39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Arial"/>
              </a:rPr>
              <a:t>日本の飲食・観光シーンは、世界で最も「映える」コンテンツを生み出すポテンシャルを持っています。
Big Grooveはその魅力を世界に届ける最強のアンプリファイアーです。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331720"/>
            <a:ext cx="3657600" cy="1737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2331720"/>
            <a:ext cx="3657600" cy="4572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2423160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00"/>
                </a:solidFill>
                <a:latin typeface="Arial"/>
              </a:rPr>
              <a:t>🥩  焼肉・BBQ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834639"/>
            <a:ext cx="34381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煙と炎・肉の迫力はバイラル動画と相性抜群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331720"/>
            <a:ext cx="3657600" cy="1737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2331720"/>
            <a:ext cx="3657600" cy="45720"/>
          </a:xfrm>
          <a:prstGeom prst="rect">
            <a:avLst/>
          </a:prstGeom>
          <a:solidFill>
            <a:srgbClr val="39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2423160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00"/>
                </a:solidFill>
                <a:latin typeface="Arial"/>
              </a:rPr>
              <a:t>🍣  寿司・高級和食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2834639"/>
            <a:ext cx="34381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繊細な技・美しさをドラマチックに演出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331720"/>
            <a:ext cx="3657600" cy="1737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2331720"/>
            <a:ext cx="3657600" cy="45720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7" y="2423160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00"/>
                </a:solidFill>
                <a:latin typeface="Arial"/>
              </a:rPr>
              <a:t>🍜  ラーメン・つけ麺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2834639"/>
            <a:ext cx="34381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庶民的で親しみやすく、海外人気も絶大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297679"/>
            <a:ext cx="3657600" cy="1737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4297679"/>
            <a:ext cx="3657600" cy="4572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4389119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00"/>
                </a:solidFill>
                <a:latin typeface="Arial"/>
              </a:rPr>
              <a:t>🍺  居酒屋・バー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" y="4800599"/>
            <a:ext cx="34381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群衆のエネルギーをそのまま映像化できる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4297679"/>
            <a:ext cx="3657600" cy="1737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4297679"/>
            <a:ext cx="3657600" cy="45720"/>
          </a:xfrm>
          <a:prstGeom prst="rect">
            <a:avLst/>
          </a:prstGeom>
          <a:solidFill>
            <a:srgbClr val="39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7408" y="4389119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00"/>
                </a:solidFill>
                <a:latin typeface="Arial"/>
              </a:rPr>
              <a:t>🏯  観光施設・テーマパーク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4800599"/>
            <a:ext cx="34381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日本文化＋エンタメの融合でインバウンド訴求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4297679"/>
            <a:ext cx="3657600" cy="1737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0" y="4297679"/>
            <a:ext cx="3657600" cy="45720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39327" y="4389119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00"/>
                </a:solidFill>
                <a:latin typeface="Arial"/>
              </a:rPr>
              <a:t>🛍️  食品ブランド・EC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9327" y="4800599"/>
            <a:ext cx="34381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ブランドコラボ・PR Reelで商品認知を加速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6666"/>
                </a:solidFill>
                <a:latin typeface="Arial"/>
              </a:rPr>
              <a:t>Publicly available data / To be verified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9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9B54A"/>
                </a:solidFill>
                <a:latin typeface="Arial"/>
              </a:rPr>
              <a:t>CAMPAIGN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提案キャンペーン例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4114800" cy="36576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577840" cy="23317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502920" cy="233172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2194560"/>
            <a:ext cx="411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D0D0D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53619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100"/>
                </a:solidFill>
                <a:latin typeface="Arial"/>
              </a:rPr>
              <a:t>Restaurant Viral Visit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99339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サプライズ形式でレストランを訪問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7744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料理・スタッフ・雰囲気をバイラル演出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6148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TikTok / Instagram Reelで公開 → 来店動機を爆発的に創出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5577840" cy="23317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502920" cy="233172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2194560"/>
            <a:ext cx="411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D0D0D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53619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100"/>
                </a:solidFill>
                <a:latin typeface="Arial"/>
              </a:rPr>
              <a:t>Japan Food Tour Series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99339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東京・大阪・京都など複数都市を巡る動画シリーズ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37744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各都市のB級グルメ〜高級店を対比で魅せる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76148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インバウンド層にも強力にアピール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023360"/>
            <a:ext cx="5577840" cy="23317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023360"/>
            <a:ext cx="502920" cy="2331720"/>
          </a:xfrm>
          <a:prstGeom prst="rect">
            <a:avLst/>
          </a:prstGeom>
          <a:solidFill>
            <a:srgbClr val="39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754880"/>
            <a:ext cx="411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D0D0D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09651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100"/>
                </a:solidFill>
                <a:latin typeface="Arial"/>
              </a:rPr>
              <a:t>Brand Collaboration Reel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55371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特定ブランドの商品・店舗をフィーチャー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93776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Big Grooveのダンス・リアクションで商品価値を増幅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32180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ブランド公式アカウントでの二次利用権も確保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4023360"/>
            <a:ext cx="5577840" cy="23317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4023360"/>
            <a:ext cx="502920" cy="2331720"/>
          </a:xfrm>
          <a:prstGeom prst="rect">
            <a:avLst/>
          </a:prstGeom>
          <a:solidFill>
            <a:srgbClr val="39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4754880"/>
            <a:ext cx="411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D0D0D"/>
                </a:solidFill>
                <a:latin typeface="Arial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409651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100"/>
                </a:solidFill>
                <a:latin typeface="Arial"/>
              </a:rPr>
              <a:t>Live Event Appearance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455371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グランドオープン・周年イベント・フェスへの出演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493776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現場のエネルギーをリアルタイムで発信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32180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集客効果＋SNS拡散の相乗効果を実現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D100"/>
                </a:solidFill>
                <a:latin typeface="Arial"/>
              </a:rPr>
              <a:t>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提供コンテンツ・成果物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029200" cy="36576"/>
          </a:xfrm>
          <a:prstGeom prst="rect">
            <a:avLst/>
          </a:prstGeom>
          <a:solidFill>
            <a:srgbClr val="39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3657600" cy="21945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3657600" cy="54864"/>
          </a:xfrm>
          <a:prstGeom prst="rect">
            <a:avLst/>
          </a:prstGeom>
          <a:solidFill>
            <a:srgbClr val="39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72768"/>
            <a:ext cx="34381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9B54A"/>
                </a:solidFill>
                <a:latin typeface="Arial"/>
              </a:rPr>
              <a:t>📱  Instagram Reel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057400"/>
            <a:ext cx="343814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/>
              </a:rPr>
              <a:t>縦型ショート動画（15〜60秒）
ブランドタグ付き投稿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463040"/>
            <a:ext cx="3657600" cy="21945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463040"/>
            <a:ext cx="3657600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7408" y="1572768"/>
            <a:ext cx="34381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00"/>
                </a:solidFill>
                <a:latin typeface="Arial"/>
              </a:rPr>
              <a:t>🎵  TikTok Video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7408" y="2057400"/>
            <a:ext cx="343814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/>
              </a:rPr>
              <a:t>トレンドサウンド活用
ハッシュタグ戦略込み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463040"/>
            <a:ext cx="3657600" cy="21945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463040"/>
            <a:ext cx="3657600" cy="5486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7" y="1572768"/>
            <a:ext cx="34381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0000"/>
                </a:solidFill>
                <a:latin typeface="Arial"/>
              </a:rPr>
              <a:t>▶️  YouTube Shorts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2057400"/>
            <a:ext cx="343814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/>
              </a:rPr>
              <a:t>アーカイブ残存による
長期的な検索流入効果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86200"/>
            <a:ext cx="3657600" cy="21945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886200"/>
            <a:ext cx="3657600" cy="54864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3995928"/>
            <a:ext cx="34381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877F2"/>
                </a:solidFill>
                <a:latin typeface="Arial"/>
              </a:rPr>
              <a:t>👍  Facebook Post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4480560"/>
            <a:ext cx="343814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/>
              </a:rPr>
              <a:t>2M+ページへの投稿
高エンゲージメント層にリーチ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3886200"/>
            <a:ext cx="3657600" cy="21945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3886200"/>
            <a:ext cx="3657600" cy="54864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07408" y="3995928"/>
            <a:ext cx="34381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000"/>
                </a:solidFill>
                <a:latin typeface="Arial"/>
              </a:rPr>
              <a:t>🎤  Live Appearance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7408" y="4480560"/>
            <a:ext cx="343814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/>
              </a:rPr>
              <a:t>現地イベント出演
リアルタイム熱狂を創出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3886200"/>
            <a:ext cx="3657600" cy="21945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0" y="3886200"/>
            <a:ext cx="3657600" cy="54864"/>
          </a:xfrm>
          <a:prstGeom prst="rect">
            <a:avLst/>
          </a:prstGeom>
          <a:solidFill>
            <a:srgbClr val="CC00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9327" y="3995928"/>
            <a:ext cx="34381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00CC"/>
                </a:solidFill>
                <a:latin typeface="Arial"/>
              </a:rPr>
              <a:t>📂  二次利用素材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7" y="4480560"/>
            <a:ext cx="343814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/>
              </a:rPr>
              <a:t>クライアント側での広告・SNS再利用
ライセンス条件は要協議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9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9B54A"/>
                </a:solidFill>
                <a:latin typeface="Arial"/>
              </a:rPr>
              <a:t>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期待される効果・価値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4572000" cy="36576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3657600" cy="219456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3602736"/>
            <a:ext cx="3657600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100"/>
                </a:solidFill>
                <a:latin typeface="Arial"/>
              </a:rPr>
              <a:t>認知拡大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48840"/>
            <a:ext cx="33832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6B+ビューのリーチ基盤を活用し、
ブランド/店舗の認知を国内外に広げる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463040"/>
            <a:ext cx="3657600" cy="219456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3602736"/>
            <a:ext cx="3657600" cy="54864"/>
          </a:xfrm>
          <a:prstGeom prst="rect">
            <a:avLst/>
          </a:prstGeom>
          <a:solidFill>
            <a:srgbClr val="39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6002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62763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9B54A"/>
                </a:solidFill>
                <a:latin typeface="Arial"/>
              </a:rPr>
              <a:t>海外向け話題化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148840"/>
            <a:ext cx="33832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インバウンド層・海外ファンへの
日本グルメ情報発信を加速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463040"/>
            <a:ext cx="3657600" cy="219456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3602736"/>
            <a:ext cx="3657600" cy="54864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16002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162763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000"/>
                </a:solidFill>
                <a:latin typeface="Arial"/>
              </a:rPr>
              <a:t>来店動機の創出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148840"/>
            <a:ext cx="33832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「Big Grooveが行った店」として
SNSで話題化し来店意欲を刺激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86200"/>
            <a:ext cx="3657600" cy="21945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6025896"/>
            <a:ext cx="3657600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02336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4050791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100"/>
                </a:solidFill>
                <a:latin typeface="Arial"/>
              </a:rPr>
              <a:t>UGC誘発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572000"/>
            <a:ext cx="33832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視聴者・来店客が自発的に再投稿する
ユーザー生成コンテンツの連鎖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7680" y="3886200"/>
            <a:ext cx="3657600" cy="21945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6025896"/>
            <a:ext cx="3657600" cy="54864"/>
          </a:xfrm>
          <a:prstGeom prst="rect">
            <a:avLst/>
          </a:prstGeom>
          <a:solidFill>
            <a:srgbClr val="39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402336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83480" y="4050791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9B54A"/>
                </a:solidFill>
                <a:latin typeface="Arial"/>
              </a:rPr>
              <a:t>ブランドの国際感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572000"/>
            <a:ext cx="33832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グローバルインフルエンサーとの協業で
企業・店舗のブランド格を向上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3886200"/>
            <a:ext cx="3657600" cy="21945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29600" y="6025896"/>
            <a:ext cx="3657600" cy="54864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60" y="402336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4050791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000"/>
                </a:solidFill>
                <a:latin typeface="Arial"/>
              </a:rPr>
              <a:t>データ取得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4572000"/>
            <a:ext cx="33832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コンテンツのインプレッション・リーチ・
エンゲージメントをレポートとして提供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6666"/>
                </a:solidFill>
                <a:latin typeface="Arial"/>
              </a:rPr>
              <a:t>Publicly available data / To be verified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D100"/>
                </a:solidFill>
                <a:latin typeface="Arial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今後のステップ・アクション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4572000" cy="36576"/>
          </a:xfrm>
          <a:prstGeom prst="rect">
            <a:avLst/>
          </a:prstGeom>
          <a:solidFill>
            <a:srgbClr val="39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577840" cy="224028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914400" cy="224028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219456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0D0D"/>
                </a:solidFill>
                <a:latin typeface="Arial"/>
              </a:rPr>
              <a:t>STEP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53619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00"/>
                </a:solidFill>
                <a:latin typeface="Arial"/>
              </a:rPr>
              <a:t>候補店舗・ブランドの選定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993392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ターゲット業態・エリアの絞り込み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37744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Big Grooveのコンテンツスタイルとの相性確認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76148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予算感・期待効果の仮設定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5577840" cy="224028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914400" cy="224028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219456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0D0D"/>
                </a:solidFill>
                <a:latin typeface="Arial"/>
              </a:rPr>
              <a:t>STEP 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153619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00"/>
                </a:solidFill>
                <a:latin typeface="Arial"/>
              </a:rPr>
              <a:t>最新インサイト・条件の確認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1993392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creator/マネージャーから最新インサイトのスクリーンショット取得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237744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出演費・移動費・制作費の確認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276148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撮影ルール・監修フロー・投稿タイミングの合意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931920"/>
            <a:ext cx="5577840" cy="224028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931920"/>
            <a:ext cx="914400" cy="2240280"/>
          </a:xfrm>
          <a:prstGeom prst="rect">
            <a:avLst/>
          </a:prstGeom>
          <a:solidFill>
            <a:srgbClr val="39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66344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0D0D"/>
                </a:solidFill>
                <a:latin typeface="Arial"/>
              </a:rPr>
              <a:t>STEP 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00507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9B54A"/>
                </a:solidFill>
                <a:latin typeface="Arial"/>
              </a:rPr>
              <a:t>コンテンツ設計・日程調整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462272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撮影シナリオ・演出方針の共有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84632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投稿媒体・本数・フォーマット確定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23036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ロケーション下見・許可申請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931920"/>
            <a:ext cx="5577840" cy="224028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3931920"/>
            <a:ext cx="914400" cy="2240280"/>
          </a:xfrm>
          <a:prstGeom prst="rect">
            <a:avLst/>
          </a:prstGeom>
          <a:solidFill>
            <a:srgbClr val="39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466344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0D0D"/>
                </a:solidFill>
                <a:latin typeface="Arial"/>
              </a:rPr>
              <a:t>STEP 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400507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9B54A"/>
                </a:solidFill>
                <a:latin typeface="Arial"/>
              </a:rPr>
              <a:t>契約・実施・レポーティング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462272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使用権・二次利用範囲の契約締結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484632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撮影・編集・投稿の実施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523036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▸  インプレッション・リーチ・エンゲージメントのレポート提出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6400800"/>
            <a:ext cx="11430000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AAAA"/>
                </a:solidFill>
                <a:latin typeface="Arial"/>
              </a:rPr>
              <a:t>Contact:  booking@movewitgroove.com  |  Data: Publicly available / To be verified with latest insights from creator/manager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