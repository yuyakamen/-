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訪日海外インフルエンサー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キャスティング事業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97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C300"/>
                </a:solidFill>
              </a:rPr>
              <a:t>事 業 計 画 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29000"/>
            <a:ext cx="54864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611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海外インフルエンサー × 日本企業をつなぐコーディネート事業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2026年6月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西村 代表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目　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25880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371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エグゼクティブサマリー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84248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2996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029967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0756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市場背景と課題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88336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3405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2734056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7797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当社の提供価値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92424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38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438144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4838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ビジネスモデル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96512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1422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142232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187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ターゲット顧客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846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4846320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892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インフルエンサー獲得戦略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04688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55040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550407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559612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インフルエンサー管理・評価設計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28016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325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1325880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9168" y="1371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営業戦略・DMテンプレート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1984248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202996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2029967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59168" y="20756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組織体制・業務フロー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688336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273405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2734056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27797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KPI・数値目標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392424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3438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3438144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59168" y="34838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リスクと対策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4096512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41422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4142232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59168" y="4187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将来構想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800600"/>
            <a:ext cx="50292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4846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9440" y="4846320"/>
            <a:ext cx="512064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9168" y="4892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90日間アクションプラン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01｜エグゼクティブサマリー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801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事業概要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3657600" cy="475488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7830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</a:rPr>
              <a:t>訪日予定の海外インフルエンサーを</a:t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>日本の飲食店・ホテル・観光施設へ</a:t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>キャスティングする仲介事業</a:t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>当社Instagramアカウントを</a:t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>インフルエンサー獲得チャネルとして活用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34440"/>
            <a:ext cx="36576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2801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なぜ今か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91640"/>
            <a:ext cx="3657600" cy="475488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7830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</a:rPr>
              <a:t>✓ インバウンド需要 急増中</a:t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>✓ SNSによる海外集客ニーズ 高騰</a:t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>✓ 当社既存アセットで即参入可能</a:t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>✓ インフルエンサーからの自発的接触 増加</a:t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>✓ 競合少なく 先行者優位 を取れる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3657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2801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期待成果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691640"/>
            <a:ext cx="3657600" cy="475488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7830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</a:rPr>
              <a:t>3ヶ月：登録50名</a:t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>6ヶ月：月間5件受注</a:t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>12ヶ月：月間20件受注</a:t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>将来：日本最大級の</a:t>
            </a:r>
          </a:p>
          <a:p>
            <a:pPr algn="l"/>
            <a:r>
              <a:rPr sz="1350" b="0">
                <a:solidFill>
                  <a:srgbClr val="FFFFFF"/>
                </a:solidFill>
              </a:rPr>
              <a:t>訪日インフルエンサーDB構築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02｜市場背景と課題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Market Background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47548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61872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🍽️  飲食店の課題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09928"/>
            <a:ext cx="3749039" cy="36576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3520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❌ 海外集客したいが方法がない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❌ 英語対応が難しい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❌ インフルエンサーとの接点がない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❌ 誰に頼めばよいかわからない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34440"/>
            <a:ext cx="3749039" cy="475488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61872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🏨  ホテルの課題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709928"/>
            <a:ext cx="3749039" cy="36576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10512"/>
            <a:ext cx="3520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❌ インバウンド集客を強化したい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❌ SNS露出を増やしたい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❌ 海外向け認知を拡大したい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❌ 効果測定が難しい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3749039" cy="475488"/>
          </a:xfrm>
          <a:prstGeom prst="rect">
            <a:avLst/>
          </a:prstGeom>
          <a:solidFill>
            <a:srgbClr val="6A0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1261872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📱  インフルエンサーの課題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709928"/>
            <a:ext cx="3749039" cy="36576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810512"/>
            <a:ext cx="3520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❌ 日本の良い店舗を知らない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❌ PR案件獲得が難しい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❌ 日本語での交渉が難しい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❌ 旅行中の情報収集に時間がかかる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486400"/>
            <a:ext cx="11521440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300"/>
                </a:solidFill>
              </a:rPr>
              <a:t>→ これら3者の課題を「当社」が一括解決する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03｜当社の提供価値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Value Proposition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2743200"/>
            <a:ext cx="3246120" cy="13716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7432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当社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29184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コーディネーター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3657600" cy="288036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海外インフルエンサー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5146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無料飲食体験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ホテル体験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観光体験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日本国内での案件紹介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日本語サポート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657600" cy="2880360"/>
          </a:xfrm>
          <a:prstGeom prst="rect">
            <a:avLst/>
          </a:prstGeom>
          <a:solidFill>
            <a:srgbClr val="0F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飲食店・ホテル・施設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5146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海外インフルエンサー紹介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日程調整・来店管理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投稿管理・効果測定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レポート提出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英語コミュニケーション代行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1546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300"/>
                </a:solidFill>
              </a:rPr>
              <a:t>←→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1546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300"/>
                </a:solidFill>
              </a:rPr>
              <a:t>←→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212080"/>
            <a:ext cx="941832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25780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「海外インフルエンサーと日本企業を繋ぐコーディネーター」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04｜ビジネスモデル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Business Model — Phase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743200" cy="41148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2618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2743200" cy="502920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67335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300"/>
                </a:solidFill>
              </a:rPr>
              <a:t>実績作り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2743200" cy="13716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12848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店舗負担：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飲食代・宿泊費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20440"/>
            <a:ext cx="2743200" cy="7315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35661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当社収益：なし
→ 事例・投稿実績獲得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2697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94F37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234440"/>
            <a:ext cx="274320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12618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645920"/>
            <a:ext cx="2743200" cy="502920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167335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300"/>
                </a:solidFill>
              </a:rPr>
              <a:t>単発キャスティング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148840"/>
            <a:ext cx="2743200" cy="13716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2212848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クライアント負担：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インフルエンサー費用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520440"/>
            <a:ext cx="2743200" cy="7315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35661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¥30,000〜¥100,000 / 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697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94F37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234440"/>
            <a:ext cx="274320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12618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645920"/>
            <a:ext cx="2743200" cy="502920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167335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300"/>
                </a:solidFill>
              </a:rPr>
              <a:t>月額契約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148840"/>
            <a:ext cx="2743200" cy="13716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2212848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毎月インフルエンサー紹介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レポート提出付き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520440"/>
            <a:ext cx="2743200" cy="7315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35661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¥50,000〜¥300,000 / 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697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94F37"/>
                </a:solidFill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1234440"/>
            <a:ext cx="274320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17152" y="12618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1645920"/>
            <a:ext cx="2743200" cy="502920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17152" y="167335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300"/>
                </a:solidFill>
              </a:rPr>
              <a:t>自治体・観光施設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2148840"/>
            <a:ext cx="2743200" cy="13716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3728" y="2212848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高単価プロジェクト案件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520440"/>
            <a:ext cx="2743200" cy="7315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17152" y="35661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¥500,000〜 / 案件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572000"/>
            <a:ext cx="11430000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0120" y="5989320"/>
            <a:ext cx="1828800" cy="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6035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</a:rPr>
              <a:t>Phase1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86200" y="5852159"/>
            <a:ext cx="1828800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03320" y="6035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</a:rPr>
              <a:t>Phase2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12280" y="5440679"/>
            <a:ext cx="1828800" cy="54864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6035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</a:rPr>
              <a:t>Phase3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38360" y="4617720"/>
            <a:ext cx="1828800" cy="13716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5480" y="6035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</a:rPr>
              <a:t>Phase4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収益スケールイメージ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05｜ターゲット顧客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Target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8892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527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① ホテル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234440"/>
            <a:ext cx="822960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25272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最優先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788920" cy="36576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2560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予算規模が最も大きい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インバウンド強化ニーズ高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SNS露出の費用対効果を理解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月額契約に移行しやすい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234440"/>
            <a:ext cx="278892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2527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② 高単価飲食店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234440"/>
            <a:ext cx="822960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25272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優先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691640"/>
            <a:ext cx="2788920" cy="36576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83080"/>
            <a:ext cx="2560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インバウンド需要が高い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外国人観光客の口コミ重視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写真映えコンテンツと相性◎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比較的決済が早い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234440"/>
            <a:ext cx="278892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12527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③ 観光施設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234440"/>
            <a:ext cx="822960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25272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中期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691640"/>
            <a:ext cx="2788920" cy="36576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83080"/>
            <a:ext cx="2560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集客単価が見えやすい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地域PR予算を持つ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自治体連携案件に発展可能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234440"/>
            <a:ext cx="2788920" cy="457200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2527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④ 自治体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55680" y="1234440"/>
            <a:ext cx="822960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0" y="125272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長期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1691640"/>
            <a:ext cx="2788920" cy="36576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1783080"/>
            <a:ext cx="2560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高単価・大型案件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観光DMO連携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• 実績積み上げ後に参入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06｜インフルエンサー獲得戦略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Influencer Acquisition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7101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81912"/>
            <a:ext cx="27432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6184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Instagramアカウント活用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39112"/>
            <a:ext cx="2743200" cy="155448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10312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大阪観光コンテンツを発信し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海外フォロワーを増加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1" y="1783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274320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27101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581912"/>
            <a:ext cx="27432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16184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フォロワーとの接触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039112"/>
            <a:ext cx="2743200" cy="155448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210312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フォロー・いいね・コメント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から旅行予定者を特定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1783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234440"/>
            <a:ext cx="274320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127101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581912"/>
            <a:ext cx="27432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6184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旅行予定確認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039112"/>
            <a:ext cx="2743200" cy="155448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10312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DMにて来日時期・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滞在都市を確認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1783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234440"/>
            <a:ext cx="274320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127101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1581912"/>
            <a:ext cx="27432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62872" y="16184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インサイト取得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20" y="2039112"/>
            <a:ext cx="2743200" cy="155448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210312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フォロワー数・エンゲージメント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国籍・年齢層を収集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274320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8313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142232"/>
            <a:ext cx="27432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417880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DB登録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599432"/>
            <a:ext cx="2743200" cy="155448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66344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管理シートへ登録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ランク付けを実施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44951" y="43434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3794760"/>
            <a:ext cx="274320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9272" y="38313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46120" y="4142232"/>
            <a:ext cx="27432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19272" y="417880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案件提案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46120" y="4599432"/>
            <a:ext cx="2743200" cy="155448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55848" y="466344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条件マッチする案件を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DMにて提案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6752" y="43434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794760"/>
            <a:ext cx="274320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38313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142232"/>
            <a:ext cx="27432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417880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来店・体験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599432"/>
            <a:ext cx="2743200" cy="155448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466344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日程調整・事前案内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来店サポート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88552" y="43434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89720" y="3794760"/>
            <a:ext cx="274320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62872" y="38313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89720" y="4142232"/>
            <a:ext cx="27432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62872" y="417880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投稿・レポート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89720" y="4599432"/>
            <a:ext cx="2743200" cy="155448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99448" y="466344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投稿確認・保存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クライアントへ報告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300"/>
                </a:solidFill>
              </a:rPr>
              <a:t>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07｜インフルエンサー管理設計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Influencer Database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9476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基本情報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3794760" cy="347472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取得項目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66420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取得目的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93392"/>
            <a:ext cx="3794760" cy="6858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93392"/>
            <a:ext cx="36576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13055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氏名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79" y="213055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個人特定・管理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24912"/>
            <a:ext cx="3794760" cy="685800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724912"/>
            <a:ext cx="36576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86207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国籍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79" y="286207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ターゲット国マッチング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56432"/>
            <a:ext cx="3794760" cy="6858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456432"/>
            <a:ext cx="36576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5935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Instagram 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79" y="359359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アカウント確認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87952"/>
            <a:ext cx="3794760" cy="685800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187952"/>
            <a:ext cx="36576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3251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メール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79" y="432511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連絡手段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919472"/>
            <a:ext cx="3794760" cy="6858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919472"/>
            <a:ext cx="36576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505663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WhatsApp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505663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海外連絡主要手段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1234440"/>
            <a:ext cx="379476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399" y="1252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アカウント情報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1645920"/>
            <a:ext cx="3794760" cy="347472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399" y="166420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取得項目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66420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取得目的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1993392"/>
            <a:ext cx="3794760" cy="6858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59" y="1993392"/>
            <a:ext cx="36576" cy="6858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61688" y="213055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フォロワー数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19" y="213055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影響力の基準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59" y="2724912"/>
            <a:ext cx="3794760" cy="685800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59" y="2724912"/>
            <a:ext cx="36576" cy="6858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61688" y="286207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平均再生数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19" y="286207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リーチ力評価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3456432"/>
            <a:ext cx="3794760" cy="6858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59" y="3456432"/>
            <a:ext cx="36576" cy="6858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61688" y="35935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平均いいね数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19" y="359359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エンゲージメント評価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59" y="4187952"/>
            <a:ext cx="3794760" cy="685800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51959" y="4187952"/>
            <a:ext cx="36576" cy="6858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61688" y="43251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主要フォロワー国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19" y="432511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案件ターゲット合致確認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51959" y="4919472"/>
            <a:ext cx="3794760" cy="6858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51959" y="4919472"/>
            <a:ext cx="36576" cy="6858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61688" y="505663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男女比 / 年齢比率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19" y="505663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顧客層マッチング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1234440"/>
            <a:ext cx="379476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0" y="1252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旅行情報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1645920"/>
            <a:ext cx="3794760" cy="347472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1040" y="166420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取得項目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166420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取得目的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1993392"/>
            <a:ext cx="3794760" cy="6858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600" y="1993392"/>
            <a:ext cx="36576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39327" y="213055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来日時期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95560" y="213055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案件提案のタイミング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2724912"/>
            <a:ext cx="3794760" cy="685800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29600" y="2724912"/>
            <a:ext cx="36576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39327" y="286207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滞在都市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95560" y="286207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エリアマッチング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0" y="3456432"/>
            <a:ext cx="3794760" cy="6858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29600" y="3456432"/>
            <a:ext cx="36576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39327" y="35935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同行人数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95560" y="359359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予約・手配の規模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4187952"/>
            <a:ext cx="3794760" cy="685800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229600" y="4187952"/>
            <a:ext cx="36576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39327" y="43251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滞在日数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95560" y="432511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案件組み込み計画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600" y="4919472"/>
            <a:ext cx="3794760" cy="68580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229600" y="4919472"/>
            <a:ext cx="36576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39327" y="505663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訪問希望ジャンル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95560" y="505663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マッチング精度向上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07｜インフルエンサー評価基準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Influencer Ranking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8872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ランク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1234440"/>
            <a:ext cx="25146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2618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 ランク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691640"/>
            <a:ext cx="2514600" cy="438912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1719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フォロワー 10万人以上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3749039" cy="283464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06040"/>
            <a:ext cx="3520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活用方針: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✓ 大手ホテル・自治体案件優先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✓ 高単価キャスティング対象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✓ 専任担当で丁寧にフォロー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234440"/>
            <a:ext cx="1188720" cy="11887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26187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057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ランク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1234440"/>
            <a:ext cx="251460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12618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 ランク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691640"/>
            <a:ext cx="2514600" cy="438912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719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フォロワー 3万人以上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514600"/>
            <a:ext cx="3749039" cy="283464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606040"/>
            <a:ext cx="3520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活用方針: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✓ 高単価飲食店・中規模ホテル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✓ 月額契約への移行を促進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✓ 定期的な案件提供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234440"/>
            <a:ext cx="1188720" cy="1188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26187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057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ランク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1234440"/>
            <a:ext cx="25146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12618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 ランク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40" y="1691640"/>
            <a:ext cx="2514600" cy="438912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1719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フォロワー 1万人以上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514600"/>
            <a:ext cx="3749039" cy="283464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606040"/>
            <a:ext cx="3520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活用方針: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✓ Phase1の実績作り対象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✓ ニッチ訴求・特定ジャンル強み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  ✓ エンゲージメント率を重視評価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486400"/>
            <a:ext cx="11430000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5961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99"/>
                </a:solidFill>
              </a:rPr>
              <a:t>共通評価指標：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5577840"/>
            <a:ext cx="2103120" cy="384048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5596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再生数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0" y="5577840"/>
            <a:ext cx="2103120" cy="384048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5596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エンゲージメント率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5577840"/>
            <a:ext cx="2103120" cy="384048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5596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ターゲット国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64040" y="5577840"/>
            <a:ext cx="2103120" cy="384048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5596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投稿品質・世界観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09｜営業戦略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Sales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94760" cy="43891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618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🍽️ 飲食店向け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3794760" cy="489204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737360"/>
            <a:ext cx="36118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アプローチ方法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・食べログ / Googleマップで高評価店をリスト化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・DM / メールで初回接触（日本語）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・「海外インフルエンサーに無料で紹介」訴求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営業トーク例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「現在、大阪を訪れる海外インフルエンサー（フォロワー数万〜数十万）への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飲食店PR案件を展開しています。初回は完全無料でご紹介可能です。」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34440"/>
            <a:ext cx="3794760" cy="438912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618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🏨 ホテル向け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673352"/>
            <a:ext cx="3794760" cy="489204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737360"/>
            <a:ext cx="36118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アプローチ方法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・インバウンド担当へ直接アポ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・マーケ部門へ提案書を送付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・宿泊無料提供＋SNS露出を提案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営業トーク例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「海外SNSで数万〜数十万フォロワーを持つ訪日インフルエンサーに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貴ホテルを体験いただき、リールやストーリーで発信してもらいます。」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3794760" cy="4389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2618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🏯 観光施設向け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673352"/>
            <a:ext cx="3794760" cy="489204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737360"/>
            <a:ext cx="36118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アプローチ方法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・施設担当・広報部門へメール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・観光協会経由での紹介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・自治体観光課へのアプローチ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営業トーク例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「訪日インフルエンサーに施設を体験していただき、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海外への認知拡大・インバウンド集客強化を支援します。」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10｜DMテンプレート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DM &amp; Email Templates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6576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271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📱 インフルエンサー初回DM（英語）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18488"/>
            <a:ext cx="11521440" cy="1298448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12471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DEEFF"/>
                </a:solidFill>
              </a:rPr>
              <a:t>Hi [Name]! 😊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We noticed you're planning a trip to Japan!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We connect overseas influencers with the best restaurants, hotels,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and attractions in Osaka — completely FREE.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Would you be interested in a collaboration? 🍣🏯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17520"/>
            <a:ext cx="3657600" cy="384048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0540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インサイト回収DM（英語）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401568"/>
            <a:ext cx="11521440" cy="1298448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112471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DEEFF"/>
                </a:solidFill>
              </a:rPr>
              <a:t>Thanks for your interest! 🙌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To set up the best experience for you, could you share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your Instagram insights screenshot?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(Followers / Reach / Audience country)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This helps us match you with the perfect partners!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800600"/>
            <a:ext cx="365760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483717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📧 飲食店向け営業メール（日本語）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184648"/>
            <a:ext cx="11521440" cy="1298448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112471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DEEFF"/>
                </a:solidFill>
              </a:rPr>
              <a:t>件名：海外インフルエンサーPRのご提案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/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突然のご連絡失礼いたします。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弊社は訪日予定の海外インフルエンサーと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日本国内の飲食店・ホテルをマッチングする事業を展開しております。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初回は完全無料でご案内可能です。</a:t>
            </a:r>
          </a:p>
          <a:p>
            <a:pPr algn="l"/>
            <a:r>
              <a:rPr sz="1150" b="0">
                <a:solidFill>
                  <a:srgbClr val="DDEEFF"/>
                </a:solidFill>
              </a:rPr>
              <a:t>お気軽にご返信ください。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11｜組織体制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Organization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234440"/>
            <a:ext cx="3566160" cy="47548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23444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代表　西村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709928"/>
            <a:ext cx="54864" cy="4572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2167128"/>
            <a:ext cx="7589520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2167128"/>
            <a:ext cx="54864" cy="4572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20656" y="2167128"/>
            <a:ext cx="54864" cy="4572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2633472"/>
            <a:ext cx="36576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6334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代表（西村）の役割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3017520"/>
            <a:ext cx="3657600" cy="265176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090672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インフルエンサー獲得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クライアント営業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商談・クロージング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案件判断・意思決定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サービス設計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633472"/>
            <a:ext cx="3657600" cy="384048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6334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運用担当の役割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3657600" cy="265176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090672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データベース管理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インサイト回収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日程調整・来店サポート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投稿確認・保存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✅ レポート作成・提出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97880"/>
            <a:ext cx="11247120" cy="594360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★ スモールスタート2名体制から開始。案件増加に応じて業務委託・採用を検討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12｜業務フロー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Business Operation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50876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389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① 代表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1508760" cy="39319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54864" cy="3931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2918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インフルエンサー獲得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1371600"/>
            <a:ext cx="150876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9112" y="1389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② 代表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1783080"/>
            <a:ext cx="1508760" cy="39319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65960" y="1783080"/>
            <a:ext cx="54864" cy="3931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32918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旅行予定確認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1371600"/>
            <a:ext cx="150876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1389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③ 運用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1783080"/>
            <a:ext cx="1508760" cy="39319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1783080"/>
            <a:ext cx="54864" cy="39319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32918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インサイト回収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1371600"/>
            <a:ext cx="150876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22392" y="1389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④ 代表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1783080"/>
            <a:ext cx="1508760" cy="39319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49240" y="1783080"/>
            <a:ext cx="54864" cy="3931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32918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案件提案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1371600"/>
            <a:ext cx="150876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1389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⑤ 運用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1783080"/>
            <a:ext cx="1508760" cy="39319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1783080"/>
            <a:ext cx="54864" cy="39319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32918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来店調整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7072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1371600"/>
            <a:ext cx="150876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05672" y="1389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⑥ インフルエンサー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1783080"/>
            <a:ext cx="1508760" cy="39319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32520" y="1783080"/>
            <a:ext cx="54864" cy="3931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32918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来店・投稿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68712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0" y="1371600"/>
            <a:ext cx="1508760" cy="411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97312" y="1389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⑦ 運用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24160" y="1783080"/>
            <a:ext cx="1508760" cy="39319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424160" y="1783080"/>
            <a:ext cx="54864" cy="39319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61320" y="329184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レポート提出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989320"/>
            <a:ext cx="11612880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86000" y="6080760"/>
            <a:ext cx="228600" cy="2743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0320" y="6080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■ 代表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2080" y="6080760"/>
            <a:ext cx="228600" cy="2743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0" y="6080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■ 運用担当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6080760"/>
            <a:ext cx="2286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6080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■ インフルエンサー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13｜KPI設計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KPI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486400" cy="43891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代表（西村）KPI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91640"/>
            <a:ext cx="5486400" cy="713232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54864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64792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新規インフルエンサー獲得数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764792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月10名〜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6479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認知・DB成長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41448"/>
            <a:ext cx="5486400" cy="713232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441448"/>
            <a:ext cx="54864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1460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商談数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514600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月5件〜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51460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営業活動量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91256"/>
            <a:ext cx="5486400" cy="713232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191256"/>
            <a:ext cx="54864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64408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受注数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264408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月3件〜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6440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収益化KPI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41064"/>
            <a:ext cx="5486400" cy="713232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941064"/>
            <a:ext cx="54864" cy="7132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14216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月間売上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014216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目標額達成率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014216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事業成立確認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234440"/>
            <a:ext cx="5486400" cy="438912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261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運用担当 KPI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691640"/>
            <a:ext cx="5486400" cy="713232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691640"/>
            <a:ext cx="54864" cy="713232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764792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インサイト回収率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1764792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80%以上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176479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DB品質管理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441448"/>
            <a:ext cx="5486400" cy="713232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2441448"/>
            <a:ext cx="54864" cy="713232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51460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案件管理数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2514600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同時5件〜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251460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業務処理能力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191256"/>
            <a:ext cx="5486400" cy="713232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3191256"/>
            <a:ext cx="54864" cy="713232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264408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投稿完了率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264408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90%以上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326440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サービス品質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941064"/>
            <a:ext cx="5486400" cy="713232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3941064"/>
            <a:ext cx="54864" cy="713232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014216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レポート提出率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014216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52760" y="4014216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顧客満足度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892040"/>
            <a:ext cx="11521440" cy="438912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9194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📅 KPIレビュー：毎月月初に前月振り返り → 翌月アクション策定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14｜数値目標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Numerical Targets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5943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3ヶ月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3657600" cy="9601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4864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476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登録インフルエンサー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50名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3657600" cy="960120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54864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535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月間案件数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37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1〜2件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3657600" cy="9601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86200"/>
            <a:ext cx="54864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593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月間売上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43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0〜10万円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92040"/>
            <a:ext cx="3657600" cy="960120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892040"/>
            <a:ext cx="54864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9651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主な活動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49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実績作り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234440"/>
            <a:ext cx="3657600" cy="59436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1261872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6ヶ月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874519"/>
            <a:ext cx="3657600" cy="9601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1874519"/>
            <a:ext cx="54864" cy="9601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19476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登録インフルエンサー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100名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880360"/>
            <a:ext cx="3657600" cy="960120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2880360"/>
            <a:ext cx="54864" cy="9601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29535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月間案件数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337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5件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886200"/>
            <a:ext cx="3657600" cy="9601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3886200"/>
            <a:ext cx="54864" cy="9601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9593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月間売上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343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20〜50万円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892040"/>
            <a:ext cx="3657600" cy="960120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4892040"/>
            <a:ext cx="54864" cy="96012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49651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主な活動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349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有料化スタート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1234440"/>
            <a:ext cx="365760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1261872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12ヶ月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1874519"/>
            <a:ext cx="3657600" cy="9601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1874519"/>
            <a:ext cx="54864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19476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登録インフルエンサー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300名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2880360"/>
            <a:ext cx="3657600" cy="960120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2880360"/>
            <a:ext cx="54864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29535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月間案件数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3337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20件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3886200"/>
            <a:ext cx="3657600" cy="9601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600" y="3886200"/>
            <a:ext cx="54864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60" y="39593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月間売上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4343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100〜300万円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4892040"/>
            <a:ext cx="3657600" cy="960120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9600" y="4892040"/>
            <a:ext cx="54864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66760" y="49651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主な活動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5349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自治体・大型案件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056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94F37"/>
                </a:solidFill>
              </a:rPr>
              <a:t>→  成長軌道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15｜リスクと対策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Risk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43200" cy="41148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99"/>
                </a:solidFill>
              </a:rPr>
              <a:t>リスク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234440"/>
            <a:ext cx="1097280" cy="41148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2618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88899"/>
                </a:solidFill>
              </a:rPr>
              <a:t>レベル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234440"/>
            <a:ext cx="7726679" cy="41148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6187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99"/>
                </a:solidFill>
              </a:rPr>
              <a:t>対　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64208"/>
            <a:ext cx="2743200" cy="932688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664208"/>
            <a:ext cx="54864" cy="93268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0136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投稿未実施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1664208"/>
            <a:ext cx="1097280" cy="93268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1920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664208"/>
            <a:ext cx="7726679" cy="932688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755648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事前に投稿義務を明記した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合意書（DM文書化）を取得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投稿期限を明確に設定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51760"/>
            <a:ext cx="2743200" cy="932688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51760"/>
            <a:ext cx="54864" cy="932688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8892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来店キャンセル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2651760"/>
            <a:ext cx="1097280" cy="932688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29077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2651760"/>
            <a:ext cx="7726679" cy="932688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743200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前日リマインドDM送信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キャンセルポリシーを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事前合意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639312"/>
            <a:ext cx="2743200" cy="932688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639312"/>
            <a:ext cx="54864" cy="93268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7647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フォロワー購入</a:t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アカウント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3639312"/>
            <a:ext cx="1097280" cy="93268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40" y="389534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639312"/>
            <a:ext cx="7726679" cy="932688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373075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インサイト確認を必須化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エンゲージメント率で判定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(目安：1%以上)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626864"/>
            <a:ext cx="2743200" cy="932688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626864"/>
            <a:ext cx="54864" cy="9326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764024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成果測定困難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4626864"/>
            <a:ext cx="1097280" cy="9326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63240" y="488289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4626864"/>
            <a:ext cx="7726679" cy="932688"/>
          </a:xfrm>
          <a:prstGeom prst="rect">
            <a:avLst/>
          </a:prstGeom>
          <a:solidFill>
            <a:srgbClr val="1E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4718304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投稿URLを保存・記録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リーチ数・いいね数を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レポートに明記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614416"/>
            <a:ext cx="2743200" cy="932688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614416"/>
            <a:ext cx="54864" cy="932688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751576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競合参入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5614416"/>
            <a:ext cx="1097280" cy="932688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3240" y="58704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5614416"/>
            <a:ext cx="7726679" cy="932688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0" y="5705856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DB規模で差別化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先行優位を早期確立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リレーション深化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16｜将来構想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Future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114800"/>
            <a:ext cx="210312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飲食店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キャスティング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074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Phase 1 〜6ヶ月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3474720"/>
            <a:ext cx="2103120" cy="155448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3611879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ホテル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月額契約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59" y="5074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Phase 2 〜12ヶ月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59" y="2834640"/>
            <a:ext cx="2103120" cy="21945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199" y="2971800"/>
            <a:ext cx="19202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観光施設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大型案件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5074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Phase 3 〜18ヶ月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79" y="2194560"/>
            <a:ext cx="2103120" cy="2834639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19" y="2331720"/>
            <a:ext cx="1920240" cy="2651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自治体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DMO連携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5074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Phase 4 〜24ヶ月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554480"/>
            <a:ext cx="2103120" cy="34747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691640"/>
            <a:ext cx="19202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</a:rPr>
              <a:t>日本最大級</a:t>
            </a:r>
          </a:p>
          <a:p>
            <a:pPr algn="ctr"/>
            <a:r>
              <a:rPr sz="1300" b="1">
                <a:solidFill>
                  <a:srgbClr val="1A1A2E"/>
                </a:solidFill>
              </a:rPr>
              <a:t>INFLUENCER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5074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Phase 5 〜3年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029200"/>
            <a:ext cx="11612880" cy="54864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486400"/>
            <a:ext cx="11612880" cy="777240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🌏 最終目標：訪日インフルエンサーのデータベースを日本一の規模へ　→　プラットフォーム化・SaaS化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17｜今後90日間アクションプラン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90-Day Action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52728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Month 1（7月）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234440"/>
            <a:ext cx="3749039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252728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Month 2（8月）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234440"/>
            <a:ext cx="3749039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252728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Month 3（9月）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91640"/>
            <a:ext cx="3749039" cy="43891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178308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【DB構築】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・管理シート設計・整備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・既存フォロワーへのDM開始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・インサイト回収フロー確立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【営業準備】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・営業リスト作成（飲食20件）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・提案資料作成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・DMテンプレート完成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【目標】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登録インフルエンサー20名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691640"/>
            <a:ext cx="3749039" cy="43891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1" y="178308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【初回PR実施】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・飲食店PR 3〜5件実行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・投稿レポート作成・蓄積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【営業開始】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・飲食店10社へ営業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・ホテル5社へアプローチ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・初回有料受注を目指す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【目標】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登録50名 / 有料1件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691640"/>
            <a:ext cx="3749039" cy="4389120"/>
          </a:xfrm>
          <a:prstGeom prst="rect">
            <a:avLst/>
          </a:prstGeom>
          <a:solidFill>
            <a:srgbClr val="1A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78308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【スケールアップ】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・月額契約 2〜3社獲得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・ホテル有料案件 1件受注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【品質向上】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・レポートテンプレート完成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・投稿品質チェックリスト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・DB 300名体制設計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【目標】</a:t>
            </a:r>
          </a:p>
          <a:p>
            <a:pPr algn="l"/>
            <a:r>
              <a:rPr sz="1150" b="0">
                <a:solidFill>
                  <a:srgbClr val="FFFFFF"/>
                </a:solidFill>
              </a:rPr>
              <a:t>月間案件5件 / 売上20万円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6172200"/>
            <a:ext cx="1156716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90日目標：登録インフルエンサー50名｜有料案件5件｜月間売上20万円達成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888899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今すぐ始める3つのアクション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3474720" cy="2103120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54864" cy="2103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F3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017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インフルエンサーDBシート作成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566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Google スプレッドシートでフォーマット整備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468880"/>
            <a:ext cx="3474720" cy="2103120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468880"/>
            <a:ext cx="54864" cy="2103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514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F37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17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既存フォロワーへのDM開始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566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旅行予定インフルエンサーへの初回接触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2468880"/>
            <a:ext cx="3474720" cy="2103120"/>
          </a:xfrm>
          <a:prstGeom prst="rect">
            <a:avLst/>
          </a:prstGeom>
          <a:solidFill>
            <a:srgbClr val="22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2468880"/>
            <a:ext cx="54864" cy="2103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514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F37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1" y="3017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飲食店営業リスト20件作成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1" y="3566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食べログ・Googleマップで大阪エリアをリスト化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12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事業成功に向けて — 本日の意思決定をお願いします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2026年6月　西村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20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