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47548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1887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Yu Gothic"/>
              </a:rPr>
              <a:t>大阪ローカル DMC / DMO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D4AF37"/>
                </a:solidFill>
                <a:latin typeface="Yu Gothic"/>
              </a:rPr>
              <a:t>形成支援事業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CCCCC"/>
                </a:solidFill>
                <a:latin typeface="Yu Gothic"/>
              </a:rPr>
              <a:t>大阪のローカル地域資源を、海外向け高付加価値体験へ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566160"/>
            <a:ext cx="2926080" cy="411480"/>
          </a:xfrm>
          <a:prstGeom prst="rect">
            <a:avLst/>
          </a:prstGeom>
          <a:solidFill>
            <a:srgbClr val="1B4D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611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4AF37"/>
                </a:solidFill>
                <a:latin typeface="Yu Gothic"/>
              </a:rPr>
              <a:t>東大阪 × 八尾 × 蒲生四丁目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566160"/>
            <a:ext cx="2926080" cy="411480"/>
          </a:xfrm>
          <a:prstGeom prst="rect">
            <a:avLst/>
          </a:prstGeom>
          <a:solidFill>
            <a:srgbClr val="1B4D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611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4AF37"/>
                </a:solidFill>
                <a:latin typeface="Yu Gothic"/>
              </a:rPr>
              <a:t>インバウンド × ローカル × 高付加価値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3566160"/>
            <a:ext cx="2926080" cy="411480"/>
          </a:xfrm>
          <a:prstGeom prst="rect">
            <a:avLst/>
          </a:prstGeom>
          <a:solidFill>
            <a:srgbClr val="1B4D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611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4AF37"/>
                </a:solidFill>
                <a:latin typeface="Yu Gothic"/>
              </a:rPr>
              <a:t>DMC / DMO形成支援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2179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  <a:latin typeface="Yu Gothic"/>
              </a:rPr>
              <a:t>社内企画資料　｜　Confidential　｜　2026年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本企画の背景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F37"/>
                </a:solidFill>
                <a:latin typeface="Yu Gothic"/>
              </a:rPr>
              <a:t>なぜ今、大阪ローカルなのか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2743200" cy="5029200"/>
          </a:xfrm>
          <a:prstGeom prst="rect">
            <a:avLst/>
          </a:prstGeom>
          <a:solidFill>
            <a:srgbClr val="0D1B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Yu Gothic"/>
              </a:rPr>
              <a:t>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246888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4AF37"/>
                </a:solidFill>
                <a:latin typeface="Yu Gothic"/>
              </a:rPr>
              <a:t>訪日需要の急拡大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  <a:latin typeface="Yu Gothic"/>
              </a:rPr>
              <a:t>2025年 訪日外客数
過去最高水準更新
インバウンド消費額も急増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82696" y="1325880"/>
            <a:ext cx="2743200" cy="5029200"/>
          </a:xfrm>
          <a:prstGeom prst="rect">
            <a:avLst/>
          </a:prstGeom>
          <a:solidFill>
            <a:srgbClr val="0D1B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82696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Yu Gothic"/>
              </a:rPr>
              <a:t>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19856" y="2103120"/>
            <a:ext cx="246888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82696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4AF37"/>
                </a:solidFill>
                <a:latin typeface="Yu Gothic"/>
              </a:rPr>
              <a:t>有名観光地への集中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9856" y="274320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  <a:latin typeface="Yu Gothic"/>
              </a:rPr>
              <a:t>京都・東京・大阪都心に
過集中。地方・ローカルへの
分散ニーズが高まる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1325880"/>
            <a:ext cx="2743200" cy="5029200"/>
          </a:xfrm>
          <a:prstGeom prst="rect">
            <a:avLst/>
          </a:prstGeom>
          <a:solidFill>
            <a:srgbClr val="0D1B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Yu Gothic"/>
              </a:rPr>
              <a:t>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82512" y="2103120"/>
            <a:ext cx="246888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5352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4AF37"/>
                </a:solidFill>
                <a:latin typeface="Yu Gothic"/>
              </a:rPr>
              <a:t>ローカル体験需要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74320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  <a:latin typeface="Yu Gothic"/>
              </a:rPr>
              <a:t>富裕層・教育機関・企業が
求めるのは「本物体験」
工場・職人・食・文化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08008" y="1325880"/>
            <a:ext cx="2743200" cy="5029200"/>
          </a:xfrm>
          <a:prstGeom prst="rect">
            <a:avLst/>
          </a:prstGeom>
          <a:solidFill>
            <a:srgbClr val="0D1B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8008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Yu Gothic"/>
              </a:rPr>
              <a:t>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45168" y="2103120"/>
            <a:ext cx="246888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08008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4AF37"/>
                </a:solidFill>
                <a:latin typeface="Yu Gothic"/>
              </a:rPr>
              <a:t>万博人脈の活用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8" y="274320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  <a:latin typeface="Yu Gothic"/>
              </a:rPr>
              <a:t>2025年大阪万博で形成した
海外ネットワークを
ビジネスに転換するチャンス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課題認識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F37"/>
                </a:solidFill>
                <a:latin typeface="Yu Gothic"/>
              </a:rPr>
              <a:t>地域資源はある。しかし、海外向けに商品化されていない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530352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  <a:latin typeface="Yu Gothic"/>
              </a:rPr>
              <a:t>課題（現状）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65392" y="1325880"/>
            <a:ext cx="5303520" cy="41148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  <a:latin typeface="Yu Gothic"/>
              </a:rPr>
              <a:t>自社の解決策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20040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Y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783080"/>
            <a:ext cx="5303520" cy="777240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745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A0A0A"/>
                </a:solidFill>
                <a:latin typeface="Yu Gothic"/>
              </a:rPr>
              <a:t>✗  英語対応・予約システムが未整備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5392" y="1783080"/>
            <a:ext cx="5303520" cy="777240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18745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4D3E"/>
                </a:solidFill>
                <a:latin typeface="Yu Gothic"/>
              </a:rPr>
              <a:t>✓  英語コンテンツ制作・Web整備支援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651760"/>
            <a:ext cx="5303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A0A0A"/>
                </a:solidFill>
                <a:latin typeface="Yu Gothic"/>
              </a:rPr>
              <a:t>✗  海外PR・情報発信力が不足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65392" y="2651760"/>
            <a:ext cx="5303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2552" y="27432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4D3E"/>
                </a:solidFill>
                <a:latin typeface="Yu Gothic"/>
              </a:rPr>
              <a:t>✓  SNS・インフルエンサー活用の海外PR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520439"/>
            <a:ext cx="5303520" cy="777240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1187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A0A0A"/>
                </a:solidFill>
                <a:latin typeface="Yu Gothic"/>
              </a:rPr>
              <a:t>✗  団体受け入れのオペレーション体制なし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65392" y="3520439"/>
            <a:ext cx="5303520" cy="777240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2" y="361187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4D3E"/>
                </a:solidFill>
                <a:latin typeface="Yu Gothic"/>
              </a:rPr>
              <a:t>✓  PM・全国通訳案内士による現地運営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389120"/>
            <a:ext cx="5303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4805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A0A0A"/>
                </a:solidFill>
                <a:latin typeface="Yu Gothic"/>
              </a:rPr>
              <a:t>✗  地域事業者単独では海外営業が困難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65392" y="4389120"/>
            <a:ext cx="5303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02552" y="44805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4D3E"/>
                </a:solidFill>
                <a:latin typeface="Yu Gothic"/>
              </a:rPr>
              <a:t>✓  旅行会社・海外エージェントとの連携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257800"/>
            <a:ext cx="5303520" cy="777240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3492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A0A0A"/>
                </a:solidFill>
                <a:latin typeface="Yu Gothic"/>
              </a:rPr>
              <a:t>✗  地域資源のコンセプト設計・ブランディングが未着手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65392" y="5257800"/>
            <a:ext cx="5303520" cy="777240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53492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4D3E"/>
                </a:solidFill>
                <a:latin typeface="Yu Gothic"/>
              </a:rPr>
              <a:t>✓  DMC機能によるコンセプト設計・商品化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事業コンセプト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F37"/>
                </a:solidFill>
                <a:latin typeface="Yu Gothic"/>
              </a:rPr>
              <a:t>大阪ローカルの地域資源を、海外向けの高付加価値体験に変える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solidFill>
            <a:srgbClr val="0D1B3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4AF37"/>
                </a:solidFill>
                <a:latin typeface="Yu Gothic"/>
              </a:rPr>
              <a:t>大阪のローカル地域資源 × DMC機能 × 海外高付加価値体験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17520"/>
            <a:ext cx="3474720" cy="3291840"/>
          </a:xfrm>
          <a:prstGeom prst="rect">
            <a:avLst/>
          </a:prstGeom>
          <a:solidFill>
            <a:srgbClr val="1B4D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4AF37"/>
                </a:solidFill>
                <a:latin typeface="Yu Gothic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703320"/>
            <a:ext cx="32004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794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地域資源の発掘・商品化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348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Yu Gothic"/>
              </a:rPr>
              <a:t>ものづくり・食・文化・街並みを
体験プログラムに変える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017520"/>
            <a:ext cx="3474720" cy="3291840"/>
          </a:xfrm>
          <a:prstGeom prst="rect">
            <a:avLst/>
          </a:prstGeom>
          <a:solidFill>
            <a:srgbClr val="1B4D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1546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4AF37"/>
                </a:solidFill>
                <a:latin typeface="Yu Gothic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6280" y="3703320"/>
            <a:ext cx="32004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794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DMO形成支援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4348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Yu Gothic"/>
              </a:rPr>
              <a:t>観光協会・自治体・地域事業者を
つなぎ、地域一体で受け入れ体制を構築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017520"/>
            <a:ext cx="3474720" cy="3291840"/>
          </a:xfrm>
          <a:prstGeom prst="rect">
            <a:avLst/>
          </a:prstGeom>
          <a:solidFill>
            <a:srgbClr val="1B4D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31546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4AF37"/>
                </a:solidFill>
                <a:latin typeface="Yu Gothic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760" y="3703320"/>
            <a:ext cx="32004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3794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海外向けDMC事業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4348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Yu Gothic"/>
              </a:rPr>
              <a:t>富裕層・教育機関・企業団体向けに
高付加価値ツアーを提供・運営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事業ポジション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F37"/>
                </a:solidFill>
                <a:latin typeface="Yu Gothic"/>
              </a:rPr>
              <a:t>自社は「実行パートナー」として地域と海外をつなぐ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1274552" cy="457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  <a:latin typeface="Yu Gothic"/>
              </a:rPr>
              <a:t>登録DMO（行政・観光協会）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  <a:latin typeface="Yu Gothic"/>
              </a:rPr>
              <a:t>旅行会社（第1種・第2種）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  <a:latin typeface="Yu Gothic"/>
              </a:rPr>
              <a:t>地域事業者・ガイド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011680"/>
            <a:ext cx="6702552" cy="1828800"/>
          </a:xfrm>
          <a:prstGeom prst="rect">
            <a:avLst/>
          </a:prstGeom>
          <a:solidFill>
            <a:srgbClr val="1B4D3E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103120"/>
            <a:ext cx="6702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4AF37"/>
                </a:solidFill>
                <a:latin typeface="Yu Gothic"/>
              </a:rPr>
              <a:t>自社ポジション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514600"/>
            <a:ext cx="6702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DMC / 企画・現地コーディネート会社
（観光地域づくり推進・実行パートナー）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5029200" cy="914400"/>
          </a:xfrm>
          <a:prstGeom prst="rect">
            <a:avLst/>
          </a:prstGeom>
          <a:solidFill>
            <a:srgbClr val="3A1010"/>
          </a:solidFill>
          <a:ln w="1270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605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99"/>
                </a:solidFill>
                <a:latin typeface="Yu Gothic"/>
              </a:rPr>
              <a:t>✗  登録DMOではない（行政登録は不要）
✗  旅行業登録なしで旅行商品を販売しない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02552" y="4114800"/>
            <a:ext cx="5029200" cy="1371600"/>
          </a:xfrm>
          <a:prstGeom prst="rect">
            <a:avLst/>
          </a:prstGeom>
          <a:solidFill>
            <a:srgbClr val="1B4D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3992" y="416052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Yu Gothic"/>
              </a:rPr>
              <a:t>✓  旅行会社と連携して商品販売
✓  自社はDMC機能・企画・PM・現地運営
✓  将来的に旅行業登録も検討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対象エリア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F37"/>
                </a:solidFill>
                <a:latin typeface="Yu Gothic"/>
              </a:rPr>
              <a:t>大阪のローカル3エリアに集中した深掘り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3657600" cy="5212080"/>
          </a:xfrm>
          <a:prstGeom prst="rect">
            <a:avLst/>
          </a:prstGeom>
          <a:solidFill>
            <a:srgbClr val="0D1B3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4AF37"/>
                </a:solidFill>
                <a:latin typeface="Yu Gothic"/>
              </a:rPr>
              <a:t>東大阪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329184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48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Yu Gothic"/>
              </a:rPr>
              <a:t>ものづくり × スポーツ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974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5F0"/>
                </a:solidFill>
                <a:latin typeface="Yu Gothic"/>
              </a:rPr>
              <a:t>• 中小製造業・町工場が集積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204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5F0"/>
                </a:solidFill>
                <a:latin typeface="Yu Gothic"/>
              </a:rPr>
              <a:t>• 東大阪ラグビーの街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4340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5F0"/>
                </a:solidFill>
                <a:latin typeface="Yu Gothic"/>
              </a:rPr>
              <a:t>• 職人体験・工場見学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1663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5F0"/>
                </a:solidFill>
                <a:latin typeface="Yu Gothic"/>
              </a:rPr>
              <a:t>• モノづくりミュージアム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325880"/>
            <a:ext cx="3657600" cy="5212080"/>
          </a:xfrm>
          <a:prstGeom prst="rect">
            <a:avLst/>
          </a:prstGeom>
          <a:solidFill>
            <a:srgbClr val="1B4D3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4173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4AF37"/>
                </a:solidFill>
                <a:latin typeface="Yu Gothic"/>
              </a:rPr>
              <a:t>八尾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2057400"/>
            <a:ext cx="329184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148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Yu Gothic"/>
              </a:rPr>
              <a:t>伝統工芸 × 中小製造業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6974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5F0"/>
                </a:solidFill>
                <a:latin typeface="Yu Gothic"/>
              </a:rPr>
              <a:t>• 河内木綿・地場産業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5204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5F0"/>
                </a:solidFill>
                <a:latin typeface="Yu Gothic"/>
              </a:rPr>
              <a:t>• 中小製造業の集積地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34340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5F0"/>
                </a:solidFill>
                <a:latin typeface="Yu Gothic"/>
              </a:rPr>
              <a:t>• 工場体験・B to Bツアー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51663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5F0"/>
                </a:solidFill>
                <a:latin typeface="Yu Gothic"/>
              </a:rPr>
              <a:t>• 伝統と最新技術の融合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325880"/>
            <a:ext cx="3657600" cy="5212080"/>
          </a:xfrm>
          <a:prstGeom prst="rect">
            <a:avLst/>
          </a:prstGeom>
          <a:solidFill>
            <a:srgbClr val="2C3E2D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4173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4AF37"/>
                </a:solidFill>
                <a:latin typeface="Yu Gothic"/>
              </a:rPr>
              <a:t>蒲生四丁目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2057400"/>
            <a:ext cx="329184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2148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Yu Gothic"/>
              </a:rPr>
              <a:t>古民家 × ローカルフード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26974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5F0"/>
                </a:solidFill>
                <a:latin typeface="Yu Gothic"/>
              </a:rPr>
              <a:t>• 古民家再生・昭和の街並み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5204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5F0"/>
                </a:solidFill>
                <a:latin typeface="Yu Gothic"/>
              </a:rPr>
              <a:t>• 個性的な商店街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34340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5F0"/>
                </a:solidFill>
                <a:latin typeface="Yu Gothic"/>
              </a:rPr>
              <a:t>• ローカルフード・日本酒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51663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5F0"/>
                </a:solidFill>
                <a:latin typeface="Yu Gothic"/>
              </a:rPr>
              <a:t>• クリエイター・アーティスト集積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ターゲット顧客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F37"/>
                </a:solidFill>
                <a:latin typeface="Yu Gothic"/>
              </a:rPr>
              <a:t>海外富裕層・教育機関・企業・政府団体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5760720" cy="2423160"/>
          </a:xfrm>
          <a:prstGeom prst="rect">
            <a:avLst/>
          </a:prstGeom>
          <a:solidFill>
            <a:srgbClr val="0D1B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AF37"/>
                </a:solidFill>
                <a:latin typeface="Yu Gothic"/>
              </a:rPr>
              <a:t>🏆  海外富裕層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Yu Gothic"/>
              </a:rPr>
              <a:t>FIT・グループ旅行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67712"/>
            <a:ext cx="53949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774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Yu Gothic"/>
              </a:rPr>
              <a:t>• プレミアム体験への高い支払い意欲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1635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Yu Gothic"/>
              </a:rPr>
              <a:t>• オーセンティックなローカル体験を求める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5526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Yu Gothic"/>
              </a:rPr>
              <a:t>• SNS発信力でPR効果も期待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371600"/>
            <a:ext cx="5760720" cy="2423160"/>
          </a:xfrm>
          <a:prstGeom prst="rect">
            <a:avLst/>
          </a:prstGeom>
          <a:solidFill>
            <a:srgbClr val="1B4D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AF37"/>
                </a:solidFill>
                <a:latin typeface="Yu Gothic"/>
              </a:rPr>
              <a:t>🎓  海外大学・教育機関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9202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Yu Gothic"/>
              </a:rPr>
              <a:t>教育旅行・研修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2267712"/>
            <a:ext cx="53949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3774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Yu Gothic"/>
              </a:rPr>
              <a:t>• 日本のものづくり・地域産業を学ぶ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1635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Yu Gothic"/>
              </a:rPr>
              <a:t>• 大学の研修旅行・フィールドワーク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25526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Yu Gothic"/>
              </a:rPr>
              <a:t>• 長期滞在・リピート可能性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977639"/>
            <a:ext cx="5760720" cy="2423160"/>
          </a:xfrm>
          <a:prstGeom prst="rect">
            <a:avLst/>
          </a:prstGeom>
          <a:solidFill>
            <a:srgbClr val="0D1B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06907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AF37"/>
                </a:solidFill>
                <a:latin typeface="Yu Gothic"/>
              </a:rPr>
              <a:t>🏢  海外企業・政府団体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2627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Yu Gothic"/>
              </a:rPr>
              <a:t>ビジネス視察・研修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73751"/>
            <a:ext cx="53949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983479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Yu Gothic"/>
              </a:rPr>
              <a:t>• 製造業・中小企業政策の視察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422391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Yu Gothic"/>
              </a:rPr>
              <a:t>• インセンティブ旅行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861303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Yu Gothic"/>
              </a:rPr>
              <a:t>• 大人数・高予算案件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977639"/>
            <a:ext cx="5760720" cy="2423160"/>
          </a:xfrm>
          <a:prstGeom prst="rect">
            <a:avLst/>
          </a:prstGeom>
          <a:solidFill>
            <a:srgbClr val="1B4D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406907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AF37"/>
                </a:solidFill>
                <a:latin typeface="Yu Gothic"/>
              </a:rPr>
              <a:t>🎯  MICE / インセンティブ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52627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Yu Gothic"/>
              </a:rPr>
              <a:t>コンベンション連携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4873751"/>
            <a:ext cx="53949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4983479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Yu Gothic"/>
              </a:rPr>
              <a:t>• 万博・国際会議の前後ツアー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422391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Yu Gothic"/>
              </a:rPr>
              <a:t>• 企業表彰旅行の組み込み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861303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Yu Gothic"/>
              </a:rPr>
              <a:t>• カスタマイズ性の高いプログラム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提供サービス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F37"/>
                </a:solidFill>
                <a:latin typeface="Yu Gothic"/>
              </a:rPr>
              <a:t>地域資源の発掘から海外営業・現地運営まで一気通貫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2743200" cy="2377440"/>
          </a:xfrm>
          <a:prstGeom prst="rect">
            <a:avLst/>
          </a:prstGeom>
          <a:solidFill>
            <a:srgbClr val="0D1B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4630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AF37"/>
                </a:solidFill>
                <a:latin typeface="Yu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9202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地域資源発掘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" y="2359152"/>
            <a:ext cx="2514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246888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5F0"/>
                </a:solidFill>
                <a:latin typeface="Yu Gothic"/>
              </a:rPr>
              <a:t>地域事業者・自治体とともにコンテンツを掘り起こす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82696" y="1371600"/>
            <a:ext cx="2743200" cy="2377440"/>
          </a:xfrm>
          <a:prstGeom prst="rect">
            <a:avLst/>
          </a:prstGeom>
          <a:solidFill>
            <a:srgbClr val="1B4D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2424" y="14630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AF37"/>
                </a:solidFill>
                <a:latin typeface="Yu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9202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コンセプト設計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2424" y="2359152"/>
            <a:ext cx="2514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92424" y="246888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5F0"/>
                </a:solidFill>
                <a:latin typeface="Yu Gothic"/>
              </a:rPr>
              <a:t>ターゲットに合わせた体験プログラムを設計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1371600"/>
            <a:ext cx="2743200" cy="2377440"/>
          </a:xfrm>
          <a:prstGeom prst="rect">
            <a:avLst/>
          </a:prstGeom>
          <a:solidFill>
            <a:srgbClr val="0D1B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4630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AF37"/>
                </a:solidFill>
                <a:latin typeface="Yu Gothi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9202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ツアー造成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359152"/>
            <a:ext cx="2514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46888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5F0"/>
                </a:solidFill>
                <a:latin typeface="Yu Gothic"/>
              </a:rPr>
              <a:t>日程・価格・オペレーションを設計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08008" y="1371600"/>
            <a:ext cx="2743200" cy="2377440"/>
          </a:xfrm>
          <a:prstGeom prst="rect">
            <a:avLst/>
          </a:prstGeom>
          <a:solidFill>
            <a:srgbClr val="1B4D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17736" y="14630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AF37"/>
                </a:solidFill>
                <a:latin typeface="Yu Gothi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19202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英語資料化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17736" y="2359152"/>
            <a:ext cx="2514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17736" y="246888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5F0"/>
                </a:solidFill>
                <a:latin typeface="Yu Gothic"/>
              </a:rPr>
              <a:t>英語パンフレット・Web・資料作成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931920"/>
            <a:ext cx="2743200" cy="2377440"/>
          </a:xfrm>
          <a:prstGeom prst="rect">
            <a:avLst/>
          </a:prstGeom>
          <a:solidFill>
            <a:srgbClr val="1B4D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40233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AF37"/>
                </a:solidFill>
                <a:latin typeface="Yu Gothic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" y="44805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SNS / PR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" y="4919472"/>
            <a:ext cx="2514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" y="502920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5F0"/>
                </a:solidFill>
                <a:latin typeface="Yu Gothic"/>
              </a:rPr>
              <a:t>@mr.sasuke_japan等を活用した海外向け発信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82696" y="3931920"/>
            <a:ext cx="2743200" cy="2377440"/>
          </a:xfrm>
          <a:prstGeom prst="rect">
            <a:avLst/>
          </a:prstGeom>
          <a:solidFill>
            <a:srgbClr val="0D1B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92424" y="40233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AF37"/>
                </a:solidFill>
                <a:latin typeface="Yu Gothic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92424" y="44805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海外営業支援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92424" y="4919472"/>
            <a:ext cx="2514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2424" y="502920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5F0"/>
                </a:solidFill>
                <a:latin typeface="Yu Gothic"/>
              </a:rPr>
              <a:t>旅行会社・海外エージェントへの提案営業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45352" y="3931920"/>
            <a:ext cx="2743200" cy="2377440"/>
          </a:xfrm>
          <a:prstGeom prst="rect">
            <a:avLst/>
          </a:prstGeom>
          <a:solidFill>
            <a:srgbClr val="1B4D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40233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AF37"/>
                </a:solidFill>
                <a:latin typeface="Yu Gothic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4805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現地運営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4919472"/>
            <a:ext cx="2514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502920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5F0"/>
                </a:solidFill>
                <a:latin typeface="Yu Gothic"/>
              </a:rPr>
              <a:t>PM・全国通訳案内士による当日コーディネート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08008" y="3931920"/>
            <a:ext cx="2743200" cy="2377440"/>
          </a:xfrm>
          <a:prstGeom prst="rect">
            <a:avLst/>
          </a:prstGeom>
          <a:solidFill>
            <a:srgbClr val="0D1B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17736" y="40233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AF37"/>
                </a:solidFill>
                <a:latin typeface="Yu Gothic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17736" y="44805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レポート作成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17736" y="4919472"/>
            <a:ext cx="2514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17736" y="502920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5F0"/>
                </a:solidFill>
                <a:latin typeface="Yu Gothic"/>
              </a:rPr>
              <a:t>実施後の効果測定・自治体・旅行会社向けレポート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ツアー商品案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F37"/>
                </a:solidFill>
                <a:latin typeface="Yu Gothic"/>
              </a:rPr>
              <a:t>4つのフラッグシップ体験プログラム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2743200" cy="5212080"/>
          </a:xfrm>
          <a:prstGeom prst="rect">
            <a:avLst/>
          </a:prstGeom>
          <a:solidFill>
            <a:srgbClr val="0D1B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46304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Higashi Osaka
Manufacturing Experience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2514600"/>
            <a:ext cx="2514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6060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4AF37"/>
                </a:solidFill>
                <a:latin typeface="Yu Gothic"/>
              </a:rPr>
              <a:t>📍 東大阪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9260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⏱ 半日〜1日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32918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Yu Gothic"/>
              </a:rPr>
              <a:t>USD 200〜500/人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3749039"/>
            <a:ext cx="2514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5F0"/>
                </a:solidFill>
                <a:latin typeface="Yu Gothic"/>
              </a:rPr>
              <a:t>町工場訪問・職人体験・ものづくりの哲学
富裕層・大学・企業研修向け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2696" y="1325880"/>
            <a:ext cx="2743200" cy="5212080"/>
          </a:xfrm>
          <a:prstGeom prst="rect">
            <a:avLst/>
          </a:prstGeom>
          <a:solidFill>
            <a:srgbClr val="0D1B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92424" y="146304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Yao Craft &amp;
Local Industry Tour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2424" y="2514600"/>
            <a:ext cx="2514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92424" y="26060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4AF37"/>
                </a:solidFill>
                <a:latin typeface="Yu Gothic"/>
              </a:rPr>
              <a:t>📍 八尾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2424" y="29260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⏱ 半日〜1日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2424" y="32918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Yu Gothic"/>
              </a:rPr>
              <a:t>USD 180〜400/人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92424" y="3749039"/>
            <a:ext cx="2514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5F0"/>
                </a:solidFill>
                <a:latin typeface="Yu Gothic"/>
              </a:rPr>
              <a:t>伝統工芸×最新製造業
工場見学・中小企業の経営哲学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5352" y="1325880"/>
            <a:ext cx="2743200" cy="5212080"/>
          </a:xfrm>
          <a:prstGeom prst="rect">
            <a:avLst/>
          </a:prstGeom>
          <a:solidFill>
            <a:srgbClr val="0D1B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46304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Gamoyon Deep Osaka
Food &amp; Kominka Walk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514600"/>
            <a:ext cx="2514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6060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4AF37"/>
                </a:solidFill>
                <a:latin typeface="Yu Gothic"/>
              </a:rPr>
              <a:t>📍 蒲生四丁目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9260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⏱ 3〜5時間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2918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Yu Gothic"/>
              </a:rPr>
              <a:t>USD 150〜350/人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749039"/>
            <a:ext cx="2514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5F0"/>
                </a:solidFill>
                <a:latin typeface="Yu Gothic"/>
              </a:rPr>
              <a:t>古民家・商店街・ローカルフード
食の深掘り体験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08008" y="1325880"/>
            <a:ext cx="2743200" cy="5212080"/>
          </a:xfrm>
          <a:prstGeom prst="rect">
            <a:avLst/>
          </a:prstGeom>
          <a:solidFill>
            <a:srgbClr val="0D1B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146304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Executive Local
Business Study Tour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17736" y="2514600"/>
            <a:ext cx="2514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17736" y="26060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4AF37"/>
                </a:solidFill>
                <a:latin typeface="Yu Gothic"/>
              </a:rPr>
              <a:t>📍 東大阪・八尾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17736" y="29260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⏱ 1〜2日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17736" y="32918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Yu Gothic"/>
              </a:rPr>
              <a:t>USD 800〜2,000/人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17736" y="3749039"/>
            <a:ext cx="2514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5F0"/>
                </a:solidFill>
                <a:latin typeface="Yu Gothic"/>
              </a:rPr>
              <a:t>政府・企業団体向けカスタム
産業視察＋文化体験のプレミアムパッケージ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事業スキーム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F37"/>
                </a:solidFill>
                <a:latin typeface="Yu Gothic"/>
              </a:rPr>
              <a:t>旅行会社と連携しながら自社がDMC機能を担う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371600"/>
            <a:ext cx="2651760" cy="640080"/>
          </a:xfrm>
          <a:prstGeom prst="rect">
            <a:avLst/>
          </a:prstGeom>
          <a:solidFill>
            <a:srgbClr val="F5F5F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48132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0A0A"/>
                </a:solidFill>
                <a:latin typeface="Yu Gothic"/>
              </a:rPr>
              <a:t>海外大学・企業・政府団体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468880"/>
            <a:ext cx="2651760" cy="640080"/>
          </a:xfrm>
          <a:prstGeom prst="rect">
            <a:avLst/>
          </a:prstGeom>
          <a:solidFill>
            <a:srgbClr val="F5F5F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57860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0A0A"/>
                </a:solidFill>
                <a:latin typeface="Yu Gothic"/>
              </a:rPr>
              <a:t>登録済み旅行会社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3566160"/>
            <a:ext cx="5212080" cy="1005840"/>
          </a:xfrm>
          <a:prstGeom prst="rect">
            <a:avLst/>
          </a:prstGeom>
          <a:solidFill>
            <a:srgbClr val="1B4D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3675888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自社（DMC/企画/現地コーディネート/PM/PR）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4937760"/>
            <a:ext cx="265176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504748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地域事業者・ガイド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0448" y="20299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4AF37"/>
                </a:solidFill>
                <a:latin typeface="Yu Gothic"/>
              </a:rPr>
              <a:t>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31272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4AF37"/>
                </a:solidFill>
                <a:latin typeface="Yu Gothic"/>
              </a:rPr>
              <a:t>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459028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4AF37"/>
                </a:solidFill>
                <a:latin typeface="Yu Gothic"/>
              </a:rPr>
              <a:t>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4D3E"/>
                </a:solidFill>
                <a:latin typeface="Yu Gothic"/>
              </a:rPr>
              <a:t>問い合わせ・受注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4D3E"/>
                </a:solidFill>
                <a:latin typeface="Yu Gothic"/>
              </a:rPr>
              <a:t>契約・販売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7490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4D3E"/>
                </a:solidFill>
                <a:latin typeface="Yu Gothic"/>
              </a:rPr>
              <a:t>企画・PM・当日運営・PR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029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4D3E"/>
                </a:solidFill>
                <a:latin typeface="Yu Gothic"/>
              </a:rPr>
              <a:t>体験提供・協力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1371600"/>
            <a:ext cx="3108960" cy="4206240"/>
          </a:xfrm>
          <a:prstGeom prst="rect">
            <a:avLst/>
          </a:prstGeom>
          <a:solidFill>
            <a:srgbClr val="0D1B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14630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F37"/>
                </a:solidFill>
                <a:latin typeface="Yu Gothic"/>
              </a:rPr>
              <a:t>収益フロー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19659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• 企画費・コーディネート費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2624328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• 当日運営費・ガイド費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3282696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• SNS/PR制作費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3941064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• 業務委託費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4599431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• 送客手数料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チーム体制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F37"/>
                </a:solidFill>
                <a:latin typeface="Yu Gothic"/>
              </a:rPr>
              <a:t>専門資格とネットワークを持つ実行チーム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3383280" cy="685800"/>
          </a:xfrm>
          <a:prstGeom prst="rect">
            <a:avLst/>
          </a:prstGeom>
          <a:solidFill>
            <a:srgbClr val="1B4D3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44475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  <a:latin typeface="Yu Gothic"/>
              </a:rPr>
              <a:t>事業責任者 / Producer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0756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4AF37"/>
                </a:solidFill>
                <a:latin typeface="Yu Gothic"/>
              </a:rPr>
              <a:t>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2377440"/>
            <a:ext cx="2286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24505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PM（プロジェクトマネージャー）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017520"/>
            <a:ext cx="6336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4AF37"/>
                </a:solidFill>
                <a:latin typeface="Yu Gothic"/>
              </a:rPr>
              <a:t>├──────────────────────┤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291840"/>
            <a:ext cx="3200400" cy="1097280"/>
          </a:xfrm>
          <a:prstGeom prst="rect">
            <a:avLst/>
          </a:prstGeom>
          <a:solidFill>
            <a:srgbClr val="0D1B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83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AF37"/>
                </a:solidFill>
                <a:latin typeface="Yu Gothic"/>
              </a:rPr>
              <a:t>全国通訳案内士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94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Yu Gothic"/>
              </a:rPr>
              <a:t>英語・多言語ガイド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291840"/>
            <a:ext cx="3200400" cy="1097280"/>
          </a:xfrm>
          <a:prstGeom prst="rect">
            <a:avLst/>
          </a:prstGeom>
          <a:solidFill>
            <a:srgbClr val="0D1B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3383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AF37"/>
                </a:solidFill>
                <a:latin typeface="Yu Gothic"/>
              </a:rPr>
              <a:t>総合旅程管理主任者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794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Yu Gothic"/>
              </a:rPr>
              <a:t>ツアーオペレーション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3291840"/>
            <a:ext cx="3200400" cy="1097280"/>
          </a:xfrm>
          <a:prstGeom prst="rect">
            <a:avLst/>
          </a:prstGeom>
          <a:solidFill>
            <a:srgbClr val="0D1B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3383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AF37"/>
                </a:solidFill>
                <a:latin typeface="Yu Gothic"/>
              </a:rPr>
              <a:t>SNS担当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794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Yu Gothic"/>
              </a:rPr>
              <a:t>@mr.sasuke_japan
海外向けPR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663440"/>
            <a:ext cx="11548872" cy="457200"/>
          </a:xfrm>
          <a:prstGeom prst="rect">
            <a:avLst/>
          </a:prstGeom>
          <a:solidFill>
            <a:srgbClr val="1B4D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709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Yu Gothic"/>
              </a:rPr>
              <a:t>外部パートナー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7091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Yu Gothic"/>
              </a:rPr>
              <a:t>旅行会社　｜　地域事業者　｜　自治体・観光協会　｜　交通事業者　｜　インフルエンサー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収益モデル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F37"/>
                </a:solidFill>
                <a:latin typeface="Yu Gothic"/>
              </a:rPr>
              <a:t>複数の収益源で安定したキャッシュフローを確保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2926080" cy="457200"/>
          </a:xfrm>
          <a:prstGeom prst="rect">
            <a:avLst/>
          </a:prstGeom>
          <a:solidFill>
            <a:srgbClr val="0D1B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2646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F37"/>
                </a:solidFill>
                <a:latin typeface="Yu Gothic"/>
              </a:rPr>
              <a:t>収益項目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371600"/>
            <a:ext cx="4389120" cy="457200"/>
          </a:xfrm>
          <a:prstGeom prst="rect">
            <a:avLst/>
          </a:prstGeom>
          <a:solidFill>
            <a:srgbClr val="0D1B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42646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F37"/>
                </a:solidFill>
                <a:latin typeface="Yu Gothic"/>
              </a:rPr>
              <a:t>内容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1371600"/>
            <a:ext cx="4389120" cy="457200"/>
          </a:xfrm>
          <a:prstGeom prst="rect">
            <a:avLst/>
          </a:prstGeom>
          <a:solidFill>
            <a:srgbClr val="0D1B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42646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F37"/>
                </a:solidFill>
                <a:latin typeface="Yu Gothic"/>
              </a:rPr>
              <a:t>想定単価・規模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874519"/>
            <a:ext cx="2926080" cy="548640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947671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0A0A"/>
                </a:solidFill>
                <a:latin typeface="Yu Gothic"/>
              </a:rPr>
              <a:t>企画費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874519"/>
            <a:ext cx="4389120" cy="548640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947671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0A0A"/>
                </a:solidFill>
                <a:latin typeface="Yu Gothic"/>
              </a:rPr>
              <a:t>ツアー・コンテンツ設計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1874519"/>
            <a:ext cx="4389120" cy="548640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80" y="1947671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4D3E"/>
                </a:solidFill>
                <a:latin typeface="Yu Gothic"/>
              </a:rPr>
              <a:t>30〜100万円/件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441448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514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0A0A"/>
                </a:solidFill>
                <a:latin typeface="Yu Gothic"/>
              </a:rPr>
              <a:t>コーディネート費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2441448"/>
            <a:ext cx="4389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25146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0A0A"/>
                </a:solidFill>
                <a:latin typeface="Yu Gothic"/>
              </a:rPr>
              <a:t>現地手配・調整業務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35240" y="2441448"/>
            <a:ext cx="4389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80" y="25146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4D3E"/>
                </a:solidFill>
                <a:latin typeface="Yu Gothic"/>
              </a:rPr>
              <a:t>10〜30万円/件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008376"/>
            <a:ext cx="2926080" cy="548640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08152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0A0A"/>
                </a:solidFill>
                <a:latin typeface="Yu Gothic"/>
              </a:rPr>
              <a:t>当日運営費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46120" y="3008376"/>
            <a:ext cx="4389120" cy="548640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308152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0A0A"/>
                </a:solidFill>
                <a:latin typeface="Yu Gothic"/>
              </a:rPr>
              <a:t>PM・スタッフ費用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35240" y="3008376"/>
            <a:ext cx="4389120" cy="548640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26680" y="308152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4D3E"/>
                </a:solidFill>
                <a:latin typeface="Yu Gothic"/>
              </a:rPr>
              <a:t>5〜20万円/日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575303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648455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0A0A"/>
                </a:solidFill>
                <a:latin typeface="Yu Gothic"/>
              </a:rPr>
              <a:t>ガイド・通訳費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6120" y="3575303"/>
            <a:ext cx="4389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7560" y="3648455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0A0A"/>
                </a:solidFill>
                <a:latin typeface="Yu Gothic"/>
              </a:rPr>
              <a:t>全国通訳案内士費用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35240" y="3575303"/>
            <a:ext cx="4389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26680" y="3648455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4D3E"/>
                </a:solidFill>
                <a:latin typeface="Yu Gothic"/>
              </a:rPr>
              <a:t>3〜8万円/日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142231"/>
            <a:ext cx="2926080" cy="548640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4215383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0A0A"/>
                </a:solidFill>
                <a:latin typeface="Yu Gothic"/>
              </a:rPr>
              <a:t>SNS/PR制作費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46120" y="4142231"/>
            <a:ext cx="4389120" cy="548640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37560" y="4215383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0A0A"/>
                </a:solidFill>
                <a:latin typeface="Yu Gothic"/>
              </a:rPr>
              <a:t>コンテンツ・発信費用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35240" y="4142231"/>
            <a:ext cx="4389120" cy="548640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26680" y="4215383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4D3E"/>
                </a:solidFill>
                <a:latin typeface="Yu Gothic"/>
              </a:rPr>
              <a:t>10〜50万円/件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4709160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478231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0A0A"/>
                </a:solidFill>
                <a:latin typeface="Yu Gothic"/>
              </a:rPr>
              <a:t>コンテンツ造成費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46120" y="4709160"/>
            <a:ext cx="4389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37560" y="478231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0A0A"/>
                </a:solidFill>
                <a:latin typeface="Yu Gothic"/>
              </a:rPr>
              <a:t>自治体向け補助事業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35240" y="4709160"/>
            <a:ext cx="4389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26680" y="478231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4D3E"/>
                </a:solidFill>
                <a:latin typeface="Yu Gothic"/>
              </a:rPr>
              <a:t>50〜200万円/件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5276088"/>
            <a:ext cx="2926080" cy="548640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5349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0A0A"/>
                </a:solidFill>
                <a:latin typeface="Yu Gothic"/>
              </a:rPr>
              <a:t>業務委託費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46120" y="5276088"/>
            <a:ext cx="4389120" cy="548640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37560" y="53492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0A0A"/>
                </a:solidFill>
                <a:latin typeface="Yu Gothic"/>
              </a:rPr>
              <a:t>旅行会社からの委託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35240" y="5276088"/>
            <a:ext cx="4389120" cy="548640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26680" y="53492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4D3E"/>
                </a:solidFill>
                <a:latin typeface="Yu Gothic"/>
              </a:rPr>
              <a:t>ツアー代金の10〜20%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5843016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591616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0A0A"/>
                </a:solidFill>
                <a:latin typeface="Yu Gothic"/>
              </a:rPr>
              <a:t>送客手数料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46120" y="5843016"/>
            <a:ext cx="4389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37560" y="591616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0A0A"/>
                </a:solidFill>
                <a:latin typeface="Yu Gothic"/>
              </a:rPr>
              <a:t>エージェント連携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35240" y="5843016"/>
            <a:ext cx="4389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26680" y="591616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4D3E"/>
                </a:solidFill>
                <a:latin typeface="Yu Gothic"/>
              </a:rPr>
              <a:t>ツアー代金の5〜15%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法務・資格・許認可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F37"/>
                </a:solidFill>
                <a:latin typeface="Yu Gothic"/>
              </a:rPr>
              <a:t>適切なスキームで法的リスクを回避する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5760720" cy="2331720"/>
          </a:xfrm>
          <a:prstGeom prst="rect">
            <a:avLst/>
          </a:prstGeom>
          <a:solidFill>
            <a:srgbClr val="0D1B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097280" cy="34747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3E"/>
                </a:solidFill>
                <a:latin typeface="Yu Gothic"/>
              </a:rPr>
              <a:t>初期フェーズ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48132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旅行商品の販売・契約・決済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65960"/>
            <a:ext cx="53949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84832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5F0"/>
                </a:solidFill>
                <a:latin typeface="Yu Gothic"/>
              </a:rPr>
              <a:t>登録済み旅行会社が担当
自社は企画・コーディネートに専念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371600"/>
            <a:ext cx="5760720" cy="2331720"/>
          </a:xfrm>
          <a:prstGeom prst="rect">
            <a:avLst/>
          </a:prstGeom>
          <a:solidFill>
            <a:srgbClr val="1B4D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1481328"/>
            <a:ext cx="1097280" cy="34747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5087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3E"/>
                </a:solidFill>
                <a:latin typeface="Yu Gothic"/>
              </a:rPr>
              <a:t>自社販売時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48132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旅行業登録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1965960"/>
            <a:ext cx="53949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084832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5F0"/>
                </a:solidFill>
                <a:latin typeface="Yu Gothic"/>
              </a:rPr>
              <a:t>自社で旅行商品を販売する場合
旅行業登録（第2種・第3種）を検討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931920"/>
            <a:ext cx="5760720" cy="2331720"/>
          </a:xfrm>
          <a:prstGeom prst="rect">
            <a:avLst/>
          </a:prstGeom>
          <a:solidFill>
            <a:srgbClr val="1B4D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041648"/>
            <a:ext cx="1097280" cy="34747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690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3E"/>
                </a:solidFill>
                <a:latin typeface="Yu Gothic"/>
              </a:rPr>
              <a:t>手配業務時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04164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旅行サービス手配業登録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26280"/>
            <a:ext cx="53949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645152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5F0"/>
                </a:solidFill>
                <a:latin typeface="Yu Gothic"/>
              </a:rPr>
              <a:t>宿泊・交通・有償ガイドを手配する場合
登録の必要性を行政書士に確認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931920"/>
            <a:ext cx="5760720" cy="2331720"/>
          </a:xfrm>
          <a:prstGeom prst="rect">
            <a:avLst/>
          </a:prstGeom>
          <a:solidFill>
            <a:srgbClr val="0D1B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37960" y="4041648"/>
            <a:ext cx="1097280" cy="34747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0690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3E"/>
                </a:solidFill>
                <a:latin typeface="Yu Gothic"/>
              </a:rPr>
              <a:t>実行前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04164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スキーム確認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4526280"/>
            <a:ext cx="53949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645152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5F0"/>
                </a:solidFill>
                <a:latin typeface="Yu Gothic"/>
              </a:rPr>
              <a:t>行政書士にスキーム全体を確認
弁護士に契約書を確認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参考モデル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F37"/>
                </a:solidFill>
                <a:latin typeface="Yu Gothic"/>
              </a:rPr>
              <a:t>先行事例を参考にしながら大阪ローカル密着型で差別化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3657600" cy="2194560"/>
          </a:xfrm>
          <a:prstGeom prst="rect">
            <a:avLst/>
          </a:prstGeom>
          <a:solidFill>
            <a:srgbClr val="0D1B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48132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Yu Gothic"/>
              </a:rPr>
              <a:t>HIS 訪日コンサルティング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2039112"/>
            <a:ext cx="34290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148840"/>
            <a:ext cx="3429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旅行大手のインバウンド支援モデル
自社は大阪ローカルに特化し差別化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371600"/>
            <a:ext cx="3657600" cy="2194560"/>
          </a:xfrm>
          <a:prstGeom prst="rect">
            <a:avLst/>
          </a:prstGeom>
          <a:solidFill>
            <a:srgbClr val="0D1B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7" y="148132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Yu Gothic"/>
              </a:rPr>
              <a:t>地方創生インバウンド戦略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1687" y="2039112"/>
            <a:ext cx="34290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7" y="2148840"/>
            <a:ext cx="3429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自治体・DMO主導の地域活性化
自社は実行パートナーとして参画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371600"/>
            <a:ext cx="3657600" cy="2194560"/>
          </a:xfrm>
          <a:prstGeom prst="rect">
            <a:avLst/>
          </a:prstGeom>
          <a:solidFill>
            <a:srgbClr val="0D1B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7" y="148132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Yu Gothic"/>
              </a:rPr>
              <a:t>DMO形成支援事例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93607" y="2039112"/>
            <a:ext cx="34290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7" y="2148840"/>
            <a:ext cx="3429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観光庁・地域DMO形成のノウハウ
認定DMOとの連携で信頼性を確保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3840480"/>
            <a:ext cx="3657600" cy="2194560"/>
          </a:xfrm>
          <a:prstGeom prst="rect">
            <a:avLst/>
          </a:prstGeom>
          <a:solidFill>
            <a:srgbClr val="0D1B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29968" y="395020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Yu Gothic"/>
              </a:rPr>
              <a:t>アクティビティ開発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29968" y="4507992"/>
            <a:ext cx="34290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29968" y="4617720"/>
            <a:ext cx="3429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体験型観光の商品化事例
地域事業者との共同開発モデル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3840480"/>
            <a:ext cx="3657600" cy="2194560"/>
          </a:xfrm>
          <a:prstGeom prst="rect">
            <a:avLst/>
          </a:prstGeom>
          <a:solidFill>
            <a:srgbClr val="0D1B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61888" y="395020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Yu Gothic"/>
              </a:rPr>
              <a:t>MICE・富裕層手配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61888" y="4507992"/>
            <a:ext cx="34290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61888" y="4617720"/>
            <a:ext cx="3429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高付加価値層向けの専門エージェント
価格設計・コンテンツ品質を参考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943600"/>
            <a:ext cx="11548872" cy="640080"/>
          </a:xfrm>
          <a:prstGeom prst="rect">
            <a:avLst/>
          </a:prstGeom>
          <a:solidFill>
            <a:srgbClr val="1B4D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6007608"/>
            <a:ext cx="11548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  <a:latin typeface="Yu Gothic"/>
              </a:rPr>
              <a:t>自社差別化：大阪ローカル密着 × 万博人脈 × インバウンドSNS発信力 × PM体制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自社の強み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F37"/>
                </a:solidFill>
                <a:latin typeface="Yu Gothic"/>
              </a:rPr>
              <a:t>5つの競合優位性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2240280" cy="5212080"/>
          </a:xfrm>
          <a:prstGeom prst="rect">
            <a:avLst/>
          </a:prstGeom>
          <a:solidFill>
            <a:srgbClr val="0D1B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6304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Yu Gothic"/>
              </a:rPr>
              <a:t>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29968"/>
            <a:ext cx="19659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121408"/>
            <a:ext cx="2240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  <a:latin typeface="Yu Gothic"/>
              </a:rPr>
              <a:t>万博人脈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880360"/>
            <a:ext cx="2011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2025年大阪万博で形成した
海外大学・企業・政府とのネットワーク
ダイレクトな案件獲得に直結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88336" y="1371600"/>
            <a:ext cx="2240280" cy="5212080"/>
          </a:xfrm>
          <a:prstGeom prst="rect">
            <a:avLst/>
          </a:prstGeom>
          <a:solidFill>
            <a:srgbClr val="0D1B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88336" y="146304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Yu Gothic"/>
              </a:rPr>
              <a:t>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25496" y="2029968"/>
            <a:ext cx="19659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88336" y="2121408"/>
            <a:ext cx="2240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  <a:latin typeface="Yu Gothic"/>
              </a:rPr>
              <a:t>インバウンドSNS
発信力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8064" y="2880360"/>
            <a:ext cx="2011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@mr.sasuke_japan
海外向けリール・コンテンツ
本物のローカル情報発信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56631" y="1371600"/>
            <a:ext cx="2240280" cy="5212080"/>
          </a:xfrm>
          <a:prstGeom prst="rect">
            <a:avLst/>
          </a:prstGeom>
          <a:solidFill>
            <a:srgbClr val="0D1B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56631" y="146304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Yu Gothic"/>
              </a:rPr>
              <a:t>🗺️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93791" y="2029968"/>
            <a:ext cx="19659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56631" y="2121408"/>
            <a:ext cx="2240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  <a:latin typeface="Yu Gothic"/>
              </a:rPr>
              <a:t>大阪ローカル理解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59" y="2880360"/>
            <a:ext cx="2011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東大阪・八尾・蒲生四丁目の
深いローカル知識・人脈
地域事業者との信頼関係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24927" y="1371600"/>
            <a:ext cx="2240280" cy="5212080"/>
          </a:xfrm>
          <a:prstGeom prst="rect">
            <a:avLst/>
          </a:prstGeom>
          <a:solidFill>
            <a:srgbClr val="0D1B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24927" y="146304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Yu Gothic"/>
              </a:rPr>
              <a:t>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62087" y="2029968"/>
            <a:ext cx="19659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24927" y="2121408"/>
            <a:ext cx="2240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  <a:latin typeface="Yu Gothic"/>
              </a:rPr>
              <a:t>専門資格体制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34655" y="2880360"/>
            <a:ext cx="2011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全国通訳案内士
総合旅程管理主任者
PMによる安定したオペレーション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93224" y="1371600"/>
            <a:ext cx="2240280" cy="5212080"/>
          </a:xfrm>
          <a:prstGeom prst="rect">
            <a:avLst/>
          </a:prstGeom>
          <a:solidFill>
            <a:srgbClr val="0D1B3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93224" y="146304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Yu Gothic"/>
              </a:rPr>
              <a:t>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30384" y="2029968"/>
            <a:ext cx="19659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93224" y="2121408"/>
            <a:ext cx="2240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  <a:latin typeface="Yu Gothic"/>
              </a:rPr>
              <a:t>柔軟な連携力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2952" y="2880360"/>
            <a:ext cx="2011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旅行会社・自治体・観光協会と
連携できる実行パートナー機能
登録不要で動ける機動力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初期3ヶ月アクションプラン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F37"/>
                </a:solidFill>
                <a:latin typeface="Yu Gothic"/>
              </a:rPr>
              <a:t>小さく始め、実証しながら拡大する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657600" cy="5212080"/>
          </a:xfrm>
          <a:prstGeom prst="rect">
            <a:avLst/>
          </a:prstGeom>
          <a:solidFill>
            <a:srgbClr val="0D1B3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4475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F37"/>
                </a:solidFill>
                <a:latin typeface="Yu Gothic"/>
              </a:rPr>
              <a:t>Month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19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基盤構築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59152"/>
            <a:ext cx="329184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✓  社内企画資料作成・共有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64408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✓  行政書士へスキーム相談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59936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✓  旅行会社パートナー相談開始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55464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✓  万博人脈の整理・ヒアリング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5099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✓  対象エリアの現地調査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371600"/>
            <a:ext cx="3657600" cy="5212080"/>
          </a:xfrm>
          <a:prstGeom prst="rect">
            <a:avLst/>
          </a:prstGeom>
          <a:solidFill>
            <a:srgbClr val="1B4D3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44475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F37"/>
                </a:solidFill>
                <a:latin typeface="Yu Gothic"/>
              </a:rPr>
              <a:t>Month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9019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商品設計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2359152"/>
            <a:ext cx="329184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4688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✓  モデルツアーの詳細設計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264408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✓  地域事業者の開拓・交渉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059936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✓  海外人脈へのニーズヒアリング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855464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✓  英語版コンテンツ資料作成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65099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✓  価格設計・収益モデル確定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371600"/>
            <a:ext cx="3657600" cy="5212080"/>
          </a:xfrm>
          <a:prstGeom prst="rect">
            <a:avLst/>
          </a:prstGeom>
          <a:solidFill>
            <a:srgbClr val="2C3A5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44475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F37"/>
                </a:solidFill>
                <a:latin typeface="Yu Gothic"/>
              </a:rPr>
              <a:t>Month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9019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実証・PR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2359152"/>
            <a:ext cx="329184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24688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✓  テストツアーの実施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264408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✓  SNS・インスタ発信開始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059936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✓  自治体・観光協会への提案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855464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✓  旅行会社への商品提案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65099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✓  実証結果レポート作成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今後の検討事項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F37"/>
                </a:solidFill>
                <a:latin typeface="Yu Gothic"/>
              </a:rPr>
              <a:t>事業推進に向けて並行して検討が必要な事項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2743200" cy="2377440"/>
          </a:xfrm>
          <a:prstGeom prst="rect">
            <a:avLst/>
          </a:prstGeom>
          <a:solidFill>
            <a:srgbClr val="0D1B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5087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Yu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9659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旅行会社パートナー選定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" y="2468880"/>
            <a:ext cx="2514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256032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第1種・第2種旅行会社との
業務委託・連携先の確定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82696" y="1417320"/>
            <a:ext cx="2743200" cy="2377440"/>
          </a:xfrm>
          <a:prstGeom prst="rect">
            <a:avLst/>
          </a:prstGeom>
          <a:solidFill>
            <a:srgbClr val="0D1B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2424" y="15087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Yu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9659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許認可確認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2424" y="2468880"/>
            <a:ext cx="2514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92424" y="256032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旅行業・旅行サービス手配業
登録要否の確定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1417320"/>
            <a:ext cx="2743200" cy="2377440"/>
          </a:xfrm>
          <a:prstGeom prst="rect">
            <a:avLst/>
          </a:prstGeom>
          <a:solidFill>
            <a:srgbClr val="0D1B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5087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Yu Gothi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9659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価格設計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468880"/>
            <a:ext cx="2514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56032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ターゲット別の価格帯・
パッケージ構成の策定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08008" y="1417320"/>
            <a:ext cx="2743200" cy="2377440"/>
          </a:xfrm>
          <a:prstGeom prst="rect">
            <a:avLst/>
          </a:prstGeom>
          <a:solidFill>
            <a:srgbClr val="0D1B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17736" y="15087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Yu Gothi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19659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地域事業者向け資料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17736" y="2468880"/>
            <a:ext cx="2514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17736" y="256032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協力依頼・説明資料の
日英版作成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069080"/>
            <a:ext cx="2743200" cy="2377440"/>
          </a:xfrm>
          <a:prstGeom prst="rect">
            <a:avLst/>
          </a:prstGeom>
          <a:solidFill>
            <a:srgbClr val="0D1B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41605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Yu Gothic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" y="46177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海外営業リスト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" y="5120640"/>
            <a:ext cx="2514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" y="521208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大学・企業・政府団体の
ターゲットリスト整備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82696" y="4069080"/>
            <a:ext cx="2743200" cy="2377440"/>
          </a:xfrm>
          <a:prstGeom prst="rect">
            <a:avLst/>
          </a:prstGeom>
          <a:solidFill>
            <a:srgbClr val="0D1B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92424" y="41605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Yu Gothic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92424" y="46177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収益分配設計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92424" y="5120640"/>
            <a:ext cx="2514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2424" y="521208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旅行会社・地域事業者との
収益分配ルールの策定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45352" y="4069080"/>
            <a:ext cx="5760720" cy="2377440"/>
          </a:xfrm>
          <a:prstGeom prst="rect">
            <a:avLst/>
          </a:prstGeom>
          <a:solidFill>
            <a:srgbClr val="0D1B3E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41605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Yu Gothic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617720"/>
            <a:ext cx="5532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保険・責任範囲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5120640"/>
            <a:ext cx="55321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5212080"/>
            <a:ext cx="5532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Yu Gothic"/>
              </a:rPr>
              <a:t>ツアー中の事故・キャンセル
リスクの整理と保険設計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まとめ / Next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68680"/>
            <a:ext cx="1154887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657600" cy="3657600"/>
          </a:xfrm>
          <a:prstGeom prst="rect">
            <a:avLst/>
          </a:prstGeom>
          <a:solidFill>
            <a:srgbClr val="1B4D3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F37"/>
                </a:solidFill>
                <a:latin typeface="Yu Gothic"/>
              </a:rPr>
              <a:t>STEP 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329184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4708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旅行会社との連携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5F0"/>
                </a:solidFill>
                <a:latin typeface="Yu Gothic"/>
              </a:rPr>
              <a:t>まず旅行会社パートナーを確保し、
スキームを確定。小さく実証を開始する。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097280"/>
            <a:ext cx="3657600" cy="3657600"/>
          </a:xfrm>
          <a:prstGeom prst="rect">
            <a:avLst/>
          </a:prstGeom>
          <a:solidFill>
            <a:srgbClr val="1B4D3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1887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F37"/>
                </a:solidFill>
                <a:latin typeface="Yu Gothic"/>
              </a:rPr>
              <a:t>STEP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737360"/>
            <a:ext cx="329184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84708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万博人脈の活用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2316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5F0"/>
                </a:solidFill>
                <a:latin typeface="Yu Gothic"/>
              </a:rPr>
              <a:t>海外大学・企業・政府団体に
ダイレクトにアプローチ。ニーズを確認する。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097280"/>
            <a:ext cx="3657600" cy="3657600"/>
          </a:xfrm>
          <a:prstGeom prst="rect">
            <a:avLst/>
          </a:prstGeom>
          <a:solidFill>
            <a:srgbClr val="1B4D3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1887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F37"/>
                </a:solidFill>
                <a:latin typeface="Yu Gothic"/>
              </a:rPr>
              <a:t>STEP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1737360"/>
            <a:ext cx="329184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84708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実績づくり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42316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5F0"/>
                </a:solidFill>
                <a:latin typeface="Yu Gothic"/>
              </a:rPr>
              <a:t>大阪ローカルDMCとして
テストツアーを実施し、実績と信頼を積む。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937760"/>
            <a:ext cx="11274552" cy="1371600"/>
          </a:xfrm>
          <a:prstGeom prst="rect">
            <a:avLst/>
          </a:prstGeom>
          <a:solidFill>
            <a:srgbClr val="0D1B3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F37"/>
                </a:solidFill>
                <a:latin typeface="Yu Gothic"/>
              </a:rPr>
              <a:t>大阪のローカルに眠る資源を、世界に届ける体験へ。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5778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Yu Gothic"/>
              </a:rPr>
              <a:t>DMC × DMO形成支援 × 海外高付加価値体験  ｜  まず動く、小さく実証、大きく育てる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